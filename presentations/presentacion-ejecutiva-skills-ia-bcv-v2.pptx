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FFFFFF"/>
                </a:solidFill>
                <a:latin typeface="Noto Sans"/>
              </a:defRPr>
            </a:pPr>
            <a:r>
              <a:rPr sz="1300" b="1" i="0" u="none" strike="noStrike">
                <a:solidFill>
                  <a:srgbClr val="FFFFFF"/>
                </a:solidFill>
                <a:latin typeface="Noto Sans"/>
              </a:rPr>
              <a:t>3 de 8 semanas completadas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Completada</c:v>
                </c:pt>
              </c:strCache>
            </c:strRef>
          </c:tx>
          <c:spPr>
            <a:solidFill>
              <a:srgbClr val="00CB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Semanas 1–8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curso</c:v>
                </c:pt>
              </c:strCache>
            </c:strRef>
          </c:tx>
          <c:spPr>
            <a:solidFill>
              <a:srgbClr val="F9E79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Semanas 1–8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Propuesto</c:v>
                </c:pt>
              </c:strCache>
            </c:strRef>
          </c:tx>
          <c:spPr>
            <a:solidFill>
              <a:srgbClr val="1A2B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Semanas 1–8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D6D6D6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1" i="0" u="none" strike="noStrike">
                <a:solidFill>
                  <a:srgbClr val="FFFFFF"/>
                </a:solidFill>
                <a:latin typeface="Noto Sans"/>
              </a:defRPr>
            </a:pPr>
            <a:r>
              <a:rPr sz="1300" b="1" i="0" u="none" strike="noStrike">
                <a:solidFill>
                  <a:srgbClr val="FFFFFF"/>
                </a:solidFill>
                <a:latin typeface="Noto Sans"/>
              </a:rPr>
              <a:t>Estado semana a semana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Estado</c:v>
                </c:pt>
              </c:strCache>
            </c:strRef>
          </c:tx>
          <c:spPr>
            <a:solidFill>
              <a:srgbClr val="00CB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A2B4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Sem 1</c:v>
                  </c:pt>
                  <c:pt idx="1">
                    <c:v>Sem 2</c:v>
                  </c:pt>
                  <c:pt idx="2">
                    <c:v>Sem 3</c:v>
                  </c:pt>
                  <c:pt idx="3">
                    <c:v>Sem 4</c:v>
                  </c:pt>
                  <c:pt idx="4">
                    <c:v>Sem 5</c:v>
                  </c:pt>
                  <c:pt idx="5">
                    <c:v>Sem 6</c:v>
                  </c:pt>
                  <c:pt idx="6">
                    <c:v>Sem 7</c:v>
                  </c:pt>
                  <c:pt idx="7">
                    <c:v>Sem 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28-1.png"/><Relationship Id="rId4" Type="http://schemas.openxmlformats.org/officeDocument/2006/relationships/image" Target="../media/image-28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337560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5204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 + cierre) · Pipeline HU → DHU → código con graphify (~85 % menos tokens)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Contexto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Iniciativa, problema, metodología y valor cuantificado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1907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72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Ecosistema BCV/BACC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microservicios backend Java/Spring Boot fuertemente integrados: Azure Service Bus, OpenFeign, SQL Server + Cosmos DB, Key Vault.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514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063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construimos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2608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 (instrucciones especializadas para asistentes de código tipo GitHub Copilot) para generar, mantener y diagnosticar los microservicios.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6616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2219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6758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objetivo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Historia de Usuario (HU) de negocio en una Historia Técnica (DHU) detallada y, opcionalmente, en cambios de código.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 y objetivo principal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813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⚠  Problema a resolver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 implementar Historias de Usuario con un LLM que lee repositorios completos es caro y lento (~50 000–90 000 tokens por HU) y no sigue un estándar corporativo. Dificulta escalar el uso de asistentes de IA en el desarrollo de BACC.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310896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6440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🎯  Objetivo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skills de agente que codifiquen el conocimiento del dominio BACC e implementen el pipeline HU → DHU → código, usando graphify como motor de análisis local para reducir el consumo de tokens ~85 %, alineados al template corporativo ibk-hu-technical-refinement.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Estado actual → estado objetivo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Dimensión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actual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objetivo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repos completos (~70k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local + contexto mínimo (~10k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Informal, sin estándar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Manual, sin guía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Asistida por skills especializados + ramas feature/HU-…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Conocimiento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Implícito en el equipo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Codificado en 13 skills reutilizables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Valor para el banco (cuantificado)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 menos tokens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HU analizada: de ~70 000 a ~10 000 tokens.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skills de dominio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 convenciones BACC: hexagonal, ASB, OpenFeign, JPA, Cosmos, observabilidad y testing.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29184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reproducible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7588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→ DHU → código con validación y gates propios (DoR / DoD).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Onboarding acelerado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autónomo en el uso de asistentes de IA.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75488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Trazabilidad corporativa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DHU estándar + contexto versionado (service-map.md, gotchas.md).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— la especificación (DHU) es el artefacto central y va antes del código · BMAD: Understand → Design → Build → Validate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(entrada)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visual: cómo SDD se aplica en BCV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especificación (DHU) va antes del código; el research usa graphify (código real, local, ~0 tokens de LLM) en vez de que el LLM lea repositorios completos.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493776" y="3154680"/>
            <a:ext cx="8247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/ feedback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493776" y="3456432"/>
            <a:ext cx="824788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(linter + tests + gotchas) retroalimenta a bcv-hu-context-analyzer para la siguiente HU.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¿Por qué no Spec-Kit ni OpenSpec?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evaluaron los frameworks SDD genéricos y se descartaron a favor del flujo custom BCV: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Aspecto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Flujo BCV (custom)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Spec-Kit / OpenSpec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 de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(ibk-hu-technical-refinement)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spec.md propio / specs/ + deltas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de código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— grafo local, ~0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archivos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multi-servicio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 + service-map.md + gotchas.md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repo-local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Alineación corporativa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(BCV/BACC)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(genérico)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de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mínimo y consultas quirúrgicas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 consumo por 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propios, sin commit automático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genérico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de tokens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Escenario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Tokens estimados por HU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~8 000 – 12 000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skills, sin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~25 000 – 45 000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skills ni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~50 000 – 90 000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29184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34564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vs. LLM puro: ~85 % menos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3794760"/>
            <a:ext cx="79552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ejemplo «Agregar oficina registral en canal BCW»: ~10 000 tokens con skills + graphify, frente a ~33 000 sin graphify y ~70 000 sin skills ni graphify.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Capa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Tecnología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Lenguaje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 21 (Java 17 en service-point-service)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Boot 3.x (ads-spring-boot-dependencies)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/ Ports &amp; Adapters (6 de 7 servicios)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Mensajería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Service Bus (ads-spring-boot-starter-messaging)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Server (JPA/Hibernate), Azure Cosmos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HTTP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OpenFeign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Bearer + Azure Key Vault + Spring Cloud Config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bcv-commons-observability, Spring Actuator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Alcance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incluye y qué queda fuera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Resumen de alcance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/ Spring Boot · BACC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523744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23744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2615184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615184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pipeline + 10 implementación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81728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81728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4773168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77316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~70k a ~10k tokens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39712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9712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931152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duración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931152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7 microservicios backend BACC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Servicio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Arquitectura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party-lifecycle-management-service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(orquestador central)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channel-activity-service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(procesador stateless)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current-account-service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account-opening-reporting-service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(SQL + Cosmos)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Layered (legacy)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13 skills de agente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(3)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18288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Implementación (10)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83480" y="1828800"/>
            <a:ext cx="3703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bcv-hexagonal-architecture · bcv-clean-architecture · bcv-java-spring-boot · bcv-openapi-design · bcv-openfeign · bcv-azure-service-bus · bcv-spring-data-jpa-sql-server · bcv-cosmos-db · bcv-commons-observability · bcv-testing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61188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37307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completo HU → DHU → implementación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graphify y contexto mínimo versionado por servicio: service-map.md · architecture-conventions.md · cross-service-patterns.md · gotchas.md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Fuera de alcance / Etapa 2 candidata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Ítem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Motivo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Frontend, pantallas y lógica de presentación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flujo analiza microservicios backend únicamente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Migración de service-point-service a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técnica detectada — candidata a trabajo futuro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Completar 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de documentación de contratos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Activar quality gates (SpotBugs / PMD en skip=true)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de calidad independiente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ecosistemas no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del dominio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Equipo de Trabajo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NTT DATA, contraparte del banco y responsables por entregable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IA (NTT Data)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179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Luis Mejia Rojas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1536192"/>
            <a:ext cx="955548" cy="219456"/>
          </a:xfrm>
          <a:prstGeom prst="roundRect">
            <a:avLst>
              <a:gd name="adj" fmla="val 16667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1536192"/>
            <a:ext cx="9555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Arquitecto IA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10 sep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flujo HU → DHU, decisiones de contexto y adopción de graphify, diseño del workspace, validación de DHUs e interlocución con el cliente.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306324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2095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72B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Fabian Castro Severino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577840" y="3227832"/>
            <a:ext cx="89611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322783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Ingeniero IA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356616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09 oct 2026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refinamiento de skills, grafos graphify, ejecución del pipeline (análisis, DHU, implementación), pruebas y reportes. Desde el 10 sep: soporte y afinaciones.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de desarrollo del banco (colaboración)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Contraparte que valida en la práctica: dispone del entorno en su propia PC y ejecuta iteraciones con feedback sobre los skills.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Sergio Manuel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4300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técnico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8348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53212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3212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4300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430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5488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8348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8348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53212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Peramas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Responsable por entregable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Entregable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del flujo + workspace y convenciones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(Arquitecto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versionado (service-map.md, convenciones)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(3)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+ 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(10)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(7 repos)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 y generación de DHU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(ejecución) + Jose Luis (validación)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 y reporte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gotchas.md por 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y Oscar (con soporte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 (Sergio Manuel, líder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 de dotación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2377440"/>
          </a:xfrm>
          <a:prstGeom prst="roundRect">
            <a:avLst>
              <a:gd name="adj" fmla="val 230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916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sep 2026 — Jose Luis finaliza su participación (mitad del proyecto)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7955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trabajo queda culminado y traspasado en esa fecha. A partir de ahí, Oscar queda como único recurso del equipo IA, en rol de soporte y afinaciones finales.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767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Mitigación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planificado con trabajo culminado antes del 10 sep + cobertura de Oscar en soporte y afinaciones.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Roadmap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sprints de 2 semanas + cierre · SDD + BMAD · 13 ago → 09 oct 2026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Esfuerzo por bloque (estimación)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Bloque de trabajo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Sprints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Consolidación de repos + entorno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+ iteración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S2–S3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con equipo banco + correcciones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Documentación, onboarding y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 +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Soporte y afinaciones (Oscar)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2 personas durante ~8 semanas (4 sprints de 2 semanas + cierre) · metodología iterativa (SDD + BMAD).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Distribución por tipo de actividad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Tipo de actividad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 aprox.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Creación y refinamiento de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y análisis de código (graphify)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Configuración y setup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8587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65 % del esfuerzo es trabajo técnico (skills + análisis de código); el 35 % restante es validación, documentación y setup.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de skills por sprint (incremental)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13 skills se trabajan de forma incremental por sprint, para equiparar el tiempo: Sprint 1 = pipeline (3) + 2 skills; Sprint 2 = +5; Sprint 3 = +3 (se completan los 13). Sprint 4 queda para validación, sin skills nuevos.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512064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Período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Skills que se trabajan (acumulado)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Total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13–26 ago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Pipeline: bcv-hu-context-analyzer, bcv-dhu-writer, bcv-hu-implementer + bcv-hexagonal-architecture, bcv-java-spring-boot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ago–09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bcv-clean-architecture, bcv-openapi-design, bcv-openfeign, bcv-azure-service-bus, bcv-spring-data-jpa-sql-server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10–23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bcv-cosmos-db, bcv-commons-observability, bcv-testing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sep–07 oct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(validación con equipo dev + estabilización; sin skills nuevos)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Racional: los skills del pipeline se usan en cada HU y son la base; se trabajan primero con 2 skills de creación de código. Luego se suman contratos/integración/persistencia y, al final, observabilidad y testing.</a:t>
            </a:r>
            <a:endParaRPr lang="en-US" sz="9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9260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vs. flujo con skills del pipeline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772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Mismo punto de partida (una HU) · resultado medido con Fernando Camargo en la Semana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2161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(sin skills)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65760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0624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783080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92808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47672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lee todo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310128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19856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0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del código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837176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46904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01768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guía de dominio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547104" y="152704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F961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15270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~50k–90k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sin estándar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" y="2862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CON SKILLS (pipeline BCV)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5760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0624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783080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892808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947672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(graphify)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310128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419856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74720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(DHU estándar)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837176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946904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01768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(dry-run → apply)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547104" y="317296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620256" y="317296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~8k–12k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 estándar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4343400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4343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con Fernando Camargo (equipo dev del banco), Semana 2: ~2 h con la metodología vs. ~8 h (1 día) de la forma tradicional — mismo tipo de tarea.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74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por Sprint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315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· Ecosistema BCV/BACC · 4 sprints de 2 semanas + cierre (13 ago – 09 oct 2026)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54406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41848" y="3429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3550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56248" y="3429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3232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33488" y="3429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5760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13–26 ago  ·  5 / 13 skills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65760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1480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13–19 ago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1317752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63472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20–26 ago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· pipeline + 1er ejercicio (Fernando)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69744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269744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269744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ago–09 sep  ·  10 / 13 skills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2269744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15464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ago–02 sep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· validación EVT (Lionel)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221736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67456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03–09 sep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· consolidación + iteración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173728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73728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173728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10–23 sep  ·  13 / 13 skills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173728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19448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10–16 sep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· completar + iteración DHU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25720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171440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17–23 sep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· completar 13 skills + implementación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077712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077712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077712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sep–07 oct  ·  validación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077712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23432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24–30 sep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 · validación equipo dev banco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029704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075424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01–07 oct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 · estabilización y cierre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981696" y="1060704"/>
            <a:ext cx="88798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81696" y="1060704"/>
            <a:ext cx="88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CIERRE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981696" y="1362456"/>
            <a:ext cx="88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  ·  traspaso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981696" y="1600200"/>
            <a:ext cx="887984" cy="1042416"/>
          </a:xfrm>
          <a:prstGeom prst="roundRect">
            <a:avLst>
              <a:gd name="adj" fmla="val 9268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027416" y="1645920"/>
            <a:ext cx="7965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
</a:t>
            </a:r>
            <a:pPr algn="l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de entregables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365760" y="2798064"/>
            <a:ext cx="418338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66928" y="2889504"/>
            <a:ext cx="37810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 — SEMANA 2 (SPRINT 1, 20–26 AGO)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66928" y="3127248"/>
            <a:ext cx="37810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(skills 1–5): se adoptó graphify y se crearon los skills del pipeline (bcv-hu-context-analyzer, bcv-dhu-writer, bcv-hu-implementer) + arranque de bcv-hexagonal-architecture y bcv-java-spring-boot. Primer ejercicio con Fernando Camargo: ~2 h vs ~8 h (1 día) de la forma tradicional.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4686300" y="2798064"/>
            <a:ext cx="418338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4887468" y="2889504"/>
            <a:ext cx="37810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 EN CURSO — SEMANA 4 (SPRINT 2, 03–09 SEP)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4887468" y="3127248"/>
            <a:ext cx="37810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(skills 6–10): consolidar el feedback de la prueba EVT e incorporar las correcciones. Continuar bcv-clean-architecture, bcv-openapi-design, bcv-openfeign, bcv-azure-service-bus, bcv-spring-data-jpa-sql-server. Preparar el traspaso de Jose Luis (10 sep).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4041648"/>
            <a:ext cx="202311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5760" y="4105656"/>
            <a:ext cx="2023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h vs 8 h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457200" y="4407408"/>
            <a:ext cx="18402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 Camargo (equipo dev banco) vs. forma tradicional (semana 2)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2526030" y="4041648"/>
            <a:ext cx="202311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2526030" y="4105656"/>
            <a:ext cx="2023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~4 días</a:t>
            </a:r>
            <a:endParaRPr lang="en-US" sz="1800" dirty="0"/>
          </a:p>
        </p:txBody>
      </p:sp>
      <p:sp>
        <p:nvSpPr>
          <p:cNvPr id="55" name="Text 52"/>
          <p:cNvSpPr/>
          <p:nvPr/>
        </p:nvSpPr>
        <p:spPr>
          <a:xfrm>
            <a:off x="2617470" y="4407408"/>
            <a:ext cx="18402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ahorro medido en el EVT (semana 3)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4686300" y="4041648"/>
            <a:ext cx="202311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686300" y="4105656"/>
            <a:ext cx="2023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8</a:t>
            </a:r>
            <a:endParaRPr lang="en-US" sz="1800" dirty="0"/>
          </a:p>
        </p:txBody>
      </p:sp>
      <p:sp>
        <p:nvSpPr>
          <p:cNvPr id="58" name="Text 55"/>
          <p:cNvSpPr/>
          <p:nvPr/>
        </p:nvSpPr>
        <p:spPr>
          <a:xfrm>
            <a:off x="4777740" y="4407408"/>
            <a:ext cx="18402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 completadas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6846570" y="4041648"/>
            <a:ext cx="2023110" cy="731520"/>
          </a:xfrm>
          <a:prstGeom prst="roundRect">
            <a:avLst>
              <a:gd name="adj" fmla="val 75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846570" y="4105656"/>
            <a:ext cx="2023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 oct</a:t>
            </a:r>
            <a:endParaRPr lang="en-US" sz="1800" dirty="0"/>
          </a:p>
        </p:txBody>
      </p:sp>
      <p:sp>
        <p:nvSpPr>
          <p:cNvPr id="61" name="Text 58"/>
          <p:cNvSpPr/>
          <p:nvPr/>
        </p:nvSpPr>
        <p:spPr>
          <a:xfrm>
            <a:off x="6938010" y="4407408"/>
            <a:ext cx="18402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y traspaso de entregables</a:t>
            </a:r>
            <a:endParaRPr lang="en-US" sz="800" dirty="0"/>
          </a:p>
        </p:txBody>
      </p:sp>
      <p:pic>
        <p:nvPicPr>
          <p:cNvPr id="6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63" name="Text 59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64" name="Text 60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74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Avance del Roadmap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315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Semanas numeradas (1–8) del plan de adopción · Actualizado al 08 sep 2026 (Sprint 2 · Semana 4 en curso)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70432"/>
          <a:ext cx="850392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65760" y="2697480"/>
          <a:ext cx="85039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Hitos clave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3840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Hito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Fecha ref.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Descripción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🚀 Kick-off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Inicio oficial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🧭 Graphify +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de ahorro de tokens + creación de los 3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💻 Primera prueba con equipo dev (EVT)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completo validado con Lionel Gonzales — ahorro de ~4 días de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🏁 Culminación Arquitecto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de Jose Luis; Oscar queda como soporte /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🧪 Validación con equipo dev del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 a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🎯 Cierre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 oct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estabilizados + 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Dependencias y condiciones de inicio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4630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Dependencia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Impacto si no se resuelve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de la HU de negocio por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Completada (S2)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HU no se valida el pipeline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Entorno de trabajo del equipo dev (PC)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la validación con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 los 7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Generados (S1)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grafos, el análisis consume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repositorios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análisis 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Continuidad tras el 10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Planificado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asume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Riesgos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3749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Riesgo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Mitigación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de Jose Luis (Arquitecto IA) el 10 sep, a mitad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planificado; trabajo culminado antes del 10 sep; Oscar cubre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Dependencia de una HU real del cliente para validar 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 de entrega de HU ya conversado con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del equipo dev del banco fuera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equipo dev ya dispone del entorno en su PC; canal de iteración definido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 legacy (Java 17, estructura plana)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bcv-clean-architecture para migrar; no bloquea el resto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desactualizados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Regeneración en CI / check-update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Problemas y riesgos técnicos identificados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Severidad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Problema técnico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heterogénea: service-point-service es el único sin patrón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gates (SpotBugs / PMD) en skip=true en varios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flags implementados como propiedades Spring simples, sin plataforma dedicada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79476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de estos problemas bloquea el pipeline HU → DHU → código; se gestionan como deuda técnica del ecosistema.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Criterios de Éxito (KPIs)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Cómo mediremos que el proyecto cumplió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Criterios de éxito (KPIs)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669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Criterio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Indicador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skills operativos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+ implementación validados sobre código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Ahorro de tokens demostrado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~85 % vs. LLM puro (~8 000–12 000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validado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de negocio → DHU → código en ambiente de desarrollo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corporativo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generada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Correcciones del equipo dev aplicadas en las iteraciones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Onboarding entregado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+ equipo dev autónomo con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 inmediatos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1–3 ya ejecutados en el Sprint 2 (01 sep) con Lionel Gonzales sobre un EVT — flujo validado end-to-end con ~4 días ahorrados.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00200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1755648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1755648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91640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Probar el pipeline sobre un EVT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Lionel Gonzales (Sprint 2).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2221992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" y="2377440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377440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691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Ejecutar bcv-hu-context-analyzer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394960" y="2350008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con graphify → .context/hu-&lt;codigo&gt;.md.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43784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2999232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999232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6916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con código real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de la prueba EVT incorporado.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3465576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3621024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621024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691640" y="3575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Consolidar el feedback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394960" y="3593592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correcciones de desarrollo (semana 4).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4087368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6928" y="4242816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4242816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691640" y="4197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Preparar el traspaso (10 sep)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394960" y="4215384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arquitectura, validaciones y acuerdos con el cliente.</a:t>
            </a:r>
            <a:endParaRPr lang="en-US" sz="10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13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hito: validación con el equipo dev del banco y traspaso del Arquitecto IA (10 sep 2026)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0" y="1097280"/>
            <a:ext cx="1463040" cy="146304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818120" y="1463040"/>
            <a:ext cx="731520" cy="73152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</dc:title>
  <dc:subject>Presentación Ejecutiva — Skills IA · BCV/BACC</dc:subject>
  <dc:creator>NTT DATA</dc:creator>
  <cp:lastModifiedBy>NTT DATA</cp:lastModifiedBy>
  <cp:revision>1</cp:revision>
  <dcterms:created xsi:type="dcterms:W3CDTF">2026-09-08T19:20:23Z</dcterms:created>
  <dcterms:modified xsi:type="dcterms:W3CDTF">2026-09-08T19:20:23Z</dcterms:modified>
</cp:coreProperties>
</file>