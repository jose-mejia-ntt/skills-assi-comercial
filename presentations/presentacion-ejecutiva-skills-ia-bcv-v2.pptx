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24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1.44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7-1.png"/><Relationship Id="rId4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337560"/>
            <a:ext cx="8503920" cy="1325880"/>
          </a:xfrm>
          <a:prstGeom prst="roundRect">
            <a:avLst>
              <a:gd name="adj" fmla="val 413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5204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 · Pipeline HU → DHU → código con graphify (~85 % menos tokens)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Contexto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Iniciativa, problema, metodología y valor cuantificado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1907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72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Ecosistema BCV/BACC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microservicios backend Java/Spring Boot fuertemente integrados: Azure Service Bus, OpenFeign, SQL Server + Cosmos DB, Key Vault.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51460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063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0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construimos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2608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 (instrucciones especializadas para asistentes de código tipo GitHub Copilot) para generar, mantener y diagnosticar los microservicios.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6616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22192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22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6758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objetivo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3977640"/>
            <a:ext cx="74980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Historia de Usuario (HU) de negocio en una Historia Técnica (DHU) detallada y, opcionalmente, en cambios de código.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 y objetivo principal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8132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⚠  Problema a resolver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 implementar Historias de Usuario con un LLM que lee repositorios completos es caro y lento (~50 000–90 000 tokens por HU) y no sigue un estándar corporativo. Dificulta escalar el uso de asistentes de IA en el desarrollo de BACC.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3108960"/>
            <a:ext cx="8503920" cy="1600200"/>
          </a:xfrm>
          <a:prstGeom prst="roundRect">
            <a:avLst>
              <a:gd name="adj" fmla="val 342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26440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🎯  Objetivo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skills de agente que codifiquen el conocimiento del dominio BACC e implementen el pipeline HU → DHU → código, usando graphify como motor de análisis local para reducir el consumo de tokens ~85 %, alineados al template corporativo ibk-hu-technical-refinement.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Estado actual → estado objetivo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Dimensión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actual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 objetivo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repos completos (~70k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local + contexto mínimo (~10k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Informal, sin estándar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Manual, sin guía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Asistida por skills especializados + ramas feature/HU-…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Conocimiento de dominio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Implícito en el equipo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Codificado en 13 skills reutilizables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Valor para el banco (cuantificado)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 menos tokens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HU analizada: de ~70 000 a ~10 000 tokens.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6576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skills de dominio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Capturan convenciones BACC: hexagonal, ASB, OpenFeign, JPA, Cosmos, observabilidad y testing.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9184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reproducible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367588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→ DHU → código con validación y gates propios (DoR / DoD).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37160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Onboarding acelerado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0" y="175564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desarrollo autónomo en el uso de asistentes de IA.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754880" y="2331720"/>
            <a:ext cx="4114800" cy="841248"/>
          </a:xfrm>
          <a:prstGeom prst="roundRect">
            <a:avLst>
              <a:gd name="adj" fmla="val 6522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Trazabilidad corporativa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0" y="2715768"/>
            <a:ext cx="35661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DHU estándar + contexto versionado (service-map.md, gotchas.md).</a:t>
            </a:r>
            <a:endParaRPr lang="en-US" sz="1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destacados de los ejercicios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validaron el flujo y cuantificaron el ahorro frente a la forma tradicional: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640080"/>
                <a:gridCol w="777240"/>
                <a:gridCol w="777240"/>
                <a:gridCol w="13716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475488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 11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metodología (skills + graphify) el trabajo se reduce a una fracción del tiempo tradicional. 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— la especificación (DHU) es el artefacto central y va antes del código · BMAD: Understand → Design → Build → Validate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visual: cómo SDD se aplica en BCV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especificación (DHU) va antes del código; el research usa graphify (código real, local, ~0 tokens de LLM) en vez de que el LLM lea repositorios completos.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965960"/>
            <a:ext cx="173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965960"/>
            <a:ext cx="1060704" cy="868680"/>
          </a:xfrm>
          <a:prstGeom prst="roundRect">
            <a:avLst>
              <a:gd name="adj" fmla="val 8421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2039112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78024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Text 30"/>
          <p:cNvSpPr/>
          <p:nvPr/>
        </p:nvSpPr>
        <p:spPr>
          <a:xfrm>
            <a:off x="493776" y="3154680"/>
            <a:ext cx="8247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/ feedback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493776" y="3456432"/>
            <a:ext cx="8247888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(linter + tests + gotchas) retroalimenta a bcv-hu-context-analyzer para la siguiente HU.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¿Por qué no Spec-Kit ni OpenSpec?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70432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evaluaron los frameworks SDD genéricos y se descartaron a favor del flujo custom BCV: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Aspecto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Flujo BCV (custom)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Spec-Kit / OpenSpec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 de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(ibk-hu-technical-refinement)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spec.md propio / specs/ + deltas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de código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graphify — grafo local, ~0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lee archivos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multi-servicio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workspace + service-map.md + gotchas.md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repo-local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Alineación corporativa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(BCV/BACC)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 (genérico)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Eficiencia de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mínimo y consultas quirúrgicas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 consumo por 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propios, sin commit automático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genérico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de tokens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Escenario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Tokens estimados por HU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~8 000 – 12 000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skills, sin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~25 000 – 45 000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skills ni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~50 000 – 90 000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29184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4564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 vs. LLM puro: ~85 % menos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3794760"/>
            <a:ext cx="795528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ejemplo «Agregar oficina registral en canal BCW»: ~10 000 tokens con skills + graphify, frente a ~33 000 sin graphify y ~70 000 sin skills ni graphify.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Capa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Tecnología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Lenguaje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 21 (Java 17 en service-point-service)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Spring Boot 3.x (ads-spring-boot-dependencies)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/ Ports &amp; Adapters (6 de 7 servicios)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Mensajería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Azure Service Bus (ads-spring-boot-starter-messaging)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Persistencia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 Server (JPA/Hibernate), Azure Cosmos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HTTP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OpenFeign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Bearer + Azure Key Vault + Spring Cloud Config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Observabilidad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bcv-commons-observability, Spring Actuator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Alcance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Qué incluye y qué queda fuera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Resumen de alcance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/ Spring Boot · BACC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523744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523744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2615184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 agente IA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615184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pipeline + 10 implementación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81728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81728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4773168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77316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~70k a ~10k tokens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839712" y="1645920"/>
            <a:ext cx="2011680" cy="2651760"/>
          </a:xfrm>
          <a:prstGeom prst="roundRect">
            <a:avLst>
              <a:gd name="adj" fmla="val 272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9712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931152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duración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931152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7 microservicios backend BACC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3383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Servicio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Arquitectura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party-lifecycle-management-service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(orquestador central)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channel-activity-service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(procesador stateless)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current-account-service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account-opening-reporting-service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Hexagonal (SQL + Cosmos)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Layered (legacy)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Incluido — 13 skills de agente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(3)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94360" y="18288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32588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1463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Implementación (10)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83480" y="1828800"/>
            <a:ext cx="3703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bcv-hexagonal-architecture · bcv-clean-architecture · bcv-java-spring-boot · bcv-openapi-design · bcv-openfeign · bcv-azure-service-bus · bcv-spring-data-jpa-sql-server · bcv-cosmos-db · bcv-commons-observability · bcv-unit-integration-testing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61188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373075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completo HU → DHU → implementación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400507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graphify y contexto mínimo versionado por servicio: service-map.md · architecture-conventions.md · cross-service-patterns.md · gotchas.md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Fuera de alcance / Etapa 2 candidata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Ítem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Motivo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Frontend, pantallas y lógica de presentación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analiza microservicios backend únicamente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Migración de service-point-service a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técnica detectada — candidata a trabajo futuro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Completar 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Deuda de documentación de contratos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Activar quality gates (SpotBugs / PMD en skip=true)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de calidad independiente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Otros ecosistemas no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Fuera del dominio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Equipo de Trabajo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NTT DATA, contraparte del banco y responsables por entregable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IA (NTT Data)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37160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Luis Mejia Rojas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577840" y="1536192"/>
            <a:ext cx="955548" cy="219456"/>
          </a:xfrm>
          <a:prstGeom prst="roundRect">
            <a:avLst>
              <a:gd name="adj" fmla="val 16667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1536192"/>
            <a:ext cx="9555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Arquitecto IA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10 sep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214884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flujo HU → DHU, decisiones de contexto y adopción de graphify, diseño del workspace, validación de DHUs e interlocución con el cliente.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3063240"/>
            <a:ext cx="8503920" cy="1554480"/>
          </a:xfrm>
          <a:prstGeom prst="roundRect">
            <a:avLst>
              <a:gd name="adj" fmla="val 3529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2095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72B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Fabian Castro Severino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577840" y="3227832"/>
            <a:ext cx="89611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322783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Ingeniero IA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3566160"/>
            <a:ext cx="78638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Disponibilidad: 13 ago – 09 oct 2026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refinamiento de skills, grafos graphify, ejecución del pipeline (análisis, DHU, implementación), pruebas y reportes. Desde el 10 sep: soporte y afinaciones.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Equipo de desarrollo del banco (colaboración)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Contraparte que valida en la práctica: dispone del entorno en su propia PC y ejecuta iteraciones con feedback sobre los skills.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Sergio Manuel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4300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técnico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16916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83480" y="20756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532120" y="19476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53212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4300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14300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754880" y="3063240"/>
            <a:ext cx="4114800" cy="1188720"/>
          </a:xfrm>
          <a:prstGeom prst="roundRect">
            <a:avLst>
              <a:gd name="adj" fmla="val 461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983480" y="3447288"/>
            <a:ext cx="347472" cy="347472"/>
          </a:xfrm>
          <a:prstGeom prst="ellipse">
            <a:avLst/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8348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532120" y="3319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Jose Peramas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2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Responsable por entregable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480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Entregable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del flujo + workspace y convenciones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(Arquitecto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versionado (service-map.md, convenciones)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(3)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+ 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(10)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(7 repos)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Análisis de HUs y generación de DHU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(ejecución) + Jose Luis (validación)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Implementación y reporte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gotchas.md por servicio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Jose Luis y Oscar (con soporte IA)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 (Sergio Manuel, líder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 de dotación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63040"/>
            <a:ext cx="8503920" cy="2377440"/>
          </a:xfrm>
          <a:prstGeom prst="roundRect">
            <a:avLst>
              <a:gd name="adj" fmla="val 2308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916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9E79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sep 2026 — Jose Luis finaliza su participación (mitad del proyecto)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95528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trabajo queda culminado y traspasado en esa fecha. A partir de ahí, Oscar queda como único recurso del equipo IA, en rol de soporte y afinaciones finales.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37673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Mitigación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planificado con trabajo culminado antes del 10 sep + cobertura de Oscar en soporte y afinaciones.</a:t>
            </a:r>
            <a:endParaRPr lang="en-US" sz="11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Roadmap del Proyecto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sprints de 2 semanas + cierre · SDD + BMAD · 13 ago → 09 oct 2026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Esfuerzo por bloque (estimación)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Bloque de trabajo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Sprints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Consolidación de repos + entorno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del pipeline + graphify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de implementación + iteración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S2–S3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con equipo banco + correcciones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Documentación, onboarding y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S4 + 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Soporte y afinaciones (Oscar)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Cierre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 de 2 personas durante ~8 semanas (4 sprints de 2 semanas + cierre) · metodología iterativa (SDD + BMAD).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Distribución por tipo de actividad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Tipo de actividad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Esfuerzo aprox.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 y refinamiento de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Investigación y análisis de código (graphify)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Validación y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Configuración y setup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657600"/>
            <a:ext cx="8503920" cy="868680"/>
          </a:xfrm>
          <a:prstGeom prst="roundRect">
            <a:avLst>
              <a:gd name="adj" fmla="val 6316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85876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65 % del esfuerzo es trabajo técnico (skills + análisis de código); el 35 % restante es validación, documentación y setup.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de skills por sprint (incremental)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13 skills se trabajan de forma incremental por sprint, para equiparar el tiempo: Sprint 1 = pipeline (3) + 2 skills; Sprint 2 = +5; Sprint 3 = +3 (se completan los 13). Sprint 4 queda para validación, sin skills nuevos.</a:t>
            </a:r>
            <a:endParaRPr lang="en-US" sz="10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2880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512064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Sprint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Período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Skills que se trabajan (acumulado)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Total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13–26 ago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Pipeline: bcv-hu-context-analyzer, bcv-dhu-writer, bcv-hu-implementer + bcv-hexagonal-architecture, bcv-java-spring-boot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ago–09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bcv-clean-architecture, bcv-openapi-design, bcv-openfeign, bcv-azure-service-bus, bcv-spring-data-jpa-sql-server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10–23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bcv-cosmos-db, bcv-commons-observability, bcv-unit-integration-testing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Sprint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sep–07 oct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(validación con equipo dev + estabilización; sin skills nuevos)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/ 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Racional: los skills del pipeline se usan en cada HU y son la base; se trabajan primero con 2 skills de creación de código. Luego se suman contratos/integración/persistencia y, al final, observabilidad y testing.</a:t>
            </a:r>
            <a:endParaRPr lang="en-US" sz="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9260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vs. flujo con skills del pipeline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77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Mismo punto de partida (una HU) · resultado medido con Fernando Camargo en la Semana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216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NORMAL (sin skills)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65760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20624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783080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92808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47672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lee todo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310128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19856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720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del código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837176" y="152704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46904" y="152704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01768" y="152704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guía de dominio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547104" y="152704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F961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15270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~50k–90k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sin estándar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65760" y="28620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FLUJO CON SKILLS (pipeline BCV)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65760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0624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de negocio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783080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892808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947672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(graphify)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3310128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3419856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74720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bcv-dhu-writer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(DHU estándar)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837176" y="3172968"/>
            <a:ext cx="109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</a:rPr>
              <a:t>→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946904" y="3172968"/>
            <a:ext cx="1417320" cy="777240"/>
          </a:xfrm>
          <a:prstGeom prst="roundRect">
            <a:avLst>
              <a:gd name="adj" fmla="val 9412"/>
            </a:avLst>
          </a:prstGeom>
          <a:solidFill>
            <a:srgbClr val="0A1A2E"/>
          </a:solidFill>
          <a:ln w="12700">
            <a:solidFill>
              <a:srgbClr val="00CB5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01768" y="3172968"/>
            <a:ext cx="1307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bcv-hu-implementer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(dry-run → apply)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547104" y="3172968"/>
            <a:ext cx="2322576" cy="777240"/>
          </a:xfrm>
          <a:prstGeom prst="roundRect">
            <a:avLst>
              <a:gd name="adj" fmla="val 9412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620256" y="317296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~8k–12k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tokens/HU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 estándar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65760" y="4343400"/>
            <a:ext cx="8503920" cy="502920"/>
          </a:xfrm>
          <a:prstGeom prst="roundRect">
            <a:avLst>
              <a:gd name="adj" fmla="val 1090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4343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con Fernando Camargo (equipo dev del banco), Semana 2: ~2 h con la metodología vs. ~8 h (1 día) de la forma tradicional — mismo tipo de tarea.</a:t>
            </a:r>
            <a:endParaRPr lang="en-US" sz="1050" dirty="0"/>
          </a:p>
        </p:txBody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274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 por Sprint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365760" y="7315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· Ecosistema BCV/BACC · 4 sprints de 2 semanas + cierre (13 ago – 09 oct 2026)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54406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41848" y="34290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35508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56248" y="3429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132320" y="38404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33488" y="3429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5760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  ·  5 / 13 skills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6576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576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062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36576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062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skills del pipeline (context-analyzer, dhu-writer, implementer)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31775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1775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31775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7261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 + creación bcv-hexagonal-architecture y bcv-java-spring-boot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131775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7261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2269744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269744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269744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  ·  10 / 13 skills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26974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26974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26974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2460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bcv-clean-architecture, bcv-openapi-design y bcv-openfeign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226974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32460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2173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22173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4A3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2173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27660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bcv-azure-service-bus y bcv-spring-data-jpa-sql-server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2173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F9E79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7660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e iterar skills con código real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173728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73728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173728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  ·  13 / 13 skills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4173728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173728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173728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8592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y refinar los 5 skills del Sprint 2 con código real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173728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4228592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Avanzar el pipeline con la DHU (bcv-dhu-writer)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125720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125720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125720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180584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Creación bcv-cosmos-db, bcv-commons-observability y bcv-unit-integration-testing (13/13)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125720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180584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bcv-hu-implementer (dry-run → apply)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6077712" y="1060704"/>
            <a:ext cx="1839976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077712" y="1060704"/>
            <a:ext cx="1839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6077712" y="136245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  ·  validación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6077712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077712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077712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132576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equipo dev del banco (entorno propio)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6077712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132576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ajustar → regenerar → revalidar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029704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029704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7029704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084568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Estabilización final de skills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029704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084568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Documentación, onboarding y demo al cliente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7981696" y="1060704"/>
            <a:ext cx="887984" cy="274320"/>
          </a:xfrm>
          <a:prstGeom prst="roundRect">
            <a:avLst>
              <a:gd name="adj" fmla="val 53333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981696" y="1060704"/>
            <a:ext cx="88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7981696" y="136245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  ·  traspaso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981696" y="1627632"/>
            <a:ext cx="887984" cy="384048"/>
          </a:xfrm>
          <a:prstGeom prst="roundRect">
            <a:avLst>
              <a:gd name="adj" fmla="val 33333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981696" y="1627632"/>
            <a:ext cx="88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7981696" y="21031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8036560" y="21579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final de entregables</a:t>
            </a:r>
            <a:endParaRPr lang="en-US" sz="850" dirty="0"/>
          </a:p>
        </p:txBody>
      </p:sp>
      <p:sp>
        <p:nvSpPr>
          <p:cNvPr id="78" name="Shape 75"/>
          <p:cNvSpPr/>
          <p:nvPr/>
        </p:nvSpPr>
        <p:spPr>
          <a:xfrm>
            <a:off x="7981696" y="3474720"/>
            <a:ext cx="887984" cy="1280160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8036560" y="3529584"/>
            <a:ext cx="77825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a cargo de Oscar</a:t>
            </a:r>
            <a:endParaRPr lang="en-US" sz="850" dirty="0"/>
          </a:p>
        </p:txBody>
      </p:sp>
      <p:pic>
        <p:nvPicPr>
          <p:cNvPr id="8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Hitos clave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3840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Hito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Fecha ref.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Descripción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🚀 Kick-off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Inicio oficial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🧭 Graphify +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 ago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 de ahorro de tokens + creación de los 3 skills del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💻 Primera prueba con equipo dev (EVT)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Flujo completo validado con Lionel Gonzales — ahorro de ~4 días de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🏁 Culminación Arquitecto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de Jose Luis; Oscar queda como soporte /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🧪 Validación con equipo dev del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sep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 a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🎯 Cierre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 oct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Skills estabilizados + documentación y onboarding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Dependencias y condiciones de inicio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1463040"/>
                <a:gridCol w="28346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Dependencia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Responsable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Estado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Impacto si no se resuelve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Entrega de la HU de negocio por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Completada (S2)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HU no se valida el pipeline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Entorno de trabajo del equipo dev (PC)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dev banco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la validación con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 los 7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Generados (S1)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grafos, el análisis consume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repositorios BACC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Bloquea análisis e implementación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Continuidad tras el 10 sep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Equipo 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Planificado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Oscar asume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Riesgos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023360"/>
                <a:gridCol w="37490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Riesgo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Mitigación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Salida de Jose Luis (Arquitecto IA) el 10 sep, a mitad del proyecto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Traspaso planificado; trabajo culminado antes del 10 sep; Oscar cubre soporte y afinaciones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Dependencia de una HU real del cliente para validar el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 de entrega de HU ya conversado con el cliente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del equipo dev del banco fuera de tiempo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equipo dev ya dispone del entorno en su PC; canal de iteración definido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service-point-service legacy (Java 17, estructura plana)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bcv-clean-architecture para migrar; no bloquea el resto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Grafos graphify desactualizados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Regeneración en CI / check-update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Problemas y riesgos técnicos identificados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Severidad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70F26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Problema técnico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79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Arquitectura heterogénea: service-point-service es el único sin patrón hexagonal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rest-api.yaml vacíos en varios servicios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 (SpotBugs / PMD) en skip=true en varios repos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flags implementados como propiedades Spring simples, sin plataforma dedicada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794760"/>
            <a:ext cx="8503920" cy="777240"/>
          </a:xfrm>
          <a:prstGeom prst="roundRect">
            <a:avLst>
              <a:gd name="adj" fmla="val 7059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94360" y="39319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de estos problemas bloquea el pipeline HU → DHU → código; se gestionan como deuda técnica del ecosistema.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Criterios de Éxito (KPIs)</a:t>
            </a:r>
            <a:endParaRPr lang="en-US" sz="4200" dirty="0"/>
          </a:p>
        </p:txBody>
      </p:sp>
      <p:sp>
        <p:nvSpPr>
          <p:cNvPr id="4" name="Text 1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Cómo mediremos que el proyecto cumplió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457200" y="2468880"/>
            <a:ext cx="146304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Criterios de éxito (KPIs)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8503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669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Criterio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Indicador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skills operativos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+ implementación validados sobre código real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Ahorro de tokens demostrado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~85 % vs. LLM puro (~8 000–12 000 tokens/HU)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validado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de negocio → DHU → código en ambiente de desarrollo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 corporativo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DHU generada con template ibk-hu-technical-refinement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Feedback incorporado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Correcciones del equipo dev aplicadas en las iteraciones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Onboarding entregado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+ equipo dev autónomo con los skills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 inmediatos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43000"/>
            <a:ext cx="81381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Pasos 1–3 ya ejecutados en el Sprint 2 (01 sep) con Lionel Gonzales sobre un EVT — flujo validado end-to-end con ~4 días ahorrados.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600200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1755648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1755648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691640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Probar el pipeline sobre un EVT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394960" y="1728216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Lionel Gonzales (Sprint 2).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2221992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" y="2377440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2377440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691640" y="2331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Ejecutar bcv-hu-context-analyzer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2350008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Análisis con graphify → .context/hu-&lt;codigo&gt;.md.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43784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" y="2999232"/>
            <a:ext cx="480060" cy="219456"/>
          </a:xfrm>
          <a:prstGeom prst="roundRect">
            <a:avLst>
              <a:gd name="adj" fmla="val 1666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2999232"/>
            <a:ext cx="480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Hecho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691640" y="2953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con código real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de la prueba EVT incorporado.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65760" y="3465576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6928" y="3621024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621024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691640" y="3575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Consolidar el feedback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394960" y="3593592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correcciones de desarrollo (semana 4).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087368"/>
            <a:ext cx="8503920" cy="530352"/>
          </a:xfrm>
          <a:prstGeom prst="roundRect">
            <a:avLst>
              <a:gd name="adj" fmla="val 1034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66928" y="4242816"/>
            <a:ext cx="301752" cy="219456"/>
          </a:xfrm>
          <a:prstGeom prst="roundRect">
            <a:avLst>
              <a:gd name="adj" fmla="val 16667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4242816"/>
            <a:ext cx="301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4197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Preparar el traspaso (10 sep)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4215384"/>
            <a:ext cx="32918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arquitectura, validaciones y acuerdos con el cliente.</a:t>
            </a:r>
            <a:endParaRPr lang="en-US" sz="10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13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hito: validación con el equipo dev del banco y traspaso del Arquitecto IA (10 sep 2026)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</dc:title>
  <dc:subject>Presentación Ejecutiva — Skills IA · BCV/BACC</dc:subject>
  <dc:creator>NTT DATA</dc:creator>
  <cp:lastModifiedBy>NTT DATA</cp:lastModifiedBy>
  <cp:revision>1</cp:revision>
  <dcterms:created xsi:type="dcterms:W3CDTF">2026-09-10T00:16:35Z</dcterms:created>
  <dcterms:modified xsi:type="dcterms:W3CDTF">2026-09-10T00:16:35Z</dcterms:modified>
</cp:coreProperties>
</file>