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&quot;h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E79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B5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Tradicional</c:v>
                  </c:pt>
                  <c:pt idx="1">
                    <c:v>Copilot</c:v>
                  </c:pt>
                  <c:pt idx="2">
                    <c:v>Skill +
Graphify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</c:ser>
        <c:dLbls>
          <c:numFmt formatCode="0&quot;h&quot;" sourceLinked="0"/>
          <c:txPr>
            <a:bodyPr/>
            <a:lstStyle/>
            <a:p>
              <a:pPr>
                <a:defRPr b="1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2B4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D6D6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.24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&quot;h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E79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B5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Tradicional</c:v>
                  </c:pt>
                  <c:pt idx="1">
                    <c:v>Copilot</c:v>
                  </c:pt>
                  <c:pt idx="2">
                    <c:v>Skill +
Graphify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40</c:v>
                </c:pt>
                <c:pt idx="2">
                  <c:v>10</c:v>
                </c:pt>
              </c:numCache>
            </c:numRef>
          </c:val>
        </c:ser>
        <c:dLbls>
          <c:numFmt formatCode="0&quot;h&quot;" sourceLinked="0"/>
          <c:txPr>
            <a:bodyPr/>
            <a:lstStyle/>
            <a:p>
              <a:pPr>
                <a:defRPr b="1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2B4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D6D6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1.44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7-1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Adaptación de Skills IA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 Ecosistema BCV/BACC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Presentación Ejecutiva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3337560"/>
            <a:ext cx="8503920" cy="1325880"/>
          </a:xfrm>
          <a:prstGeom prst="roundRect">
            <a:avLst>
              <a:gd name="adj" fmla="val 4138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520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Proyecto: skills de agente IA para los microservicios backend de Apertura de Cuentas Comerciales (BACC)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Ecosistema: BCV/BACC · Interbank · Entregable: NTT DATA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Cronograma: 13 ago → 09 oct 2026 · Sprint 2 en curso (4 sprints de 2 semanas) · Pipeline HU → DHU → código con graphify (~85 % menos tokens)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80960" y="685800"/>
            <a:ext cx="1371600" cy="1371600"/>
          </a:xfrm>
          <a:prstGeom prst="ellipse">
            <a:avLst/>
          </a:prstGeom>
          <a:solidFill>
            <a:srgbClr val="0072B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83880" y="1051560"/>
            <a:ext cx="640080" cy="640080"/>
          </a:xfrm>
          <a:prstGeom prst="ellipse">
            <a:avLst/>
          </a:prstGeom>
          <a:solidFill>
            <a:srgbClr val="00DF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Contexto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Iniciativa, problema, metodología y valor cuantificado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¿Qué es este proyecto?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46304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71907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572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Ecosistema BCV/BACC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87452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microservicios backend Java/Spring Boot fuertemente integrados: Azure Service Bus, OpenFeign, SQL Server + Cosmos DB, Key Vault.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77063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2624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Qué construimos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 agente IA (instrucciones especializadas para asistentes de código tipo GitHub Copilot) para generar, mantener y diagnosticar los microservicios.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56616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82219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3675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objetivo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4300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una Historia de Usuario (HU) de negocio en una Historia Técnica (DHU) detallada y, opcionalmente, en cambios de código.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 y objetivo principal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25880"/>
            <a:ext cx="8503920" cy="1600200"/>
          </a:xfrm>
          <a:prstGeom prst="roundRect">
            <a:avLst>
              <a:gd name="adj" fmla="val 34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⚠  Problema a resolver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955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e implementar Historias de Usuario con un LLM que lee repositorios completos es caro y lento (~50 000–90 000 tokens por HU) y no sigue un estándar corporativo. Dificulta escalar el uso de asistentes de IA en el desarrollo de BACC.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108960"/>
            <a:ext cx="8503920" cy="1600200"/>
          </a:xfrm>
          <a:prstGeom prst="roundRect">
            <a:avLst>
              <a:gd name="adj" fmla="val 3429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264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  Objetivo principal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7955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skills de agente que codifiquen el conocimiento del dominio BACC e implementen el pipeline HU → DHU → código, usando graphify como motor de análisis local para reducir el consumo de tokens ~85 %, alineados al template corporativo ibk-hu-technical-refinement.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Estado actual → estado objetivo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Dimensión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 actual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 objetivo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de HUs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lee repos completos (~70k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graphify local + contexto mínimo (~10k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Informal, sin estándar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con template ibk-hu-technical-refinement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Manual, sin guía de 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Asistida por skills especializados + ramas feature/HU-…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Conocimiento de 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Implícito en el equipo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Codificado en 13 skills reutilizables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 para el banco (cuantificado)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7160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~85 % menos tokens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HU analizada: de ~70 000 a ~10 000 tokens.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skills de dominio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71576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Capturan convenciones BACC: hexagonal, ASB, OpenFeign, JPA, Cosmos, observabilidad y testing.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29184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reproducible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67588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→ DHU → código con validación y gates propios (DoR / DoD).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Onboarding acelerado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 autónomo en el uso de asistentes de IA.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23317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Trazabilidad corporativa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0" y="271576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DHU estándar + contexto versionado (service-map.md, gotchas.md).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 destacados de los ejercicios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78992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primeros ejercicios con el equipo dev del banco validaron el flujo y cuantificaron el ahorro frente a la forma tradicional: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99032"/>
          <a:ext cx="8503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06040"/>
                <a:gridCol w="640080"/>
                <a:gridCol w="777240"/>
                <a:gridCol w="777240"/>
                <a:gridCol w="137160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Usuario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HU / EVT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Compl.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Tradic. (h)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Copilot (h)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Skill+Graphify (h)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Ahorro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Fernando Camargo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Identificación de canal OneAPP en trama Postmortem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Lionel Gonzales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[EVT] Arquitectura cluster-to-cluster – Paquete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27797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Fernando Camargo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65760" y="29992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· complejidad baja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611880" y="2779776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11880" y="277977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75 %
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3218688"/>
          <a:ext cx="4114800" cy="1152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/>
          <p:nvPr/>
        </p:nvSpPr>
        <p:spPr>
          <a:xfrm>
            <a:off x="4754880" y="27797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Lionel Gonzales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754880" y="29992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EVT · complejidad media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8001000" y="2779776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01000" y="277977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79 %
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</a:t>
            </a:r>
            <a:endParaRPr lang="en-US" sz="14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754880" y="3218688"/>
          <a:ext cx="4114800" cy="1152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1"/>
          <p:cNvSpPr/>
          <p:nvPr/>
        </p:nvSpPr>
        <p:spPr>
          <a:xfrm>
            <a:off x="45720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metodología (skills + graphify) el trabajo se reduce a una fracción del tiempo tradicional. En el caso de mayor complejidad (Lionel Gonzales), pasar de 48 h a 10 h equivale a un ahorro de ~79 % (~4 días de implementación).</a:t>
            </a:r>
            <a:endParaRPr lang="en-US" sz="1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Metodología: SDD + BMAD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— la especificación (DHU) es el artefacto central y va antes del código · BMAD: Understand → Design → Build → Validate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Fase SDD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Acción del flujo BCV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Especificar (entrada)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 funcional de negocio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Research-Driven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bcv-hu-context-analyzer investiga el código real con graphify → .context/hu-&lt;codigo&gt;.md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Especificar formalmente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bcv-dhu-writer escribe la DHU (criterios de aceptación, endpoints, mapa técnico)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Implementar desde la 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bcv-hu-implementer aplica la DHU en ramas feature (dry-run / apply)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/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Linter + tests, revisión humana y gotchas que vuelven al contexto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visual: cómo SDD se aplica en BCV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15568"/>
            <a:ext cx="8321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especificación (DHU) va antes del código; el research usa graphify (código real, local, ~0 tokens de LLM) en vez de que el LLM lea repositorios completos.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93776" y="1965960"/>
            <a:ext cx="1060704" cy="868680"/>
          </a:xfrm>
          <a:prstGeom prst="roundRect">
            <a:avLst>
              <a:gd name="adj" fmla="val 8421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203911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 funcional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2478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 de negocio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1536192" y="1965960"/>
            <a:ext cx="173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91640" y="1965960"/>
            <a:ext cx="1060704" cy="868680"/>
          </a:xfrm>
          <a:prstGeom prst="roundRect">
            <a:avLst>
              <a:gd name="adj" fmla="val 8421"/>
            </a:avLst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28216" y="203911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bcv-hu-context-analyzer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28216" y="2478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 código con graphify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2734056" y="1965960"/>
            <a:ext cx="173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89504" y="1965960"/>
            <a:ext cx="1060704" cy="868680"/>
          </a:xfrm>
          <a:prstGeom prst="roundRect">
            <a:avLst>
              <a:gd name="adj" fmla="val 8421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203911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Contexto técnico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26080" y="2478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.context/hu-&lt;codigo&gt;.md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3931920" y="1965960"/>
            <a:ext cx="173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87368" y="1965960"/>
            <a:ext cx="1060704" cy="868680"/>
          </a:xfrm>
          <a:prstGeom prst="roundRect">
            <a:avLst>
              <a:gd name="adj" fmla="val 8421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23944" y="203911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bcv-dhu-writer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123944" y="2478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la especificación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5129784" y="1965960"/>
            <a:ext cx="173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285232" y="1965960"/>
            <a:ext cx="1060704" cy="868680"/>
          </a:xfrm>
          <a:prstGeom prst="roundRect">
            <a:avLst>
              <a:gd name="adj" fmla="val 8421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21808" y="203911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DHU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321808" y="2478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ibk-hu-technical-refinement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6327648" y="1965960"/>
            <a:ext cx="173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83096" y="1965960"/>
            <a:ext cx="1060704" cy="868680"/>
          </a:xfrm>
          <a:prstGeom prst="roundRect">
            <a:avLst>
              <a:gd name="adj" fmla="val 8421"/>
            </a:avLst>
          </a:prstGeom>
          <a:solidFill>
            <a:srgbClr val="F9E7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19672" y="203911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bcv-hu-implementer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19672" y="2478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desde la spec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7525512" y="1965960"/>
            <a:ext cx="173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680960" y="1965960"/>
            <a:ext cx="1060704" cy="868680"/>
          </a:xfrm>
          <a:prstGeom prst="roundRect">
            <a:avLst>
              <a:gd name="adj" fmla="val 8421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17536" y="203911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Código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17536" y="2478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feature + tests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493776" y="3154680"/>
            <a:ext cx="8247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/ feedback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93776" y="3456432"/>
            <a:ext cx="824788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(linter + tests + gotchas) retroalimenta a bcv-hu-context-analyzer para la siguiente HU.</a:t>
            </a:r>
            <a:endParaRPr lang="en-US" sz="10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¿Por qué no Spec-Kit ni OpenSpec?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evaluaron los frameworks SDD genéricos y se descartaron a favor del flujo custom BCV: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Aspecto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Flujo BCV (custom)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Spec-Kit / OpenSpec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Formato de 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(ibk-hu-technical-refinement)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spec.md propio / specs/ + deltas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Investigación de código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graphify — grafo local, ~0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lee archivos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multi-servicio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+ service-map.md + gotchas.md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repo-local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Alineación corporativa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(BCV/BACC)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 (genérico)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de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mínimo y consultas quirúrgicas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 consumo por HU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 propios, sin commit automático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 genérico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 de tokens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Escenario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Tokens estimados por HU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skills +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~8 000 – 12 000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skills, sin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~25 000 – 45 000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skills ni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~50 000 – 90 000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91840"/>
            <a:ext cx="8503920" cy="1280160"/>
          </a:xfrm>
          <a:prstGeom prst="roundRect">
            <a:avLst>
              <a:gd name="adj" fmla="val 428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34564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 vs. LLM puro: ~85 % menos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3794760"/>
            <a:ext cx="7955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de ejemplo «Agregar oficina registral en canal BCW»: ~10 000 tokens con skills + graphify, frente a ~33 000 sin graphify y ~70 000 sin skills ni graphify.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Capa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Tecnología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21 (Java 17 en service-point-service)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 3.x (ads-spring-boot-dependencies)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/ Ports &amp; Adapters (6 de 7 servicios)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Mensajería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Service Bus (ads-spring-boot-starter-messaging)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Server (JPA/Hibernate), Azure Cosmos 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HTTP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OpenFeign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Bearer + Azure Key Vault + Spring Cloud Config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bcv-commons-observability, Spring Actuator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Alcance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Qué incluye y qué queda fuera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Resumen de alcance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backend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Spring Boot · BACC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23744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3744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615184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 agente IA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615184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pipeline + 10 implementación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81728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728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~85 %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4773168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tokens por HU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73168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~70k a ~10k tokens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39712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9712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sem.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931152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duración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931152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ago → 09 oct 2026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Incluido — 7 microservicios backend BACC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Servicio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Arquitectura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party-lifecycle-management-service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(orquestador central)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channel-activity-service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(procesador stateless)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current-account-service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account-opening-reporting-service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(SQL + Cosmos)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service-point-service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Layered (legacy)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Incluido — 13 skills de agente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2588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(3)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bcv-hu-context-analyzer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bcv-dhu-writer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bcv-hu-implementer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32588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Implementación (10)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83480" y="1828800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bcv-hexagonal-architecture · bcv-clean-architecture · bcv-java-spring-boot · bcv-openapi-design · bcv-openfeign · bcv-azure-service-bus · bcv-spring-data-jpa-sql-server · bcv-cosmos-db · bcv-commons-observability · bcv-unit-integration-testing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61188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7307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completo HU → DHU → implementación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graphify y contexto mínimo versionado por servicio: service-map.md · architecture-conventions.md · cross-service-patterns.md · gotchas.md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Fuera de alcance / Etapa 2 candidata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Ítem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Motivo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Frontend, pantallas y lógica de presentación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flujo analiza microservicios backend únicamente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Migración de service-point-service a 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Deuda técnica detectada — candidata a trabajo futuro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Completar rest-api.yaml vacíos en varios servicios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Deuda de documentación de contratos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Activar quality gates (SpotBugs / PMD en skip=true)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 de calidad independiente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Otros ecosistemas no BACC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Fuera del dominio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Equipo de Trabajo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NTT DATA, contraparte del banco y responsables por entregable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IA (NTT Data)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71600"/>
            <a:ext cx="8503920" cy="1554480"/>
          </a:xfrm>
          <a:prstGeom prst="roundRect">
            <a:avLst>
              <a:gd name="adj" fmla="val 35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17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Jose Luis Mejia Rojas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1536192"/>
            <a:ext cx="955548" cy="219456"/>
          </a:xfrm>
          <a:prstGeom prst="roundRect">
            <a:avLst>
              <a:gd name="adj" fmla="val 16667"/>
            </a:avLst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536192"/>
            <a:ext cx="9555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Arquitecto 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Disponibilidad: 13 ago – 10 sep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148840"/>
            <a:ext cx="78638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flujo HU → DHU, decisiones de contexto y adopción de graphify, diseño del workspace, validación de DHUs e interlocución con el cliente.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8503920" cy="1554480"/>
          </a:xfrm>
          <a:prstGeom prst="roundRect">
            <a:avLst>
              <a:gd name="adj" fmla="val 35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209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2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Oscar Fabian Castro Severino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77840" y="3227832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322783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Ingeniero IA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3566160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Disponibilidad: 13 ago – 09 oct 2026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y refinamiento de skills, grafos graphify, ejecución del pipeline (análisis, DHU, implementación), pruebas y reportes. Desde el 10 sep: soporte y afinaciones.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de desarrollo del banco (colaboración)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43000"/>
            <a:ext cx="8321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Contraparte que valida en la práctica: dispone del entorno en su propia PC y ejecuta iteraciones con feedback sobre los skills.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6916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20756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Sergio Manuel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técnico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20756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212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Lionel Gonzales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3212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0632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4472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Fernando Camargo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30632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83480" y="34472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3212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Jose Peramas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321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Responsable por entregable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480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Entregable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Responsable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 del flujo + workspace y convenciones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(Arquitecto 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versionado (service-map.md, convenciones)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del pipeline (3)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+ 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 implementación (10)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(7 repos)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de HUs y generación de DHU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 (ejecución) + Jose Luis (validación)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Implementación y reporte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gotchas.md por servicio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y Oscar (con soporte 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y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dev banco (Sergio Manuel, líder técnico)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Riesgo de dotación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463040"/>
            <a:ext cx="8503920" cy="2377440"/>
          </a:xfrm>
          <a:prstGeom prst="roundRect">
            <a:avLst>
              <a:gd name="adj" fmla="val 2308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91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sep 2026 — Jose Luis finaliza su participación (mitad del proyecto)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7955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trabajo queda culminado y traspasado en esa fecha. A partir de ahí, Oscar queda como único recurso del equipo IA, en rol de soporte y afinaciones finales.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657600"/>
            <a:ext cx="8503920" cy="868680"/>
          </a:xfrm>
          <a:prstGeom prst="roundRect">
            <a:avLst>
              <a:gd name="adj" fmla="val 631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67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Mitigación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041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Traspaso planificado con trabajo culminado antes del 10 sep + cobertura de Oscar en soporte y afinaciones.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Roadmap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sprints de 2 semanas · SDD + BMAD · 13 ago → 09 oct 2026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Esfuerzo por bloque (estimación)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Bloque de trabajo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Sprints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Esfuerzo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Consolidación de repos + entorno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del pipeline +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 implementación + iteración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S2–S3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con equipo banco + correcciones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Documentación, onboarding y cierre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 + cierre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Soporte y afinaciones (Oscar)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2 personas durante ~8 semanas (4 sprints de 2 semanas) · metodología iterativa (SDD + BMAD).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Distribución por tipo de actividad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Tipo de actividad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Esfuerzo aprox.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Creación y refinamiento de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Investigación y análisis de código (graphify)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y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y onboarding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Configuración y setup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657600"/>
            <a:ext cx="8503920" cy="868680"/>
          </a:xfrm>
          <a:prstGeom prst="roundRect">
            <a:avLst>
              <a:gd name="adj" fmla="val 631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8587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65 % del esfuerzo es trabajo técnico (skills + análisis de código); el 35 % restante es validación, documentación y setup.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Roadmap de skills por sprint (incremental)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15568"/>
            <a:ext cx="8321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13 skills se trabajan de forma incremental por sprint, para equiparar el tiempo: Sprint 1 = pipeline (3) + 2 skills; Sprint 2 = +5; Sprint 3 = +3 (se completan los 13). Sprint 4 queda para validación, sin skills nuevos.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512064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Sprint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Período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Skills que se trabajan (acumulado)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Total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13–26 ago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Pipeline: bcv-hu-context-analyzer, bcv-dhu-writer, bcv-hu-implementer + bcv-hexagonal-architecture, bcv-java-spring-boot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ago–09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bcv-clean-architecture, bcv-openapi-design, bcv-openfeign, bcv-azure-service-bus, bcv-spring-data-jpa-sql-server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/ 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10–23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bcv-cosmos-db, bcv-commons-observability, bcv-unit-integration-testing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/ 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sep–07 oct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(validación con equipo dev + estabilización; sin skills nuevos)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/ 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Racional: los skills del pipeline se usan en cada HU y son la base; se trabajan primero con 2 skills de creación de código. Luego se suman contratos/integración/persistencia y, al final, observabilidad y testing.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normal vs. flujo con skills del pipeline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Mismo punto de partida (una HU) · resultado medido con Fernando Camargo en la Semana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216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NORMAL (sin skills)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52704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A1A2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624" y="152704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de 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783080" y="1527048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</a:rPr>
              <a:t>→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92808" y="152704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A1A2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47672" y="152704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lee todo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310128" y="1527048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19856" y="152704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A1A2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152704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del código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37176" y="1527048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46904" y="152704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A1A2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01768" y="152704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guía de dominio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47104" y="1527048"/>
            <a:ext cx="2322576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0256" y="15270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~50k–90k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tokens/HU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 estándar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CON SKILLS (pipeline BCV)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317296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A1A2E"/>
          </a:solidFill>
          <a:ln w="12700">
            <a:solidFill>
              <a:srgbClr val="00CB5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624" y="317296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de negocio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783080" y="3172968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892808" y="317296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A1A2E"/>
          </a:solidFill>
          <a:ln w="12700">
            <a:solidFill>
              <a:srgbClr val="00CB5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47672" y="317296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bcv-hu-context-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(graphify)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310128" y="3172968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419856" y="317296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A1A2E"/>
          </a:solidFill>
          <a:ln w="12700">
            <a:solidFill>
              <a:srgbClr val="00CB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0" y="317296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bcv-dhu-writer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(DHU estándar)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837176" y="3172968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946904" y="317296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A1A2E"/>
          </a:solidFill>
          <a:ln w="12700">
            <a:solidFill>
              <a:srgbClr val="00CB5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01768" y="317296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bcv-hu-implementer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(dry-run → apply)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547104" y="3172968"/>
            <a:ext cx="2322576" cy="777240"/>
          </a:xfrm>
          <a:prstGeom prst="roundRect">
            <a:avLst>
              <a:gd name="adj" fmla="val 9412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20256" y="317296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~8k–12k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tokens/HU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DHU estándar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65760" y="4343400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4343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con Fernando Camargo (equipo dev del banco), Semana 2: ~2 h con la metodología vs. ~8 h (1 día) de la forma tradicional — mismo tipo de tarea.</a:t>
            </a:r>
            <a:endParaRPr lang="en-US" sz="10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Roadmap por Sprint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65760" y="7315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IA · Ecosistema BCV/BACC · 4 sprints de 2 semanas (13 ago – 09 oct 2026)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40680" y="38404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00CB5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41848" y="3429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355080" y="38404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F9E79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56248" y="3429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132320" y="38404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A2B4A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33488" y="3429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1060704"/>
            <a:ext cx="1839976" cy="274320"/>
          </a:xfrm>
          <a:prstGeom prst="roundRect">
            <a:avLst>
              <a:gd name="adj" fmla="val 53333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060704"/>
            <a:ext cx="183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1362456"/>
            <a:ext cx="183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13–26 ago  ·  5 / 13 skills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65760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1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13–19 ago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Consolidación de repos + entorno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65760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 skills del pipeline (context-analyzer, dhu-writer, implementer)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17752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17752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2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20–26 ago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317752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72616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de graphify + creación bcv-hexagonal-architecture y bcv-java-spring-boot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317752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72616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de HU con equipo dev (primer ejercicio real)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269744" y="1060704"/>
            <a:ext cx="1839976" cy="274320"/>
          </a:xfrm>
          <a:prstGeom prst="roundRect">
            <a:avLst>
              <a:gd name="adj" fmla="val 53333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69744" y="1060704"/>
            <a:ext cx="183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2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269744" y="1362456"/>
            <a:ext cx="183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ago–09 sep  ·  10 / 13 skills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269744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69744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ago–02 sep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269744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24608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bcv-clean-architecture, bcv-openapi-design y bcv-openfeign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269744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324608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EVT con equipo dev (context-analyzer → DHU → código)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21736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F9E7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21736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4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03–09 sep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221736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76600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bcv-azure-service-bus y bcv-spring-data-jpa-sql-server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21736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F9E79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76600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feedback e iterar skills con código real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73728" y="1060704"/>
            <a:ext cx="1839976" cy="274320"/>
          </a:xfrm>
          <a:prstGeom prst="roundRect">
            <a:avLst>
              <a:gd name="adj" fmla="val 53333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73728" y="1060704"/>
            <a:ext cx="183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3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173728" y="1362456"/>
            <a:ext cx="183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10–23 sep  ·  13 / 13 skills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173728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173728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5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10–16 sep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173728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228592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y refinar los 5 skills del Sprint 2 con código real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173728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228592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Avanzar el pipeline con la DHU (bcv-dhu-writer)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5125720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125720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6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17–23 sep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125720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80584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bcv-cosmos-db, bcv-commons-observability y bcv-unit-integration-testing (13/13)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5125720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80584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bcv-hu-implementer (dry-run → apply)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6077712" y="1060704"/>
            <a:ext cx="2791968" cy="274320"/>
          </a:xfrm>
          <a:prstGeom prst="roundRect">
            <a:avLst>
              <a:gd name="adj" fmla="val 53333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077712" y="1060704"/>
            <a:ext cx="2791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4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6077712" y="1362456"/>
            <a:ext cx="279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sep–09 oct  ·  validación + cierre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6077712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077712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7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24–30 sep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077712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132576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equipo dev del banco (entorno propio)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077712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132576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Ciclo: ajustar → regenerar → revalidar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029704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029704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8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01–07 oct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7029704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084568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Estabilización final de skills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7029704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084568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Documentación, onboarding y demo al cliente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7981696" y="1627632"/>
            <a:ext cx="887984" cy="384048"/>
          </a:xfrm>
          <a:prstGeom prst="roundRect">
            <a:avLst>
              <a:gd name="adj" fmla="val 33333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981696" y="1627632"/>
            <a:ext cx="88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08–09 oct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7981696" y="21031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036560" y="21579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final de entregables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7981696" y="3474720"/>
            <a:ext cx="887984" cy="1280160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036560" y="3529584"/>
            <a:ext cx="7782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Traspaso a cargo de Oscar</a:t>
            </a:r>
            <a:endParaRPr lang="en-US" sz="850" dirty="0"/>
          </a:p>
        </p:txBody>
      </p:sp>
      <p:pic>
        <p:nvPicPr>
          <p:cNvPr id="7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8" name="Text 7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Hitos clave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Hito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Fecha ref.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Descripción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🚀 Kick-off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ago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Inicio oficial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🧭 Graphify + skills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ago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 de ahorro de tokens + creación de los 3 skills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💻 Primera prueba con equipo dev (EVT)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 completo validado con Lionel Gonzales — ahorro de ~4 días de 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🏁 Culminación Arquitecto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Traspaso de Jose Luis; Oscar queda como soporte /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🧪 Validación con equipo dev del banco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incorporado a los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🎯 Cierre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 oct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estabilizados + documentación y onboarding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Dependencias y condiciones de inicio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4630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Dependencia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Responsable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Impacto si no se resuelve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 de la HU de negocio por el cliente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 (S2)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HU no se valida el pipeline end-to-end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Entorno de trabajo del equipo dev (PC)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dev banco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 la validación con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de los 7 repos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Generados (S1)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grafos, el análisis consume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repositorios BACC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 análisis e 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Continuidad tras el 10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Planificado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 asume soporte y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Riesgos del proyecto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023360"/>
                <a:gridCol w="3749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Sev.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Riesgo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Mitigación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 de Jose Luis (Arquitecto IA) el 10 sep, a mitad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Traspaso planificado; trabajo culminado antes del 10 sep; Oscar cubre soporte y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Dependencia de una HU real del cliente para validar 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Acuerdo de entrega de HU ya conversado con el cliente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del equipo dev del banco fuera de tiempo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equipo dev ya dispone del entorno en su PC; canal de iteración definido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service-point-service legacy (Java 17, estructura plana)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bcv-clean-architecture para migrar; no bloquea el resto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desactualizados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Regeneración en CI / check-update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Problemas y riesgos técnicos identificados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Severidad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Problema técnico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 heterogénea: service-point-service es el único sin patrón 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rest-api.yaml vacíos en varios servicios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gates (SpotBugs / PMD) en skip=true en varios repos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flags implementados como propiedades Spring simples, sin plataforma dedicada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9319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de estos problemas bloquea el pipeline HU → DHU → código; se gestionan como deuda técnica del ecosistema.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Criterios de Éxito (KPIs)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Cómo mediremos que el proyecto cumplió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Criterios de éxito (KPIs)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669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Criterio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Indicador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skills operativos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+ implementación validados sobre código 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Ahorro de tokens demostrado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~85 % vs. LLM puro (~8 000–12 000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validado end-to-end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 de negocio → DHU → código en ambiente de desarrollo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 corporativo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generada con template ibk-hu-technical-refinement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incorporado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Correcciones del equipo dev aplicadas en las iteraciones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entregado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+ equipo dev autónomo con los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pasos inmediatos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1–3 ya ejecutados en el Sprint 2 (01 sep) con Lionel Gonzales sobre un EVT — flujo validado end-to-end con ~4 días ahorrados.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55648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755648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9164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Probar el pipeline sobre un EVT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1728216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Lionel Gonzales (Sprint 2).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221992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377440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377440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91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Ejecutar bcv-hu-context-analyzer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94960" y="2350008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con graphify → .context/hu-&lt;codigo&gt;.md.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843784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2999232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2999232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9164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Iterar los skills con código real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2971800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de la prueba EVT incorporado.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465576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3621024"/>
            <a:ext cx="30175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62102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691640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Consolidar el feedback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94960" y="3593592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correcciones de desarrollo (semana 4).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087368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" y="4242816"/>
            <a:ext cx="30175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424281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9164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Preparar el traspaso (10 sep)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4215384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arquitectura, validaciones y acuerdos con el cliente.</a:t>
            </a:r>
            <a:endParaRPr lang="en-US" sz="1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IA para el Ecosistema BCV/BACC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HU → DHU → código · 13 skills · ~85 % menos tokens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371600" y="3200400"/>
            <a:ext cx="6675120" cy="1005840"/>
          </a:xfrm>
          <a:prstGeom prst="roundRect">
            <a:avLst>
              <a:gd name="adj" fmla="val 545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34290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hito: validación con el equipo dev del banco y traspaso del Arquitecto IA (10 sep 2026)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589520" y="228600"/>
            <a:ext cx="1188720" cy="1188720"/>
          </a:xfrm>
          <a:prstGeom prst="ellipse">
            <a:avLst/>
          </a:prstGeom>
          <a:solidFill>
            <a:srgbClr val="0072B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01000" y="502920"/>
            <a:ext cx="640080" cy="640080"/>
          </a:xfrm>
          <a:prstGeom prst="ellipse">
            <a:avLst/>
          </a:prstGeom>
          <a:solidFill>
            <a:srgbClr val="00DF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Adaptación de Skills IA para el Ecosistema BCV/BACC</dc:title>
  <dc:subject>Presentación Ejecutiva — Skills IA · BCV/BACC</dc:subject>
  <dc:creator>NTT DATA</dc:creator>
  <cp:lastModifiedBy>NTT DATA</cp:lastModifiedBy>
  <cp:revision>1</cp:revision>
  <dcterms:created xsi:type="dcterms:W3CDTF">2026-09-10T17:57:18Z</dcterms:created>
  <dcterms:modified xsi:type="dcterms:W3CDTF">2026-09-10T17:57:18Z</dcterms:modified>
</cp:coreProperties>
</file>