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Adaptación de Skills IA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 Ecosistema BCV/BACC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Presentación Ejecutiva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337560"/>
            <a:ext cx="8503920" cy="1325880"/>
          </a:xfrm>
          <a:prstGeom prst="roundRect">
            <a:avLst>
              <a:gd name="adj" fmla="val 413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520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Proyecto: skills de agente IA para los microservicios backend de Apertura de Cuentas Comerciales (BACC)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Ecosistema: BCV/BACC · Interbank · Entregable: NTT DATA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13 ago → 09 oct 2026 · Semana 4 en curso · Pipeline HU → DHU → código con graphify (~85 % menos tokens)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80960" y="685800"/>
            <a:ext cx="1371600" cy="137160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83880" y="105156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 · Contexto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Iniciativa, problema, metodología y valor cuantificado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es este proyecto?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71907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5727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Ecosistema BCV/BACC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87452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microservicios backend Java/Spring Boot fuertemente integrados: Azure Service Bus, OpenFeign, SQL Server + Cosmos DB, Key Vault.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146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77063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6243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construimos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92608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 (instrucciones especializadas para asistentes de código tipo GitHub Copilot) para generar, mantener y diagnosticar los microservicios.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56616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822192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6758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objetivo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4300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una Historia de Usuario (HU) de negocio en una Historia Técnica (DHU) detallada y, opcionalmente, en cambios de código.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 y objetivo principal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813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⚠  Problema a resolver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e implementar Historias de Usuario con un LLM que lee repositorios completos es caro y lento (~50 000–90 000 tokens por HU) y no sigue un estándar corporativo. Dificulta escalar el uso de asistentes de IA en el desarrollo de BACC.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108960"/>
            <a:ext cx="8503920" cy="1600200"/>
          </a:xfrm>
          <a:prstGeom prst="roundRect">
            <a:avLst>
              <a:gd name="adj" fmla="val 342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264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🎯  Objetivo principal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7955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skills de agente que codifiquen el conocimiento del dominio BACC e implementen el pipeline HU → DHU → código, usando graphify como motor de análisis local para reducir el consumo de tokens ~85 %, alineados al template corporativo ibk-hu-technical-refinement.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Estado actual → estado objetivo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Dimensión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actual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 objetivo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repos completos (~70k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local + contexto mínimo (~10k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Informal, sin estándar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Manual, sin guía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Asistida por skills especializados + ramas feature/HU-…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Conocimiento de dominio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Implícito en el equipo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Codificado en 13 skills reutilizables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para el banco (cuantificado)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 menos tokens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HU analizada: de ~70 000 a ~10 000 tokens.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skills de dominio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 convenciones BACC: hexagonal, ASB, OpenFeign, JPA, Cosmos, observabilidad y testing.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29184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reproducible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67588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→ DHU → código con validación y gates propios (DoR / DoD).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Onboarding acelerado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175564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 autónomo en el uso de asistentes de IA.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54880" y="2331720"/>
            <a:ext cx="4114800" cy="841248"/>
          </a:xfrm>
          <a:prstGeom prst="roundRect">
            <a:avLst>
              <a:gd name="adj" fmla="val 6522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2423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Trazabilidad corporativa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0" y="2715768"/>
            <a:ext cx="35661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 estándar + contexto versionado (service-map.md, gotchas.md).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Metodología: SDD + BMAD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— la especificación (DHU) es el artefacto central y va antes del código · BMAD: Understand → Design → Build → Validate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Fase SDD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Acción del flujo BCV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(entrada)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funcional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Research-Driven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bcv-hu-context-analyzer investiga el código real con graphify → .context/hu-&lt;codigo&gt;.md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formalmente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bcv-dhu-writer escribe la DHU (criterios de aceptación, endpoints, mapa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desde la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bcv-hu-implementer aplica la DHU en ramas feature (dry-run / apply)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/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 + tests, revisión humana y gotchas que vuelven al contexto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¿Por qué no Spec-Kit ni OpenSpec?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evaluaron los frameworks SDD genéricos y se descartaron a favor del flujo custom BCV: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Aspecto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Flujo BCV (custom)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Spec-Kit / OpenSpec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 de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(ibk-hu-technical-refinement)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spec.md propio / specs/ + deltas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de código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graphify — grafo local, ~0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lee archivos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multi-servicio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 + service-map.md + gotchas.md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repo-local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Alineación corporativa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(BCV/BACC)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(genérico)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 de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mínimo y consultas quirúrgicas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 consumo por 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propios, sin commit automático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genérico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de tokens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Escenario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Tokens estimados por HU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~8 000 – 12 000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skills, sin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~25 000 – 45 000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skills ni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~50 000 – 90 000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291840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3456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 vs. LLM puro: ~85 % menos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3794760"/>
            <a:ext cx="79552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de ejemplo «Agregar oficina registral en canal BCW»: ~10 000 tokens con skills + graphify, frente a ~33 000 sin graphify y ~70 000 sin skills ni graphify.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Capa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Tecnología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 21 (Java 17 en service-point-service)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Spring Boot 3.x (ads-spring-boot-dependencies)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/ Ports &amp; Adapters (6 de 7 servicios)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 Service Bus (ads-spring-boot-starter-messaging) · OpenFeign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(JPA/Hibernate) · Azure Cosmos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Bearer + Azure Key Vault + Spring Cloud Config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bcv-commons-observability · Spring Actuator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· Alcance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 incluye y qué queda fuera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Resumen de alcance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backend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Spring Boot · BACC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23744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3744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615184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 agente IA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15184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 + 10 implementación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81728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4773168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tokens por HU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73168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~70k a ~10k tokens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39712" y="1645920"/>
            <a:ext cx="2011680" cy="2651760"/>
          </a:xfrm>
          <a:prstGeom prst="roundRect">
            <a:avLst>
              <a:gd name="adj" fmla="val 272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39712" y="2011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sem.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931152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duración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931152" y="3611880"/>
            <a:ext cx="18288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ago → 09 oct 2026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7 microservicios backend BACC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383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Servicio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Arquitectura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party-lifecycle-management-service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(orquestador central)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channel-activity-service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(procesador stateless)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current-account-service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account-opening-reporting-service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Hexagonal (SQL + Cosmos)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Layered (legacy)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Incluido — 13 skills de agente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(3)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bcv-hu-context-analyzer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bcv-dhu-writer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bcv-hu-implementer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32588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Implementación (10)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83480" y="18288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bcv-hexagonal-architecture · bcv-clean-architecture · bcv-java-spring-boot · bcv-openapi-design · bcv-openfeign · bcv-azure-service-bus · bcv-spring-data-jpa-sql-server · bcv-cosmos-db · bcv-commons-observability · bcv-testing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61188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7307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Flujo completo HU → DHU → implementación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graphify y contexto mínimo versionado por servicio: service-map.md · architecture-conventions.md · cross-service-patterns.md · gotchas.md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Fuera de alcance / Etapa 2 candidata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Ítem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Motivo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Frontend, pantallas y lógica de presentación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flujo analiza microservicios backend únicamente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Migración de service-point-service a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técnica detectada — candidata a trabajo futuro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Completar 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Deuda de documentación de contratos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Activar quality gates (SpotBugs / PMD en skip=true)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de calidad independiente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Otros ecosistemas no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Fuera del dominio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· Equipo de Trabajo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NTT DATA, contraparte del banco y responsables por entregable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IA (NTT Data)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37160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Luis Mejia Rojas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1536192"/>
            <a:ext cx="955548" cy="219456"/>
          </a:xfrm>
          <a:prstGeom prst="roundRect">
            <a:avLst>
              <a:gd name="adj" fmla="val 16667"/>
            </a:avLst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536192"/>
            <a:ext cx="9555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Arquitecto 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10 sep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flujo HU → DHU, decisiones de contexto y adopción de graphify, diseño del workspace, validación de DHUs e interlocución con el cliente.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8503920" cy="1554480"/>
          </a:xfrm>
          <a:prstGeom prst="roundRect">
            <a:avLst>
              <a:gd name="adj" fmla="val 3529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72B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Oscar Fabian Castro Severino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77840" y="3227832"/>
            <a:ext cx="89611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322783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Ingeniero IA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7863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Disponibilidad: 13 ago – 09 oct 2026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3840480"/>
            <a:ext cx="78638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y refinamiento de skills, grafos graphify, ejecución del pipeline (análisis, DHU, implementación), pruebas y reportes. Desde el 10 sep: soporte y afinaciones.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Equipo de desarrollo del banco (colaboración)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Contraparte que valida en la práctica: dispone del entorno en su propia PC y ejecuta iteraciones con feedback sobre los skills.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Sergio Manuel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técnico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83480" y="20756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3212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Lionel Gonzales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3212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Fernando Camargo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306324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83480" y="3447288"/>
            <a:ext cx="347472" cy="347472"/>
          </a:xfrm>
          <a:prstGeom prst="ellipse">
            <a:avLst/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53212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Jose Peramas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3212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Responsable por entregable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4805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Entregable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del flujo + workspace y convenciones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(Arquitecto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Contexto versionado (service-map.md, convenciones)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(3)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+ 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(10)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(7 repos)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HUs y generación de DHU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(ejecución) + Jose Luis (validación)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Implementación y reporte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gotchas.md por servicio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Jose Luis y Oscar (con soporte 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 (Sergio Manuel, líder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 de dotación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463040"/>
            <a:ext cx="8503920" cy="2377440"/>
          </a:xfrm>
          <a:prstGeom prst="roundRect">
            <a:avLst>
              <a:gd name="adj" fmla="val 2308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91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sep 2026 — Jose Luis finaliza su participación (mitad del proyecto)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79552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trabajo queda culminado y traspasado en esa fecha. A partir de ahí, Oscar queda como único recurso del equipo IA, en rol de soporte y afinaciones finales.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767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Mitigación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041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planificado con trabajo culminado antes del 10 sep + cobertura de Oscar en soporte y afinaciones.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· Roadmap del Proyecto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semanas · iterativo (SDD + BMAD) · ciclos semanales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Esfuerzo por bloque (estimación)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Bloque de trabajo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Semanas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Consolidación de repos + entorno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del pipeline + graphify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de implementación + iteración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S3–S6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con equipo banco + correcciones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Documentación, onboarding y 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Soporte y afinaciones (Oscar)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2 personas durante ~8 semanas · metodología iterativa con ciclos semanales.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Distribución por tipo de actividad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Tipo de actividad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Esfuerzo aprox.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 y refinamiento de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Investigación y análisis de código (graphify)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y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y setup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657600"/>
            <a:ext cx="8503920" cy="868680"/>
          </a:xfrm>
          <a:prstGeom prst="roundRect">
            <a:avLst>
              <a:gd name="adj" fmla="val 6316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8587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65 % del esfuerzo es trabajo técnico (skills + análisis de código); el 35 % restante es validación, documentación y setup.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Noto Sans"/>
              </a:rPr>
              <a:t>Roadmap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49808"/>
            <a:ext cx="69494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00DFED"/>
                </a:solidFill>
                <a:latin typeface="Noto Sans"/>
              </a:rPr>
              <a:t>Skills IA · Ecosistema BCV/BACC · 8 semanas + cierre (13 ago – 09 oct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8404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0CB5D"/>
          </a:solidFill>
          <a:ln w="63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41848" y="342900"/>
            <a:ext cx="713232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900" b="0">
                <a:solidFill>
                  <a:srgbClr val="D6D6D6"/>
                </a:solidFill>
                <a:latin typeface="Arial"/>
              </a:rPr>
              <a:t>Completada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8404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F9E795"/>
          </a:solidFill>
          <a:ln w="63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42900"/>
            <a:ext cx="548640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900" b="0">
                <a:solidFill>
                  <a:srgbClr val="D6D6D6"/>
                </a:solidFill>
                <a:latin typeface="Arial"/>
              </a:rPr>
              <a:t>En 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8404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1A2B4A"/>
          </a:solidFill>
          <a:ln w="635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342900"/>
            <a:ext cx="685800" cy="219456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/>
            <a:r>
              <a:rPr sz="900" b="0">
                <a:solidFill>
                  <a:srgbClr val="D6D6D6"/>
                </a:solidFill>
                <a:latin typeface="Arial"/>
              </a:rPr>
              <a:t>Propuesto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078992"/>
            <a:ext cx="1839976" cy="292608"/>
          </a:xfrm>
          <a:prstGeom prst="roundRect">
            <a:avLst>
              <a:gd name="adj" fmla="val 18000"/>
            </a:avLst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078992"/>
            <a:ext cx="183997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"/>
              </a:rPr>
              <a:t>HABILITACIÓN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1399032"/>
            <a:ext cx="183997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D6D6D6"/>
                </a:solidFill>
                <a:latin typeface="Arial"/>
              </a:rPr>
              <a:t>13–26 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00C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A1A2E"/>
                </a:solidFill>
                <a:latin typeface="Arial"/>
              </a:rPr>
              <a:t>SEM 1</a:t>
            </a:r>
          </a:p>
          <a:p>
            <a:pPr algn="l"/>
            <a:r>
              <a:rPr sz="750" b="0">
                <a:solidFill>
                  <a:srgbClr val="1E3A2A"/>
                </a:solidFill>
                <a:latin typeface="Arial"/>
              </a:rPr>
              <a:t>13–19 ago</a:t>
            </a:r>
          </a:p>
          <a:p>
            <a:pPr algn="l"/>
            <a:r>
              <a:rPr sz="400" b="0">
                <a:solidFill>
                  <a:srgbClr val="0A1A2E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0A1A2E"/>
                </a:solidFill>
                <a:latin typeface="Arial"/>
              </a:rPr>
              <a:t>Consolidación de repos + entorno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7752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00C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63472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A1A2E"/>
                </a:solidFill>
                <a:latin typeface="Arial"/>
              </a:rPr>
              <a:t>SEM 2</a:t>
            </a:r>
          </a:p>
          <a:p>
            <a:pPr algn="l"/>
            <a:r>
              <a:rPr sz="750" b="0">
                <a:solidFill>
                  <a:srgbClr val="1E3A2A"/>
                </a:solidFill>
                <a:latin typeface="Arial"/>
              </a:rPr>
              <a:t>20–26 ago</a:t>
            </a:r>
          </a:p>
          <a:p>
            <a:pPr algn="l"/>
            <a:r>
              <a:rPr sz="400" b="0">
                <a:solidFill>
                  <a:srgbClr val="0A1A2E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0A1A2E"/>
                </a:solidFill>
                <a:latin typeface="Arial"/>
              </a:rPr>
              <a:t>graphify + skills del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9744" y="1078992"/>
            <a:ext cx="1839976" cy="292608"/>
          </a:xfrm>
          <a:prstGeom prst="roundRect">
            <a:avLst>
              <a:gd name="adj" fmla="val 18000"/>
            </a:avLst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69744" y="1078992"/>
            <a:ext cx="183997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"/>
              </a:rPr>
              <a:t>USO ACOMPAÑADO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9744" y="1399032"/>
            <a:ext cx="183997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D6D6D6"/>
                </a:solidFill>
                <a:latin typeface="Arial"/>
              </a:rPr>
              <a:t>27 ago–09 sep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9744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00CB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15463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A1A2E"/>
                </a:solidFill>
                <a:latin typeface="Arial"/>
              </a:rPr>
              <a:t>SEM 3</a:t>
            </a:r>
          </a:p>
          <a:p>
            <a:pPr algn="l"/>
            <a:r>
              <a:rPr sz="750" b="0">
                <a:solidFill>
                  <a:srgbClr val="1E3A2A"/>
                </a:solidFill>
                <a:latin typeface="Arial"/>
              </a:rPr>
              <a:t>27 ago–02 sep</a:t>
            </a:r>
          </a:p>
          <a:p>
            <a:pPr algn="l"/>
            <a:r>
              <a:rPr sz="400" b="0">
                <a:solidFill>
                  <a:srgbClr val="0A1A2E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0A1A2E"/>
                </a:solidFill>
                <a:latin typeface="Arial"/>
              </a:rPr>
              <a:t>Primer ejercicio con equipo dev (EVT)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36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7456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A1A2E"/>
                </a:solidFill>
                <a:latin typeface="Arial"/>
              </a:rPr>
              <a:t>SEM 4</a:t>
            </a:r>
          </a:p>
          <a:p>
            <a:pPr algn="l"/>
            <a:r>
              <a:rPr sz="750" b="0">
                <a:solidFill>
                  <a:srgbClr val="4A3A10"/>
                </a:solidFill>
                <a:latin typeface="Arial"/>
              </a:rPr>
              <a:t>03–09 sep</a:t>
            </a:r>
          </a:p>
          <a:p>
            <a:pPr algn="l"/>
            <a:r>
              <a:rPr sz="400" b="0">
                <a:solidFill>
                  <a:srgbClr val="0A1A2E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0A1A2E"/>
                </a:solidFill>
                <a:latin typeface="Arial"/>
              </a:rPr>
              <a:t>Consolidación + iteración de skills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73727" y="1078992"/>
            <a:ext cx="2791968" cy="292608"/>
          </a:xfrm>
          <a:prstGeom prst="roundRect">
            <a:avLst>
              <a:gd name="adj" fmla="val 18000"/>
            </a:avLst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73727" y="1078992"/>
            <a:ext cx="2791968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"/>
              </a:rPr>
              <a:t>EJECUCIÓN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3727" y="1399032"/>
            <a:ext cx="2791968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D6D6D6"/>
                </a:solidFill>
                <a:latin typeface="Arial"/>
              </a:rPr>
              <a:t>10–30 sep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73727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9447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SEM 5</a:t>
            </a:r>
          </a:p>
          <a:p>
            <a:pPr algn="l"/>
            <a:r>
              <a:rPr sz="750" b="0">
                <a:solidFill>
                  <a:srgbClr val="D6D6D6"/>
                </a:solidFill>
                <a:latin typeface="Arial"/>
              </a:rPr>
              <a:t>10–16 sep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Iteración + DHU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5720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1439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SEM 6</a:t>
            </a:r>
          </a:p>
          <a:p>
            <a:pPr algn="l"/>
            <a:r>
              <a:rPr sz="750" b="0">
                <a:solidFill>
                  <a:srgbClr val="D6D6D6"/>
                </a:solidFill>
                <a:latin typeface="Arial"/>
              </a:rPr>
              <a:t>17–23 sep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Iteración + implementación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77712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3432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SEM 7</a:t>
            </a:r>
          </a:p>
          <a:p>
            <a:pPr algn="l"/>
            <a:r>
              <a:rPr sz="750" b="0">
                <a:solidFill>
                  <a:srgbClr val="D6D6D6"/>
                </a:solidFill>
                <a:latin typeface="Arial"/>
              </a:rPr>
              <a:t>24–30 sep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Validación con equipo dev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29703" y="1078992"/>
            <a:ext cx="1839976" cy="292608"/>
          </a:xfrm>
          <a:prstGeom prst="roundRect">
            <a:avLst>
              <a:gd name="adj" fmla="val 18000"/>
            </a:avLst>
          </a:prstGeom>
          <a:solidFill>
            <a:srgbClr val="0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29703" y="1078992"/>
            <a:ext cx="1839976" cy="292608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"/>
              </a:rPr>
              <a:t>CONSOLIDACIÓN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9703" y="1399032"/>
            <a:ext cx="1839976" cy="182880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D6D6D6"/>
                </a:solidFill>
                <a:latin typeface="Arial"/>
              </a:rPr>
              <a:t>01–09 oct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29703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75423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SEM 8</a:t>
            </a:r>
          </a:p>
          <a:p>
            <a:pPr algn="l"/>
            <a:r>
              <a:rPr sz="750" b="0">
                <a:solidFill>
                  <a:srgbClr val="D6D6D6"/>
                </a:solidFill>
                <a:latin typeface="Arial"/>
              </a:rPr>
              <a:t>01–07 oct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Estabilización y cierre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81695" y="1645920"/>
            <a:ext cx="887984" cy="1097280"/>
          </a:xfrm>
          <a:prstGeom prst="roundRect">
            <a:avLst>
              <a:gd name="adj" fmla="val 10000"/>
            </a:avLst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27415" y="1700784"/>
            <a:ext cx="796544" cy="987552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SEM C</a:t>
            </a:r>
          </a:p>
          <a:p>
            <a:pPr algn="l"/>
            <a:r>
              <a:rPr sz="750" b="0">
                <a:solidFill>
                  <a:srgbClr val="D6D6D6"/>
                </a:solidFill>
                <a:latin typeface="Arial"/>
              </a:rPr>
              <a:t>08–09 oct</a:t>
            </a:r>
          </a:p>
          <a:p>
            <a:pPr algn="l"/>
            <a:r>
              <a:rPr sz="400" b="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Cierre de entregables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2834640"/>
            <a:ext cx="4183380" cy="1170432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" y="2926080"/>
            <a:ext cx="3781044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0DFED"/>
                </a:solidFill>
                <a:latin typeface="Noto Sans"/>
              </a:rPr>
              <a:t>HITO — SEMANA 2 (20–26 AGO)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3163824"/>
            <a:ext cx="3781044" cy="7498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D6D6D6"/>
                </a:solidFill>
                <a:latin typeface="Arial"/>
              </a:rPr>
              <a:t>Se evaluó la optimización de tokens y se adoptó graphify como mecanismo de ahorro (flujo documentado en hu-dhu-workflow-guide.md); se crearon los skills bcv-hu-context-analyzer, bcv-dhu-writer y bcv-hu-implementer. Primer ejercicio con Fernando Camargo: ~2 h vs ~8 h (1 día) de la forma tradicional. Se acordó con el cliente la entrega de una HU de negocio para elaborar el plan de implementación y la DHU.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86300" y="2834640"/>
            <a:ext cx="4183380" cy="1170432"/>
          </a:xfrm>
          <a:prstGeom prst="roundRect">
            <a:avLst>
              <a:gd name="adj" fmla="val 6000"/>
            </a:avLst>
          </a:prstGeom>
          <a:solidFill>
            <a:srgbClr val="11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87468" y="2926080"/>
            <a:ext cx="3781044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1">
                <a:solidFill>
                  <a:srgbClr val="00DFED"/>
                </a:solidFill>
                <a:latin typeface="Noto Sans"/>
              </a:rPr>
              <a:t>HITO EN CURSO — SEMANA 4 (03–09 SEP)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87468" y="3163824"/>
            <a:ext cx="3781044" cy="7498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6D6D6"/>
                </a:solidFill>
                <a:latin typeface="Arial"/>
              </a:rPr>
              <a:t>Consolidar el resultado del EVT, incorporar el feedback de Lionel Gonzales y seguir iterando skills con código real; preparar el traspaso de Jose Luis (10 sep).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078224"/>
            <a:ext cx="2023110" cy="73152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142232"/>
            <a:ext cx="202311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00DFED"/>
                </a:solidFill>
                <a:latin typeface="Noto Sans"/>
              </a:rPr>
              <a:t>2 h vs 8 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443984"/>
            <a:ext cx="184023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D6D6"/>
                </a:solidFill>
                <a:latin typeface="Arial"/>
              </a:rPr>
              <a:t>F. Camargo (equipo dev banco) vs. forma tradicional (semana 2)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26030" y="4078224"/>
            <a:ext cx="2023110" cy="73152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26030" y="4142232"/>
            <a:ext cx="202311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00DFED"/>
                </a:solidFill>
                <a:latin typeface="Noto Sans"/>
              </a:rPr>
              <a:t>~4 días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17470" y="4443984"/>
            <a:ext cx="184023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D6D6"/>
                </a:solidFill>
                <a:latin typeface="Arial"/>
              </a:rPr>
              <a:t>ahorro medido en el EVT (semana 3)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86300" y="4078224"/>
            <a:ext cx="2023110" cy="73152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6300" y="4142232"/>
            <a:ext cx="202311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00DFED"/>
                </a:solidFill>
                <a:latin typeface="Noto Sans"/>
              </a:rPr>
              <a:t>3 /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7740" y="4443984"/>
            <a:ext cx="184023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D6D6"/>
                </a:solidFill>
                <a:latin typeface="Arial"/>
              </a:rPr>
              <a:t>semanas completadas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46570" y="4078224"/>
            <a:ext cx="2023110" cy="731520"/>
          </a:xfrm>
          <a:prstGeom prst="roundRect">
            <a:avLst>
              <a:gd name="adj" fmla="val 10000"/>
            </a:avLst>
          </a:prstGeom>
          <a:solidFill>
            <a:srgbClr val="0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46570" y="4142232"/>
            <a:ext cx="202311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00DFED"/>
                </a:solidFill>
                <a:latin typeface="Noto Sans"/>
              </a:rPr>
              <a:t>09 oct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38010" y="4443984"/>
            <a:ext cx="184023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D6D6D6"/>
                </a:solidFill>
                <a:latin typeface="Arial"/>
              </a:rPr>
              <a:t>cierre y traspaso de entregables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Hitos clave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Hito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Fecha ref.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Descripción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🚀 Kick-off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Inicio oficial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🧭 Graphify +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ago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de ahorro de tokens + creación de los 3 skills del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💻 Primera prueba con equipo dev (EVT)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Flujo completo validado con Lionel Gonzales — ahorro de ~4 días de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🏁 Culminación Arquitecto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de Jose Luis; Oscar queda como soporte /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🧪 Validación con equipo dev del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sep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 a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🎯 Cierre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 oct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Skills estabilizados + documentación y onboarding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Dependencias y condiciones de inicio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46304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Dependencia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Responsable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Estado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Impacto si no se resuelve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 de la HU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Completada (S3)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HU no se valida el pipeline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 de trabajo del equipo dev (PC)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dev banco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la validación con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 los 7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Generados (S1)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grafos, el análisis consume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repositorios BACC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Bloquea análisis e implementación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Continuidad tras el 10 sep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 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Planificado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Oscar asume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Riesgos del proyecto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3749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Riesgo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Mitigación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Salida de Jose Luis (Arquitecto IA) el 10 sep, a mitad del proyecto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Traspaso planificado; trabajo culminado antes del 10 sep; Oscar cubre soporte y afinaciones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Dependencia de una HU real del cliente para validar el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Acuerdo de entrega de HU ya conversado con el cliente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del equipo dev del banco fuera de tiempo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equipo dev ya dispone del entorno en su PC; canal de iteración definido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service-point-service legacy (Java 17, estructura plana)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 bcv-clean-architecture para migrar; no bloquea el resto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graphify desactualizados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Regeneración en CI / check-update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Problemas y riesgos técnicos identificados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Severidad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70F26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Problema técnico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9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Arquitectura heterogénea: service-point-service es el único sin patrón hexagonal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rest-api.yaml vacíos en varios servicios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gates (SpotBugs / PMD) en skip=true en varios repos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flags implementados como propiedades Spring simples, sin plataforma dedicada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94760"/>
            <a:ext cx="8503920" cy="777240"/>
          </a:xfrm>
          <a:prstGeom prst="roundRect">
            <a:avLst>
              <a:gd name="adj" fmla="val 7059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Ninguno de estos problemas bloquea el pipeline HU → DHU → código; se gestionan como deuda técnica del ecosistema.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· Criterios de Éxito (KPIs)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Cómo mediremos que el proyecto cumplió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2468880"/>
            <a:ext cx="146304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Criterios de éxito (KPIs)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503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6692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Criterio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Indicador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skills operativos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+ implementación validados sobre código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Ahorro de tokens demostrado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~85 % vs. LLM puro (~8 000–12 000 tokens/HU)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validado end-to-end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de negocio → DHU → código en ambiente de desarrollo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Estándar corporativo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generada con template ibk-hu-technical-refinement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 incorporado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Correcciones del equipo dev aplicadas en las iteraciones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Onboarding entregado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Documentación + equipo dev autónomo con los skills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pasos inmediatos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43000"/>
            <a:ext cx="8138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1–3 ya ejecutados en la semana 3 (01 sep) con Lionel Gonzales sobre un EVT — flujo validado end-to-end con ~4 días ahorrados.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55648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755648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69164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Probar el pipeline sobre un EVT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1728216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Lionel Gonzales (semana 3).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221992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377440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377440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91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Ejecutar bcv-hu-context-analyzer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0" y="2350008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con graphify → .context/hu-&lt;codigo&gt;.md.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843784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2999232"/>
            <a:ext cx="480060" cy="219456"/>
          </a:xfrm>
          <a:prstGeom prst="roundRect">
            <a:avLst>
              <a:gd name="adj" fmla="val 1666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2999232"/>
            <a:ext cx="480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Hecho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2953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Iterar los skills con código real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971800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 la prueba EVT incorporado.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465576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3621024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62102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9164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Consolidar el feedback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0" y="3593592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correcciones de desarrollo (semana 4).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087368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4242816"/>
            <a:ext cx="301752" cy="219456"/>
          </a:xfrm>
          <a:prstGeom prst="roundRect">
            <a:avLst>
              <a:gd name="adj" fmla="val 16667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424281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9164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Preparar el traspaso (10 sep)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4215384"/>
            <a:ext cx="3291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arquitectura, validaciones y acuerdos con el cliente.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IA para el Ecosistema BCV/BACC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HU → DHU → código · 13 skills · ~85 % menos tokens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371600" y="3200400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3429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hito: validación con el equipo dev del banco y traspaso del Arquitecto IA (10 sep 2026)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0" y="1097280"/>
            <a:ext cx="1463040" cy="146304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8120" y="1463040"/>
            <a:ext cx="731520" cy="73152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Adaptación de Skills IA para el Ecosistema BCV/BACC</dc:title>
  <dc:subject>Presentación Ejecutiva — Skills IA · BCV/BACC</dc:subject>
  <dc:creator>NTT DATA</dc:creator>
  <cp:lastModifiedBy>NTT DATA</cp:lastModifiedBy>
  <cp:revision>1</cp:revision>
  <dcterms:created xsi:type="dcterms:W3CDTF">2026-09-07T15:38:58Z</dcterms:created>
  <dcterms:modified xsi:type="dcterms:W3CDTF">2026-09-07T15:38:58Z</dcterms:modified>
</cp:coreProperties>
</file>