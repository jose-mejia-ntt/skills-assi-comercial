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9" r:id="rId40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FFFFF"/>
                </a:solidFill>
                <a:latin typeface="Noto Sans"/>
              </a:rPr>
              <a:t>3 de 8 semanas completadas</a:t>
            </a:r>
          </a:p>
        </c:rich>
      </c:tx>
      <c:layout/>
      <c:overlay val="0"/>
    </c:title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Completada</c:v>
                </c:pt>
              </c:strCache>
            </c:strRef>
          </c:tx>
          <c:spPr>
            <a:solidFill>
              <a:srgbClr val="00CB5D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Semanas 1–8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curso</c:v>
                </c:pt>
              </c:strCache>
            </c:strRef>
          </c:tx>
          <c:spPr>
            <a:solidFill>
              <a:srgbClr val="F9E795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>
                    <a:solidFill>
                      <a:srgbClr val="0A1A2E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Semanas 1–8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Propuesto</c:v>
                </c:pt>
              </c:strCache>
            </c:strRef>
          </c:tx>
          <c:spPr>
            <a:solidFill>
              <a:srgbClr val="1A2B4A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Semanas 1–8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 b="1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D6D6D6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FFFFF"/>
                </a:solidFill>
                <a:latin typeface="Noto Sans"/>
              </a:rPr>
              <a:t>Estado semana a semana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Estado</c:v>
                </c:pt>
              </c:strCache>
            </c:strRef>
          </c:tx>
          <c:dPt>
            <c:idx val="0"/>
            <c:spPr>
              <a:solidFill>
                <a:srgbClr val="00CB5D"/>
              </a:solidFill>
              <a:ln>
                <a:noFill/>
              </a:ln>
            </c:spPr>
          </c:dPt>
          <c:dPt>
            <c:idx val="1"/>
            <c:spPr>
              <a:solidFill>
                <a:srgbClr val="00CB5D"/>
              </a:solidFill>
              <a:ln>
                <a:noFill/>
              </a:ln>
            </c:spPr>
          </c:dPt>
          <c:dPt>
            <c:idx val="2"/>
            <c:spPr>
              <a:solidFill>
                <a:srgbClr val="00CB5D"/>
              </a:solidFill>
              <a:ln>
                <a:noFill/>
              </a:ln>
            </c:spPr>
          </c:dPt>
          <c:dPt>
            <c:idx val="3"/>
            <c:spPr>
              <a:solidFill>
                <a:srgbClr val="F9E795"/>
              </a:solidFill>
              <a:ln>
                <a:noFill/>
              </a:ln>
            </c:spPr>
          </c:dPt>
          <c:dPt>
            <c:idx val="4"/>
            <c:spPr>
              <a:solidFill>
                <a:srgbClr val="1A2B4A"/>
              </a:solidFill>
              <a:ln>
                <a:noFill/>
              </a:ln>
            </c:spPr>
          </c:dPt>
          <c:dPt>
            <c:idx val="5"/>
            <c:spPr>
              <a:solidFill>
                <a:srgbClr val="1A2B4A"/>
              </a:solidFill>
              <a:ln>
                <a:noFill/>
              </a:ln>
            </c:spPr>
          </c:dPt>
          <c:dPt>
            <c:idx val="6"/>
            <c:spPr>
              <a:solidFill>
                <a:srgbClr val="1A2B4A"/>
              </a:solidFill>
              <a:ln>
                <a:noFill/>
              </a:ln>
            </c:spPr>
          </c:dPt>
          <c:dPt>
            <c:idx val="7"/>
            <c:spPr>
              <a:solidFill>
                <a:srgbClr val="1A2B4A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Sem 1</c:v>
                </c:pt>
                <c:pt idx="1">
                  <c:v>Sem 2</c:v>
                </c:pt>
                <c:pt idx="2">
                  <c:v>Sem 3</c:v>
                </c:pt>
                <c:pt idx="3">
                  <c:v>Sem 4</c:v>
                </c:pt>
                <c:pt idx="4">
                  <c:v>Sem 5</c:v>
                </c:pt>
                <c:pt idx="5">
                  <c:v>Sem 6</c:v>
                </c:pt>
                <c:pt idx="6">
                  <c:v>Sem 7</c:v>
                </c:pt>
                <c:pt idx="7">
                  <c:v>Sem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A2B4A"/>
            </a:solidFill>
          </a:ln>
        </c:spPr>
        <c:txPr>
          <a:bodyPr/>
          <a:lstStyle/>
          <a:p>
            <a:pPr>
              <a:defRPr sz="1100">
                <a:solidFill>
                  <a:srgbClr val="D6D6D6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697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337560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35204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Semana 4 en curso · Pipeline HU → DHU → código con graphify (~85 % menos tokens)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Contexto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Iniciativa, problema, metodología y valor cuantificado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71907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5727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Ecosistema BCV/BACC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microservicios backend Java/Spring Boot fuertemente integrados: Azure Service Bus, OpenFeign, SQL Server + Cosmos DB, Key Vault.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" y="2514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77063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624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construimos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43000" y="292608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 (instrucciones especializadas para asistentes de código tipo GitHub Copilot) para generar, mantener y diagnosticar los microservicios.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56616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82219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822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6758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objetivo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43000" y="397764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una Historia de Usuario (HU) de negocio en una Historia Técnica (DHU) detallada y, opcionalmente, en cambios de código.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 y objetivo principal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813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⚠  Problema a resolver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e implementar Historias de Usuario con un LLM que lee repositorios completos es caro y lento (~50 000–90 000 tokens por HU) y no sigue un estándar corporativo. Dificulta escalar el uso de asistentes de IA en el desarrollo de BACC.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310896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26440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🎯  Objetivo principal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61188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skills de agente que codifiquen el conocimiento del dominio BACC e implementen el pipeline HU → DHU → código, usando graphify como motor de análisis local para reducir el consumo de tokens ~85 %, alineados al template corporativo ibk-hu-technical-refinement.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Estado actual → estado objetivo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Dimensión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actual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objetivo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repos completos (~70k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local + contexto mínimo (~10k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Informal, sin estándar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Manual, sin guía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Asistida por skills especializados + ramas feature/HU-…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Conocimiento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Implícito en el equipo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Codificado en 13 skills reutilizables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Valor para el banco (cuantificado)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 menos tokens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HU analizada: de ~70 000 a ~10 000 tokens.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576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skills de dominio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Capturan convenciones BACC: hexagonal, ASB, OpenFeign, JPA, Cosmos, observabilidad y testing.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29184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reproducible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367588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→ DHU → código con validación y gates propios (DoR / DoD).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Onboarding acelerado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 autónomo en el uso de asistentes de IA.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75488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Trazabilidad corporativa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DHU estándar + contexto versionado (service-map.md, gotchas.md).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— la especificación (DHU) es el artefacto central y va antes del código · BMAD: Understand → Design → Build → Validate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(entrada)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¿Por qué no Spec-Kit ni OpenSpec?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evaluaron los frameworks SDD genéricos y se descartaron a favor del flujo custom BCV: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Aspecto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Flujo BCV (custom)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Spec-Kit / OpenSpec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 de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(ibk-hu-technical-refinement)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spec.md propio / specs/ + deltas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de código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— grafo local, ~0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archivos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multi-servicio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 + service-map.md + gotchas.md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repo-local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Alineación corporativa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(BCV/BACC)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(genérico)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 de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mínimo y consultas quirúrgicas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 consumo por 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propios, sin commit automático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genérico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de tokens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Escenario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Tokens estimados por HU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~8 000 – 12 000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skills, sin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~25 000 – 45 000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skills ni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~50 000 – 90 000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29184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345643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vs. LLM puro: ~85 % menos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3794760"/>
            <a:ext cx="79552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ejemplo «Agregar oficina registral en canal BCW»: ~10 000 tokens con skills + graphify, frente a ~33 000 sin graphify y ~70 000 sin skills ni graphify.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Capa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Tecnología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Lenguaje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Java 21 (Java 17 en service-point-service)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Boot 3.x (ads-spring-boot-dependencies)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/ Ports &amp; Adapters (6 de 7 servicios)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Azure Service Bus (ads-spring-boot-starter-messaging) · OpenFeign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Server (JPA/Hibernate) · Azure Cosmos 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Bearer + Azure Key Vault + Spring Cloud Config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bcv-commons-observability · Spring Actuator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Alcance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incluye y qué queda fuera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Resumen de alcance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/ Spring Boot · BACC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523744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23744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2615184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615184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pipeline + 10 implementación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81728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81728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4773168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773168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~70k a ~10k tokens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39712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39712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931152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duración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931152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7 microservicios backend BACC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Servicio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Arquitectura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party-lifecycle-management-service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(orquestador central)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channel-activity-service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(procesador stateless)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current-account-service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account-opening-reporting-service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(SQL + Cosmos)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Layered (legacy)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13 skills de agente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(3)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18288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Implementación (10)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83480" y="1828800"/>
            <a:ext cx="3703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bcv-hexagonal-architecture · bcv-clean-architecture · bcv-java-spring-boot · bcv-openapi-design · bcv-openfeign · bcv-azure-service-bus · bcv-spring-data-jpa-sql-server · bcv-cosmos-db · bcv-commons-observability · bcv-testing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61188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373075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completo HU → DHU → implementación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graphify y contexto mínimo versionado por servicio: service-map.md · architecture-conventions.md · cross-service-patterns.md · gotchas.md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Fuera de alcance / Etapa 2 candidata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Ítem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Motivo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Frontend, pantallas y lógica de presentación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flujo analiza microservicios backend únicamente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Migración de service-point-service a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técnica detectada — candidata a trabajo futuro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Completar 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de documentación de contratos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Activar quality gates (SpotBugs / PMD en skip=true)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de calidad independiente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Otros ecosistemas no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del dominio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Equipo de Trabajo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NTT DATA, contraparte del banco y responsables por entregable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IA (NTT Data)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179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Luis Mejia Rojas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1536192"/>
            <a:ext cx="955548" cy="219456"/>
          </a:xfrm>
          <a:prstGeom prst="roundRect">
            <a:avLst>
              <a:gd name="adj" fmla="val 16667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77840" y="1536192"/>
            <a:ext cx="9555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Arquitecto IA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10 sep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214884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flujo HU → DHU, decisiones de contexto y adopción de graphify, diseño del workspace, validación de DHUs e interlocución con el cliente.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306324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2095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72B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Fabian Castro Severino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577840" y="3227832"/>
            <a:ext cx="89611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77840" y="322783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Ingeniero IA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356616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09 oct 2026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y refinamiento de skills, grafos graphify, ejecución del pipeline (análisis, DHU, implementación), pruebas y reportes. Desde el 10 sep: soporte y afinaciones.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de desarrollo del banco (colaboración)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Contraparte que valida en la práctica: dispone del entorno en su propia PC y ejecuta iteraciones con feedback sobre los skills.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Sergio Manuel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4300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técnico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8348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53212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3212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4300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430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75488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8348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8348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53212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Peramas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53212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Responsable por entregable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480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Entregable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del flujo + workspace y convenciones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(Arquitecto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versionado (service-map.md, convenciones)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(3)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+ 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(10)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(7 repos)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 y generación de DHU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(ejecución) + Jose Luis (validación)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 y reporte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gotchas.md por 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y Oscar (con soporte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 (Sergio Manuel, líder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 de dotación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2377440"/>
          </a:xfrm>
          <a:prstGeom prst="roundRect">
            <a:avLst>
              <a:gd name="adj" fmla="val 230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6916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sep 2026 — Jose Luis finaliza su participación (mitad del proyecto)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79552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trabajo queda culminado y traspasado en esa fecha. A partir de ahí, Oscar queda como único recurso del equipo IA, en rol de soporte y afinaciones finales.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767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Mitigación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planificado con trabajo culminado antes del 10 sep + cobertura de Oscar en soporte y afinaciones.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· Roadmap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semanas · iterativo (SDD + BMAD) · ciclos semanales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Esfuerzo por bloque (estimación)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Bloque de trabajo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Semanas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Consolidación de repos + entorno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+ iteración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S3–S6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con equipo banco + correcciones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Documentación, onboarding y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Soporte y afinaciones (Oscar)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2 personas durante ~8 semanas · metodología iterativa con ciclos semanales.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Distribución por tipo de actividad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Tipo de actividad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 aprox.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Creación y refinamiento de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y análisis de código (graphify)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Configuración y setup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8587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65 % del esfuerzo es trabajo técnico (skills + análisis de código); el 35 % restante es validación, documentación y setup.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274320"/>
            <a:ext cx="54864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"/>
              </a:rPr>
              <a:t>Roadmap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749808"/>
            <a:ext cx="694944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00DFED"/>
                </a:solidFill>
                <a:latin typeface="Noto Sans"/>
              </a:rPr>
              <a:t>Skills IA · Ecosistema BCV/BACC · 8 semanas + cierre (13 ago – 09 oct 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8404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00CB5D"/>
          </a:solidFill>
          <a:ln w="63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41848" y="342900"/>
            <a:ext cx="713232" cy="219456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l"/>
            <a:r>
              <a:rPr sz="900" b="0">
                <a:solidFill>
                  <a:srgbClr val="D6D6D6"/>
                </a:solidFill>
                <a:latin typeface="Arial"/>
              </a:rPr>
              <a:t>Completada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38404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F9E795"/>
          </a:solidFill>
          <a:ln w="63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342900"/>
            <a:ext cx="548640" cy="219456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l"/>
            <a:r>
              <a:rPr sz="900" b="0">
                <a:solidFill>
                  <a:srgbClr val="D6D6D6"/>
                </a:solidFill>
                <a:latin typeface="Arial"/>
              </a:rPr>
              <a:t>En curso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38404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1A2B4A"/>
          </a:solidFill>
          <a:ln w="63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3488" y="342900"/>
            <a:ext cx="685800" cy="219456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l"/>
            <a:r>
              <a:rPr sz="900" b="0">
                <a:solidFill>
                  <a:srgbClr val="D6D6D6"/>
                </a:solidFill>
                <a:latin typeface="Arial"/>
              </a:rPr>
              <a:t>Propuesto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1078992"/>
            <a:ext cx="1839976" cy="292608"/>
          </a:xfrm>
          <a:prstGeom prst="roundRect">
            <a:avLst>
              <a:gd name="adj" fmla="val 18000"/>
            </a:avLst>
          </a:prstGeom>
          <a:solidFill>
            <a:srgbClr val="005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078992"/>
            <a:ext cx="1839976" cy="292608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"/>
              </a:rPr>
              <a:t>HABILITACIÓN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1399032"/>
            <a:ext cx="1839976" cy="182880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ctr"/>
            <a:r>
              <a:rPr sz="900" b="0">
                <a:solidFill>
                  <a:srgbClr val="D6D6D6"/>
                </a:solidFill>
                <a:latin typeface="Arial"/>
              </a:rPr>
              <a:t>13–26 ago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00C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0A1A2E"/>
                </a:solidFill>
                <a:latin typeface="Arial"/>
              </a:rPr>
              <a:t>SEM 1</a:t>
            </a:r>
          </a:p>
          <a:p>
            <a:pPr algn="l"/>
            <a:r>
              <a:rPr sz="750" b="0">
                <a:solidFill>
                  <a:srgbClr val="1E3A2A"/>
                </a:solidFill>
                <a:latin typeface="Arial"/>
              </a:rPr>
              <a:t>13–19 ago</a:t>
            </a:r>
          </a:p>
          <a:p>
            <a:pPr algn="l"/>
            <a:r>
              <a:rPr sz="400" b="0">
                <a:solidFill>
                  <a:srgbClr val="0A1A2E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0A1A2E"/>
                </a:solidFill>
                <a:latin typeface="Arial"/>
              </a:rPr>
              <a:t>Consolidación de repos + entorno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7752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00C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63472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0A1A2E"/>
                </a:solidFill>
                <a:latin typeface="Arial"/>
              </a:rPr>
              <a:t>SEM 2</a:t>
            </a:r>
          </a:p>
          <a:p>
            <a:pPr algn="l"/>
            <a:r>
              <a:rPr sz="750" b="0">
                <a:solidFill>
                  <a:srgbClr val="1E3A2A"/>
                </a:solidFill>
                <a:latin typeface="Arial"/>
              </a:rPr>
              <a:t>20–26 ago</a:t>
            </a:r>
          </a:p>
          <a:p>
            <a:pPr algn="l"/>
            <a:r>
              <a:rPr sz="400" b="0">
                <a:solidFill>
                  <a:srgbClr val="0A1A2E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0A1A2E"/>
                </a:solidFill>
                <a:latin typeface="Arial"/>
              </a:rPr>
              <a:t>graphify + skills del pipeline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69744" y="1078992"/>
            <a:ext cx="1839976" cy="292608"/>
          </a:xfrm>
          <a:prstGeom prst="roundRect">
            <a:avLst>
              <a:gd name="adj" fmla="val 18000"/>
            </a:avLst>
          </a:prstGeom>
          <a:solidFill>
            <a:srgbClr val="005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69744" y="1078992"/>
            <a:ext cx="1839976" cy="292608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"/>
              </a:rPr>
              <a:t>USO ACOMPAÑADO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69744" y="1399032"/>
            <a:ext cx="1839976" cy="182880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ctr"/>
            <a:r>
              <a:rPr sz="900" b="0">
                <a:solidFill>
                  <a:srgbClr val="D6D6D6"/>
                </a:solidFill>
                <a:latin typeface="Arial"/>
              </a:rPr>
              <a:t>27 ago–09 sep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69744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00C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15463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0A1A2E"/>
                </a:solidFill>
                <a:latin typeface="Arial"/>
              </a:rPr>
              <a:t>SEM 3</a:t>
            </a:r>
          </a:p>
          <a:p>
            <a:pPr algn="l"/>
            <a:r>
              <a:rPr sz="750" b="0">
                <a:solidFill>
                  <a:srgbClr val="1E3A2A"/>
                </a:solidFill>
                <a:latin typeface="Arial"/>
              </a:rPr>
              <a:t>27 ago–02 sep</a:t>
            </a:r>
          </a:p>
          <a:p>
            <a:pPr algn="l"/>
            <a:r>
              <a:rPr sz="400" b="0">
                <a:solidFill>
                  <a:srgbClr val="0A1A2E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0A1A2E"/>
                </a:solidFill>
                <a:latin typeface="Arial"/>
              </a:rPr>
              <a:t>Primer ejercicio con equipo dev (EVT)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21736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F9E7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7456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0A1A2E"/>
                </a:solidFill>
                <a:latin typeface="Arial"/>
              </a:rPr>
              <a:t>SEM 4</a:t>
            </a:r>
          </a:p>
          <a:p>
            <a:pPr algn="l"/>
            <a:r>
              <a:rPr sz="750" b="0">
                <a:solidFill>
                  <a:srgbClr val="4A3A10"/>
                </a:solidFill>
                <a:latin typeface="Arial"/>
              </a:rPr>
              <a:t>03–09 sep</a:t>
            </a:r>
          </a:p>
          <a:p>
            <a:pPr algn="l"/>
            <a:r>
              <a:rPr sz="400" b="0">
                <a:solidFill>
                  <a:srgbClr val="0A1A2E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0A1A2E"/>
                </a:solidFill>
                <a:latin typeface="Arial"/>
              </a:rPr>
              <a:t>Consolidación + iteración de skills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73727" y="1078992"/>
            <a:ext cx="2791968" cy="292608"/>
          </a:xfrm>
          <a:prstGeom prst="roundRect">
            <a:avLst>
              <a:gd name="adj" fmla="val 18000"/>
            </a:avLst>
          </a:prstGeom>
          <a:solidFill>
            <a:srgbClr val="005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73727" y="1078992"/>
            <a:ext cx="2791968" cy="292608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"/>
              </a:rPr>
              <a:t>EJECUCIÓN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3727" y="1399032"/>
            <a:ext cx="2791968" cy="182880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ctr"/>
            <a:r>
              <a:rPr sz="900" b="0">
                <a:solidFill>
                  <a:srgbClr val="D6D6D6"/>
                </a:solidFill>
                <a:latin typeface="Arial"/>
              </a:rPr>
              <a:t>10–30 sep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73727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19447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SEM 5</a:t>
            </a:r>
          </a:p>
          <a:p>
            <a:pPr algn="l"/>
            <a:r>
              <a:rPr sz="750" b="0">
                <a:solidFill>
                  <a:srgbClr val="D6D6D6"/>
                </a:solidFill>
                <a:latin typeface="Arial"/>
              </a:rPr>
              <a:t>10–16 sep</a:t>
            </a:r>
          </a:p>
          <a:p>
            <a:pPr algn="l"/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FFFFFF"/>
                </a:solidFill>
                <a:latin typeface="Arial"/>
              </a:rPr>
              <a:t>Iteración + DHU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5720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1439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SEM 6</a:t>
            </a:r>
          </a:p>
          <a:p>
            <a:pPr algn="l"/>
            <a:r>
              <a:rPr sz="750" b="0">
                <a:solidFill>
                  <a:srgbClr val="D6D6D6"/>
                </a:solidFill>
                <a:latin typeface="Arial"/>
              </a:rPr>
              <a:t>17–23 sep</a:t>
            </a:r>
          </a:p>
          <a:p>
            <a:pPr algn="l"/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FFFFFF"/>
                </a:solidFill>
                <a:latin typeface="Arial"/>
              </a:rPr>
              <a:t>Iteración + implementación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7712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3432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SEM 7</a:t>
            </a:r>
          </a:p>
          <a:p>
            <a:pPr algn="l"/>
            <a:r>
              <a:rPr sz="750" b="0">
                <a:solidFill>
                  <a:srgbClr val="D6D6D6"/>
                </a:solidFill>
                <a:latin typeface="Arial"/>
              </a:rPr>
              <a:t>24–30 sep</a:t>
            </a:r>
          </a:p>
          <a:p>
            <a:pPr algn="l"/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FFFFFF"/>
                </a:solidFill>
                <a:latin typeface="Arial"/>
              </a:rPr>
              <a:t>Validación con equipo dev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29703" y="1078992"/>
            <a:ext cx="1839976" cy="292608"/>
          </a:xfrm>
          <a:prstGeom prst="roundRect">
            <a:avLst>
              <a:gd name="adj" fmla="val 18000"/>
            </a:avLst>
          </a:prstGeom>
          <a:solidFill>
            <a:srgbClr val="005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9703" y="1078992"/>
            <a:ext cx="1839976" cy="292608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"/>
              </a:rPr>
              <a:t>CONSOLIDACIÓN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9703" y="1399032"/>
            <a:ext cx="1839976" cy="182880"/>
          </a:xfrm>
          <a:prstGeom prst="rect">
            <a:avLst/>
          </a:prstGeom>
          <a:noFill/>
        </p:spPr>
        <p:txBody>
          <a:bodyPr wrap="none" lIns="25400" rIns="25400" tIns="12700" bIns="12700" anchor="ctr">
            <a:spAutoFit/>
          </a:bodyPr>
          <a:lstStyle/>
          <a:p>
            <a:pPr algn="ctr"/>
            <a:r>
              <a:rPr sz="900" b="0">
                <a:solidFill>
                  <a:srgbClr val="D6D6D6"/>
                </a:solidFill>
                <a:latin typeface="Arial"/>
              </a:rPr>
              <a:t>01–09 oct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29703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75423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SEM 8</a:t>
            </a:r>
          </a:p>
          <a:p>
            <a:pPr algn="l"/>
            <a:r>
              <a:rPr sz="750" b="0">
                <a:solidFill>
                  <a:srgbClr val="D6D6D6"/>
                </a:solidFill>
                <a:latin typeface="Arial"/>
              </a:rPr>
              <a:t>01–07 oct</a:t>
            </a:r>
          </a:p>
          <a:p>
            <a:pPr algn="l"/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FFFFFF"/>
                </a:solidFill>
                <a:latin typeface="Arial"/>
              </a:rPr>
              <a:t>Estabilización y cierre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81695" y="1645920"/>
            <a:ext cx="887984" cy="1097280"/>
          </a:xfrm>
          <a:prstGeom prst="roundRect">
            <a:avLst>
              <a:gd name="adj" fmla="val 10000"/>
            </a:avLst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7415" y="1700784"/>
            <a:ext cx="796544" cy="9875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SEM C</a:t>
            </a:r>
          </a:p>
          <a:p>
            <a:pPr algn="l"/>
            <a:r>
              <a:rPr sz="750" b="0">
                <a:solidFill>
                  <a:srgbClr val="D6D6D6"/>
                </a:solidFill>
                <a:latin typeface="Arial"/>
              </a:rPr>
              <a:t>08–09 oct</a:t>
            </a:r>
          </a:p>
          <a:p>
            <a:pPr algn="l"/>
            <a:r>
              <a:rPr sz="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750" b="0">
                <a:solidFill>
                  <a:srgbClr val="FFFFFF"/>
                </a:solidFill>
                <a:latin typeface="Arial"/>
              </a:rPr>
              <a:t>Cierre de entregables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5760" y="2834640"/>
            <a:ext cx="4183380" cy="1170432"/>
          </a:xfrm>
          <a:prstGeom prst="roundRect">
            <a:avLst>
              <a:gd name="adj" fmla="val 6000"/>
            </a:avLst>
          </a:prstGeom>
          <a:solidFill>
            <a:srgbClr val="11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926080"/>
            <a:ext cx="3781044" cy="219456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00DFED"/>
                </a:solidFill>
                <a:latin typeface="Noto Sans"/>
              </a:rPr>
              <a:t>HITO — SEMANA 2 (20–26 AGO)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63824"/>
            <a:ext cx="3781044" cy="7498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D6D6D6"/>
                </a:solidFill>
                <a:latin typeface="Arial"/>
              </a:rPr>
              <a:t>Se evaluó la optimización de tokens y se adoptó graphify como mecanismo de ahorro (flujo documentado en hu-dhu-workflow-guide.md); se crearon los skills bcv-hu-context-analyzer, bcv-dhu-writer y bcv-hu-implementer. Primer ejercicio con Fernando Camargo: ~2 h vs ~8 h (1 día) de la forma tradicional. Se acordó con el cliente la entrega de una HU de negocio para elaborar el plan de implementación y la DHU.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86300" y="2834640"/>
            <a:ext cx="4183380" cy="1170432"/>
          </a:xfrm>
          <a:prstGeom prst="roundRect">
            <a:avLst>
              <a:gd name="adj" fmla="val 6000"/>
            </a:avLst>
          </a:prstGeom>
          <a:solidFill>
            <a:srgbClr val="11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87468" y="2926080"/>
            <a:ext cx="3781044" cy="219456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000" b="1">
                <a:solidFill>
                  <a:srgbClr val="00DFED"/>
                </a:solidFill>
                <a:latin typeface="Noto Sans"/>
              </a:rPr>
              <a:t>HITO EN CURSO — SEMANA 4 (03–09 SEP)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87468" y="3163824"/>
            <a:ext cx="3781044" cy="7498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D6D6D6"/>
                </a:solidFill>
                <a:latin typeface="Arial"/>
              </a:rPr>
              <a:t>Consolidar el resultado del EVT, incorporar el feedback de Lionel Gonzales y seguir iterando skills con código real; preparar el traspaso de Jose Luis (10 sep).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65760" y="4078224"/>
            <a:ext cx="2023110" cy="731520"/>
          </a:xfrm>
          <a:prstGeom prst="roundRect">
            <a:avLst>
              <a:gd name="adj" fmla="val 10000"/>
            </a:avLst>
          </a:prstGeom>
          <a:solidFill>
            <a:srgbClr val="0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4142232"/>
            <a:ext cx="2023110" cy="29260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800" b="1">
                <a:solidFill>
                  <a:srgbClr val="00DFED"/>
                </a:solidFill>
                <a:latin typeface="Noto Sans"/>
              </a:rPr>
              <a:t>2 h vs 8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4443984"/>
            <a:ext cx="1840230" cy="329184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D6D6"/>
                </a:solidFill>
                <a:latin typeface="Arial"/>
              </a:rPr>
              <a:t>F. Camargo (equipo dev banco) vs. forma tradicional (semana 2)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526030" y="4078224"/>
            <a:ext cx="2023110" cy="731520"/>
          </a:xfrm>
          <a:prstGeom prst="roundRect">
            <a:avLst>
              <a:gd name="adj" fmla="val 10000"/>
            </a:avLst>
          </a:prstGeom>
          <a:solidFill>
            <a:srgbClr val="0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26030" y="4142232"/>
            <a:ext cx="2023110" cy="29260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800" b="1">
                <a:solidFill>
                  <a:srgbClr val="00DFED"/>
                </a:solidFill>
                <a:latin typeface="Noto Sans"/>
              </a:rPr>
              <a:t>~4 días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17470" y="4443984"/>
            <a:ext cx="1840230" cy="329184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D6D6"/>
                </a:solidFill>
                <a:latin typeface="Arial"/>
              </a:rPr>
              <a:t>ahorro medido en el EVT (semana 3)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86300" y="4078224"/>
            <a:ext cx="2023110" cy="731520"/>
          </a:xfrm>
          <a:prstGeom prst="roundRect">
            <a:avLst>
              <a:gd name="adj" fmla="val 10000"/>
            </a:avLst>
          </a:prstGeom>
          <a:solidFill>
            <a:srgbClr val="0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86300" y="4142232"/>
            <a:ext cx="2023110" cy="29260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800" b="1">
                <a:solidFill>
                  <a:srgbClr val="00DFED"/>
                </a:solidFill>
                <a:latin typeface="Noto Sans"/>
              </a:rPr>
              <a:t>3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77740" y="4443984"/>
            <a:ext cx="1840230" cy="329184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D6D6"/>
                </a:solidFill>
                <a:latin typeface="Arial"/>
              </a:rPr>
              <a:t>semanas completadas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46570" y="4078224"/>
            <a:ext cx="2023110" cy="731520"/>
          </a:xfrm>
          <a:prstGeom prst="roundRect">
            <a:avLst>
              <a:gd name="adj" fmla="val 10000"/>
            </a:avLst>
          </a:prstGeom>
          <a:solidFill>
            <a:srgbClr val="0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46570" y="4142232"/>
            <a:ext cx="2023110" cy="29260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800" b="1">
                <a:solidFill>
                  <a:srgbClr val="00DFED"/>
                </a:solidFill>
                <a:latin typeface="Noto Sans"/>
              </a:rPr>
              <a:t>09 oct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38010" y="4443984"/>
            <a:ext cx="1840230" cy="329184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D6D6"/>
                </a:solidFill>
                <a:latin typeface="Arial"/>
              </a:rPr>
              <a:t>cierre y traspaso de entregables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274320"/>
            <a:ext cx="77724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"/>
              </a:rPr>
              <a:t>Avance del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749808"/>
            <a:ext cx="813816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00DFED"/>
                </a:solidFill>
                <a:latin typeface="Noto Sans"/>
              </a:rPr>
              <a:t>Semanas numeradas (1–8) del plan de adopción · Actualizado al 07 sep 2026 (Semana 4 en curso)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65760" y="1170432"/>
          <a:ext cx="8503920" cy="1234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65760" y="2697480"/>
          <a:ext cx="8503920" cy="19659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Hitos clave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3840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Hito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Fecha ref.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Descripción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🚀 Kick-off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Inicio oficial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🧭 Graphify +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de ahorro de tokens + creación de los 3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💻 Primera prueba con equipo dev (EVT)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completo validado con Lionel Gonzales — ahorro de ~4 días de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🏁 Culminación Arquitecto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de Jose Luis; Oscar queda como soporte /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🧪 Validación con equipo dev del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 a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🎯 Cierre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 oct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estabilizados + 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Dependencias y condiciones de inicio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14630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Dependencia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Impacto si no se resuelve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 de la HU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Completada (S3)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HU no se valida el pipeline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Entorno de trabajo del equipo dev (PC)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la validación con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 los 7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Generados (S1)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grafos, el análisis consume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 a repositorios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análisis 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Continuidad tras el 10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Planificado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asume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Riesgos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3749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Riesgo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Mitigación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Salida de Jose Luis (Arquitecto IA) el 10 sep, a mitad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planificado; trabajo culminado antes del 10 sep; Oscar cubre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Dependencia de una HU real del cliente para validar 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Acuerdo de entrega de HU ya conversado con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del equipo dev del banco fuera de tiempo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equipo dev ya dispone del entorno en su PC; canal de iteración definido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 legacy (Java 17, estructura plana)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bcv-clean-architecture para migrar; no bloquea el resto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desactualizados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Regeneración en CI / check-update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Problemas y riesgos técnicos identificados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Severidad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Problema técnico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heterogénea: service-point-service es el único sin patrón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gates (SpotBugs / PMD) en skip=true en varios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flags implementados como propiedades Spring simples, sin plataforma dedicada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794760"/>
            <a:ext cx="8503920" cy="777240"/>
          </a:xfrm>
          <a:prstGeom prst="roundRect">
            <a:avLst>
              <a:gd name="adj" fmla="val 705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9319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de estos problemas bloquea el pipeline HU → DHU → código; se gestionan como deuda técnica del ecosistema.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· Criterios de Éxito (KPIs)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Cómo mediremos que el proyecto cumplió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Criterios de éxito (KPIs)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669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Criterio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Indicador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skills operativos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+ implementación validados sobre código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Ahorro de tokens demostrado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~85 % vs. LLM puro (~8 000–12 000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validado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de negocio → DHU → código en ambiente de desarrollo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corporativo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generada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Correcciones del equipo dev aplicadas en las iteraciones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Onboarding entregado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+ equipo dev autónomo con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 inmediatos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1–3 ya ejecutados en la semana 3 (01 sep) con Lionel Gonzales sobre un EVT — flujo validado end-to-end con ~4 días ahorrados.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00200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1755648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1755648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691640" y="1709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Probar el pipeline sobre un EVT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728216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Lionel Gonzales (semana 3).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2221992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6928" y="2377440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2377440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691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Ejecutar bcv-hu-context-analyzer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394960" y="2350008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con graphify → .context/hu-&lt;codigo&gt;.md.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843784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2999232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2999232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6916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con código real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394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de la prueba EVT incorporado.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65760" y="3465576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3621024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621024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691640" y="3575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Consolidar el feedback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394960" y="3593592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Incorporar correcciones de desarrollo (semana 4).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5760" y="4087368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6928" y="4242816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4242816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S4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691640" y="4197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Preparar el traspaso (10 sep)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394960" y="4215384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arquitectura, validaciones y acuerdos con el cliente.</a:t>
            </a:r>
            <a:endParaRPr lang="en-US" sz="10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13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hito: validación con el equipo dev del banco y traspaso del Arquitecto IA (10 sep 2026)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0" y="1097280"/>
            <a:ext cx="1463040" cy="146304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818120" y="1463040"/>
            <a:ext cx="731520" cy="73152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</dc:title>
  <dc:subject>Presentación Ejecutiva — Skills IA · BCV/BACC</dc:subject>
  <dc:creator>NTT DATA</dc:creator>
  <cp:lastModifiedBy>NTT DATA</cp:lastModifiedBy>
  <cp:revision>1</cp:revision>
  <dcterms:created xsi:type="dcterms:W3CDTF">2026-09-07T15:38:58Z</dcterms:created>
  <dcterms:modified xsi:type="dcterms:W3CDTF">2026-09-07T15:38:58Z</dcterms:modified>
</cp:coreProperties>
</file>