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&quot;h&quot;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Tradicional</c:v>
                  </c:pt>
                  <c:pt idx="1">
                    <c:v>Copilot</c:v>
                  </c:pt>
                  <c:pt idx="2">
                    <c:v>Skill +
Graphify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0&quot;h&quot;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&quot;h&quot;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Tradicional</c:v>
                  </c:pt>
                  <c:pt idx="1">
                    <c:v>Copilot</c:v>
                  </c:pt>
                  <c:pt idx="2">
                    <c:v>Skill +
Graphify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</c:v>
                </c:pt>
                <c:pt idx="1">
                  <c:v>40</c:v>
                </c:pt>
                <c:pt idx="2">
                  <c:v>10</c:v>
                </c:pt>
              </c:numCache>
            </c:numRef>
          </c:val>
        </c:ser>
        <c:dLbls>
          <c:numFmt formatCode="0&quot;h&quot;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5-1.png"/><Relationship Id="rId4" Type="http://schemas.openxmlformats.org/officeDocument/2006/relationships/image" Target="../media/image-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Adaptación de Skills IA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 Ecosistema BCV/BACC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2606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Presentación Ejecutiva — Resumen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3246120"/>
            <a:ext cx="8503920" cy="1280160"/>
          </a:xfrm>
          <a:prstGeom prst="roundRect">
            <a:avLst>
              <a:gd name="adj" fmla="val 4286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34290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Proyecto: skills de agente IA para los microservicios backend de Apertura de Cuentas Comerciales (BACC)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Ecosistema: BCV/BACC · Interbank · Entregable: NTT DATA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13 ago → 09 oct 2026 · Sprint 2 en curso (4 sprints de 2 semanas + cierre)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680960" y="685800"/>
            <a:ext cx="1371600" cy="137160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83880" y="105156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Alcance del Proyecto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microservicios backend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523744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523744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2615184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del pipeline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681728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81728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773168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tokens por HU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839712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9712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sem.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31152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ago → 09 oct 2026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2423160"/>
            <a:ext cx="8503920" cy="2148840"/>
          </a:xfrm>
          <a:prstGeom prst="roundRect">
            <a:avLst>
              <a:gd name="adj" fmla="val 2553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26060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¿Qué es este proyecto?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2999232"/>
            <a:ext cx="7955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ecosistema BCV/BACC de Interbank opera sobre 7 microservicios backend Java/Spring Boot. El proyecto construye un pipeline de 3 skills de agente que convierte una Historia de Usuario (HU) de negocio en una Historia Técnica (DHU) y, opcionalmente, en código — usando graphify para reducir el consumo de tokens en ~85 %.</a:t>
            </a:r>
            <a:endParaRPr lang="en-US" sz="13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Metodología: SDD + BMAD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proyecto sigue Spec-Driven Development (SDD) y BMAD: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417320"/>
            <a:ext cx="4160520" cy="1234440"/>
          </a:xfrm>
          <a:prstGeom prst="roundRect">
            <a:avLst>
              <a:gd name="adj" fmla="val 444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SDD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1828800"/>
            <a:ext cx="37033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de desarrollo guiado por especificaciones. Antes de escribir código se produce y aprueba una spec (la DHU) con criterios de aceptación y mapa técnico — bcv-hu-implementer no genera código si la DHU tiene gaps sin resolver.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4160520" cy="1234440"/>
          </a:xfrm>
          <a:prstGeom prst="roundRect">
            <a:avLst>
              <a:gd name="adj" fmla="val 444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3776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BMAD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937760" y="1828800"/>
            <a:ext cx="37033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de desarrollo ágil con IA. Es el ciclo interno que cada skill sigue al construir algo: Understand (entender la tarea y el código), Design (diseñar el cambio), Build (generarlo) y Validate (verificarlo).</a:t>
            </a:r>
            <a:endParaRPr lang="en-US" sz="98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8036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Fase SDD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Acción del flujo BCV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Intención de entrada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funcional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Research-Driven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bcv-hu-context-analyzer investiga el código real con graphify → .context/hu-&lt;codigo&gt;.md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formalmente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bcv-dhu-writer escribe la DHU (criterios de aceptación, endpoints, mapa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Implementar desde la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bcv-hu-implementer aplica la DHU en ramas feature (dry-run / apply)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/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Linter + tests, revisión humana y gotchas que vuelven al contexto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que se Identificaron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33856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identificó y construyó un pipeline de 3 skills principales, uno por cada paso del flujo SDD: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93776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 funcional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 de negocio</a:t>
            </a:r>
            <a:endParaRPr lang="en-US" sz="680" dirty="0"/>
          </a:p>
        </p:txBody>
      </p:sp>
      <p:sp>
        <p:nvSpPr>
          <p:cNvPr id="9" name="Text 6"/>
          <p:cNvSpPr/>
          <p:nvPr/>
        </p:nvSpPr>
        <p:spPr>
          <a:xfrm>
            <a:off x="1536192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691640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28216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bcv-hu-context-analyzer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728216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 código con graphify</a:t>
            </a:r>
            <a:endParaRPr lang="en-US" sz="680" dirty="0"/>
          </a:p>
        </p:txBody>
      </p:sp>
      <p:sp>
        <p:nvSpPr>
          <p:cNvPr id="13" name="Text 10"/>
          <p:cNvSpPr/>
          <p:nvPr/>
        </p:nvSpPr>
        <p:spPr>
          <a:xfrm>
            <a:off x="2734056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889504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26080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Contexto técnico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926080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.context/hu-&lt;codigo&gt;.md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3931920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87368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23944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bcv-dhu-writer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123944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la especificación</a:t>
            </a:r>
            <a:endParaRPr lang="en-US" sz="680" dirty="0"/>
          </a:p>
        </p:txBody>
      </p:sp>
      <p:sp>
        <p:nvSpPr>
          <p:cNvPr id="21" name="Text 18"/>
          <p:cNvSpPr/>
          <p:nvPr/>
        </p:nvSpPr>
        <p:spPr>
          <a:xfrm>
            <a:off x="5129784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285232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21808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321808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ibk-hu-technical-refinement</a:t>
            </a:r>
            <a:endParaRPr lang="en-US" sz="680" dirty="0"/>
          </a:p>
        </p:txBody>
      </p:sp>
      <p:sp>
        <p:nvSpPr>
          <p:cNvPr id="25" name="Text 22"/>
          <p:cNvSpPr/>
          <p:nvPr/>
        </p:nvSpPr>
        <p:spPr>
          <a:xfrm>
            <a:off x="6327648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483096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19672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bcv-hu-implementer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519672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desde la spec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7525512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680960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17536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Código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717536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feature + tests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365760" y="3246120"/>
            <a:ext cx="8503920" cy="1188720"/>
          </a:xfrm>
          <a:prstGeom prst="roundRect">
            <a:avLst>
              <a:gd name="adj" fmla="val 4615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34015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Primera entrega: un plan de tareas validado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594360" y="3703320"/>
            <a:ext cx="804672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bcv-hu-context-analyzer (research con graphify) y bcv-dhu-writer (especificación) ejecutan la primera parte del pipeline y entregan un plan de tareas (la DHU) validado. Desde ahí, bcv-hu-implementer aplica el plan y genera el código, iterando con el feedback del equipo dev.</a:t>
            </a:r>
            <a:endParaRPr lang="en-US" sz="1050" dirty="0"/>
          </a:p>
        </p:txBody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Resultados (hitos medidos)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078992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primeros ejercicios con el equipo dev del banco cuantificaron el ahorro frente a la forma tradicional: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99032"/>
          <a:ext cx="8503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06040"/>
                <a:gridCol w="640080"/>
                <a:gridCol w="777240"/>
                <a:gridCol w="777240"/>
                <a:gridCol w="1371600"/>
                <a:gridCol w="12344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Usuario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HU / EVT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Compl.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Tradic.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Copilot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Skill+Graphify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Ahorro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Fernando Camargo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Identificación de canal OneAPP en trama Postmortem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Lionel Gonzales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[EVT] Arquitectura cluster-to-cluster – Paquete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36576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Fernando Camargo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36576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· complejidad baja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361188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61188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75 %
</a:t>
            </a:r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3218688"/>
          <a:ext cx="411480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/>
          <p:nvPr/>
        </p:nvSpPr>
        <p:spPr>
          <a:xfrm>
            <a:off x="2999232" y="3255264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-75 %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475488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Lionel Gonzales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475488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· complejidad media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800100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00100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79 %
</a:t>
            </a:r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4754880" y="3218688"/>
          <a:ext cx="411480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 12"/>
          <p:cNvSpPr/>
          <p:nvPr/>
        </p:nvSpPr>
        <p:spPr>
          <a:xfrm>
            <a:off x="7388352" y="3255264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-79 %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45720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caso de mayor complejidad (Lionel Gonzales), pasar de 48 h a 10 h equivale a un ahorro de ~79 % (~4 días de implementación).</a:t>
            </a:r>
            <a:endParaRPr lang="en-US" sz="10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097280"/>
            <a:ext cx="1839976" cy="292608"/>
          </a:xfrm>
          <a:prstGeom prst="roundRect">
            <a:avLst>
              <a:gd name="adj" fmla="val 50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1097280"/>
            <a:ext cx="1839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1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65760" y="140817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13–26 ago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1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13–19 ago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20624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Consolidación de repos + entorno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65760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20624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Arranque de los 3 skills del pipeline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1317752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17752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2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20–26 ago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317752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72616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de graphify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1317752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2616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de HU con equipo dev (primer ejercicio real)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269744" y="1097280"/>
            <a:ext cx="1839976" cy="292608"/>
          </a:xfrm>
          <a:prstGeom prst="roundRect">
            <a:avLst>
              <a:gd name="adj" fmla="val 50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269744" y="1097280"/>
            <a:ext cx="1839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269744" y="140817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ago–09 sep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2269744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269744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3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ago–02 sep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269744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324608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Iteración de los skills del pipeline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2269744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324608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EVT con equipo dev (context-analyzer → DHU → código)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3221736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221736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4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03–09 sep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21736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276600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feedback de la ejecución EVT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3221736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276600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Iterar skills del pipeline con código real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173728" y="1097280"/>
            <a:ext cx="1839976" cy="292608"/>
          </a:xfrm>
          <a:prstGeom prst="roundRect">
            <a:avLst>
              <a:gd name="adj" fmla="val 50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173728" y="1097280"/>
            <a:ext cx="1839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3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173728" y="140817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10–23 sep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173728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173728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5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10–16 sep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173728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228592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Refinar los skills del pipeline según feedback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4173728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228592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Avanzar el pipeline con la DHU (bcv-dhu-writer)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5125720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125720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6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17–23 sep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5125720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180584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el pipeline completo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5125720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180584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 bcv-hu-implementer (dry-run → apply)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6077712" y="1097280"/>
            <a:ext cx="1839976" cy="292608"/>
          </a:xfrm>
          <a:prstGeom prst="roundRect">
            <a:avLst>
              <a:gd name="adj" fmla="val 50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077712" y="1097280"/>
            <a:ext cx="1839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4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6077712" y="140817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sep–07 oct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6077712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6077712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7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24–30 sep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6077712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132576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con equipo dev del banco (entorno propio)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6077712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132576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Ciclo: ajustar → regenerar → revalidar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7029704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7029704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8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01–07 oct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029704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7084568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Estabilización final de skills</a:t>
            </a:r>
            <a:endParaRPr lang="en-US" sz="800" dirty="0"/>
          </a:p>
        </p:txBody>
      </p:sp>
      <p:sp>
        <p:nvSpPr>
          <p:cNvPr id="63" name="Shape 60"/>
          <p:cNvSpPr/>
          <p:nvPr/>
        </p:nvSpPr>
        <p:spPr>
          <a:xfrm>
            <a:off x="7029704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7084568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Documentación, onboarding y demo al cliente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7981696" y="1097280"/>
            <a:ext cx="887984" cy="292608"/>
          </a:xfrm>
          <a:prstGeom prst="roundRect">
            <a:avLst>
              <a:gd name="adj" fmla="val 50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7981696" y="1097280"/>
            <a:ext cx="88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CIERRE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7981696" y="1408176"/>
            <a:ext cx="887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08–09 oct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7981696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981696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08–09 oct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981696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036560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final de entregables</a:t>
            </a:r>
            <a:endParaRPr lang="en-US" sz="800" dirty="0"/>
          </a:p>
        </p:txBody>
      </p:sp>
      <p:sp>
        <p:nvSpPr>
          <p:cNvPr id="72" name="Shape 69"/>
          <p:cNvSpPr/>
          <p:nvPr/>
        </p:nvSpPr>
        <p:spPr>
          <a:xfrm>
            <a:off x="7981696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8036560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a cargo de Oscar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544068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00CB5D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5614416" y="3611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Completada</a:t>
            </a:r>
            <a:endParaRPr lang="en-US" sz="800" dirty="0"/>
          </a:p>
        </p:txBody>
      </p:sp>
      <p:sp>
        <p:nvSpPr>
          <p:cNvPr id="76" name="Shape 73"/>
          <p:cNvSpPr/>
          <p:nvPr/>
        </p:nvSpPr>
        <p:spPr>
          <a:xfrm>
            <a:off x="635508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F9E79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6528816" y="3611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curso</a:t>
            </a:r>
            <a:endParaRPr lang="en-US" sz="800" dirty="0"/>
          </a:p>
        </p:txBody>
      </p:sp>
      <p:sp>
        <p:nvSpPr>
          <p:cNvPr id="78" name="Shape 75"/>
          <p:cNvSpPr/>
          <p:nvPr/>
        </p:nvSpPr>
        <p:spPr>
          <a:xfrm>
            <a:off x="713232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1A2B4A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7306056" y="3611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Propuesto</a:t>
            </a:r>
            <a:endParaRPr lang="en-US" sz="800" dirty="0"/>
          </a:p>
        </p:txBody>
      </p:sp>
      <p:pic>
        <p:nvPicPr>
          <p:cNvPr id="8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1" name="Text 7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2" name="Text 7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Próximos Pasos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41732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700784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1700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" y="154533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Iterar los skills en las próximas HUs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874520"/>
            <a:ext cx="7498080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Ampliar su cobertura con casos de uso adicionales del banco, sobre Historias de Usuario reales.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5760" y="2496312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779776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43000" y="262432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Oscar queda a cargo del proyecto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43000" y="2953512"/>
            <a:ext cx="7498080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 el traspaso del Arquitecto IA (10 sep): soporte continuo y afinación de los skills.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5760" y="3575304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858768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858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43000" y="37033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Refinar los skills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143000" y="4032504"/>
            <a:ext cx="7498080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más código real y el feedback continuo del equipo dev del banco.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para el Ecosistema BCV/BACC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HU → DHU → código · 3 skills · ~85 % menos tokens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371600" y="3200400"/>
            <a:ext cx="6675120" cy="1005840"/>
          </a:xfrm>
          <a:prstGeom prst="roundRect">
            <a:avLst>
              <a:gd name="adj" fmla="val 545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34290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pasos: iterar y refinar los skills en las próximas HUs, con Oscar a cargo del proyecto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589520" y="228600"/>
            <a:ext cx="1188720" cy="118872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01000" y="50292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Adaptación de Skills IA para el Ecosistema BCV/BACC — Resumen</dc:title>
  <dc:subject>Presentación Ejecutiva (Resumen) — Skills IA · BCV/BACC</dc:subject>
  <dc:creator>NTT DATA</dc:creator>
  <cp:lastModifiedBy>NTT DATA</cp:lastModifiedBy>
  <cp:revision>1</cp:revision>
  <dcterms:created xsi:type="dcterms:W3CDTF">2026-09-10T16:39:45Z</dcterms:created>
  <dcterms:modified xsi:type="dcterms:W3CDTF">2026-09-10T16:39:45Z</dcterms:modified>
</cp:coreProperties>
</file>