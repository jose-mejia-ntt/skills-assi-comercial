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E79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B5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Tradicional</c:v>
                  </c:pt>
                  <c:pt idx="1">
                    <c:v>Copilot</c:v>
                  </c:pt>
                  <c:pt idx="2">
                    <c:v>Skill +
Graphify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</c:ser>
        <c:dLbls>
          <c:numFmt formatCode="0&quot;h&quot;" sourceLinked="0"/>
          <c:txPr>
            <a:bodyPr/>
            <a:lstStyle/>
            <a:p>
              <a:pPr>
                <a:defRPr b="1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2B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6D6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0&quot;h&quot;" sourceLinked="0"/>
            <c:txPr>
              <a:bodyPr/>
              <a:lstStyle/>
              <a:p>
                <a:pPr>
                  <a:defRPr b="1" i="0" strike="noStrike" sz="9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9616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E79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B5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Tradicional</c:v>
                  </c:pt>
                  <c:pt idx="1">
                    <c:v>Copilot</c:v>
                  </c:pt>
                  <c:pt idx="2">
                    <c:v>Skill +
Graphify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dLbls>
          <c:numFmt formatCode="0&quot;h&quot;" sourceLinked="0"/>
          <c:txPr>
            <a:bodyPr/>
            <a:lstStyle/>
            <a:p>
              <a:pPr>
                <a:defRPr b="1" i="0" strike="noStrike" sz="9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A2B4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D6D6D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2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5-1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Adaptación de Skills IA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 Ecosistema BCV/BACC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Presentación Ejecutiva — Resumen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246120"/>
            <a:ext cx="8503920" cy="1280160"/>
          </a:xfrm>
          <a:prstGeom prst="roundRect">
            <a:avLst>
              <a:gd name="adj" fmla="val 4286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4290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Proyecto: skills de agente IA para los microservicios backend de Apertura de Cuentas Comerciales (BACC)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Ecosistema: BCV/BACC · Interbank · Entregable: NTT DATA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Cronograma: 13 ago → 09 oct 2026 · Sprint 2 en curso (4 sprints de 2 semanas)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80960" y="685800"/>
            <a:ext cx="1371600" cy="137160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83880" y="1051560"/>
            <a:ext cx="640080" cy="64008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Alcance del Proyecto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microservicios backend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523744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523744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615184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del pipeline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81728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1728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~85 %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73168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tokens por HU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839712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39712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sem.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31152" y="1783080"/>
            <a:ext cx="18288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ago → 09 oct 2026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2423160"/>
            <a:ext cx="8503920" cy="2148840"/>
          </a:xfrm>
          <a:prstGeom prst="roundRect">
            <a:avLst>
              <a:gd name="adj" fmla="val 2553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26060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¿Qué es este proyecto?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" y="2999232"/>
            <a:ext cx="795528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ecosistema BCV/BACC de Interbank opera sobre 7 microservicios backend Java/Spring Boot. El proyecto construye un pipeline de 3 skills de agente que convierte una Historia de Usuario (HU) de negocio en una Historia Técnica (DHU) y, opcionalmente, en código — usando graphify para reducir el consumo de tokens en ~85 %.</a:t>
            </a:r>
            <a:endParaRPr lang="en-US" sz="13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Metodología: SDD + BMAD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15568"/>
            <a:ext cx="8321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sigue Spec-Driven Development (SDD) y BMAD: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4160520" cy="1234440"/>
          </a:xfrm>
          <a:prstGeom prst="roundRect">
            <a:avLst>
              <a:gd name="adj" fmla="val 4444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536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SDD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828800"/>
            <a:ext cx="37033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desarrollo guiado por especificaciones. Antes de escribir código se produce y aprueba una spec (la DHU) con criterios de aceptación y mapa técnico — bcv-hu-implementer no genera código si la DHU tiene gaps sin resolver.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709160" y="1417320"/>
            <a:ext cx="4160520" cy="1234440"/>
          </a:xfrm>
          <a:prstGeom prst="roundRect">
            <a:avLst>
              <a:gd name="adj" fmla="val 4444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37760" y="1536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BMAD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937760" y="1828800"/>
            <a:ext cx="370332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de desarrollo ágil con IA. Es el ciclo interno que cada skill sigue al construir algo: Understand (entender la tarea y el código), Design (diseñar el cambio), Build (generarlo) y Validate (verificarlo).</a:t>
            </a:r>
            <a:endParaRPr lang="en-US" sz="98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126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Fase SDD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Acción del flujo BCV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Intención de entrada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 funcional de negocio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Research-Driven Context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bcv-hu-context-analyzer investiga el código real con graphify → .context/hu-&lt;codigo&gt;.md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Especificar formalmente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bcv-dhu-writer escribe la DHU (criterios de aceptación, endpoints, mapa técnico)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Implementar desde la spec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bcv-hu-implementer aplica la DHU en ramas feature (dry-run / apply)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Verificar / feedback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Linter + tests, revisión humana y gotchas que vuelven al contexto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que se Identificaron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133856"/>
            <a:ext cx="8321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identificó y construyó un pipeline de 3 skills principales, uno por cada paso del flujo SDD: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93776" y="1874520"/>
            <a:ext cx="1060704" cy="914400"/>
          </a:xfrm>
          <a:prstGeom prst="roundRect">
            <a:avLst>
              <a:gd name="adj" fmla="val 8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194767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 funcional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 de negocio</a:t>
            </a:r>
            <a:endParaRPr lang="en-US" sz="680" dirty="0"/>
          </a:p>
        </p:txBody>
      </p:sp>
      <p:sp>
        <p:nvSpPr>
          <p:cNvPr id="9" name="Text 6"/>
          <p:cNvSpPr/>
          <p:nvPr/>
        </p:nvSpPr>
        <p:spPr>
          <a:xfrm>
            <a:off x="1536192" y="1874520"/>
            <a:ext cx="173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91640" y="1874520"/>
            <a:ext cx="1060704" cy="914400"/>
          </a:xfrm>
          <a:prstGeom prst="roundRect">
            <a:avLst>
              <a:gd name="adj" fmla="val 8000"/>
            </a:avLst>
          </a:prstGeom>
          <a:solidFill>
            <a:srgbClr val="0072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28216" y="194767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bcv-hu-context-analyzer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28216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 código con graphify</a:t>
            </a:r>
            <a:endParaRPr lang="en-US" sz="680" dirty="0"/>
          </a:p>
        </p:txBody>
      </p:sp>
      <p:sp>
        <p:nvSpPr>
          <p:cNvPr id="13" name="Text 10"/>
          <p:cNvSpPr/>
          <p:nvPr/>
        </p:nvSpPr>
        <p:spPr>
          <a:xfrm>
            <a:off x="2734056" y="1874520"/>
            <a:ext cx="173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89504" y="1874520"/>
            <a:ext cx="1060704" cy="914400"/>
          </a:xfrm>
          <a:prstGeom prst="roundRect">
            <a:avLst>
              <a:gd name="adj" fmla="val 8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194767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Contexto técnico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26080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.context/hu-&lt;codigo&gt;.md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3931920" y="1874520"/>
            <a:ext cx="173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87368" y="1874520"/>
            <a:ext cx="1060704" cy="914400"/>
          </a:xfrm>
          <a:prstGeom prst="roundRect">
            <a:avLst>
              <a:gd name="adj" fmla="val 8000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23944" y="194767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bcv-dhu-writer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123944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 especificación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5129784" y="1874520"/>
            <a:ext cx="173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285232" y="1874520"/>
            <a:ext cx="1060704" cy="914400"/>
          </a:xfrm>
          <a:prstGeom prst="roundRect">
            <a:avLst>
              <a:gd name="adj" fmla="val 8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1808" y="194767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DHU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321808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ibk-hu-technical-refinement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6327648" y="1874520"/>
            <a:ext cx="173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483096" y="1874520"/>
            <a:ext cx="1060704" cy="914400"/>
          </a:xfrm>
          <a:prstGeom prst="roundRect">
            <a:avLst>
              <a:gd name="adj" fmla="val 8000"/>
            </a:avLst>
          </a:prstGeom>
          <a:solidFill>
            <a:srgbClr val="F9E7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19672" y="194767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bcv-hu-implementer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519672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 desde la spec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7525512" y="1874520"/>
            <a:ext cx="173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D6D6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680960" y="1874520"/>
            <a:ext cx="1060704" cy="914400"/>
          </a:xfrm>
          <a:prstGeom prst="roundRect">
            <a:avLst>
              <a:gd name="adj" fmla="val 8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17536" y="1947672"/>
            <a:ext cx="9875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Código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717536" y="2423160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ramas feature + tests</a:t>
            </a:r>
            <a:endParaRPr lang="en-US" sz="680" dirty="0"/>
          </a:p>
        </p:txBody>
      </p:sp>
      <p:sp>
        <p:nvSpPr>
          <p:cNvPr id="33" name="Shape 30"/>
          <p:cNvSpPr/>
          <p:nvPr/>
        </p:nvSpPr>
        <p:spPr>
          <a:xfrm>
            <a:off x="365760" y="3246120"/>
            <a:ext cx="8503920" cy="1188720"/>
          </a:xfrm>
          <a:prstGeom prst="roundRect">
            <a:avLst>
              <a:gd name="adj" fmla="val 4615"/>
            </a:avLst>
          </a:prstGeom>
          <a:solidFill>
            <a:srgbClr val="112240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34015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Primera entrega: un plan de tareas validado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94360" y="3703320"/>
            <a:ext cx="80467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bcv-hu-context-analyzer (research con graphify) y bcv-dhu-writer (especificación) ejecutan la primera parte del pipeline y entregan un plan de tareas (la DHU) validado. Desde ahí, bcv-hu-implementer aplica el plan y genera el código, iterando con el feedback del equipo dev.</a:t>
            </a:r>
            <a:endParaRPr lang="en-US" sz="1050" dirty="0"/>
          </a:p>
        </p:txBody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Resultados (hitos medidos)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078992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dos primeros ejercicios con el equipo dev del banco cuantificaron el ahorro frente a la forma tradicional: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99032"/>
          <a:ext cx="8503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606040"/>
                <a:gridCol w="640080"/>
                <a:gridCol w="777240"/>
                <a:gridCol w="777240"/>
                <a:gridCol w="137160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Usuario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HU / EVT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Compl.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Tradic. (h)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Copilot (h)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Skill+Graphify (h)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Ahorro</a:t>
                      </a:r>
                      <a:endParaRPr lang="en-US" sz="10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9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Fernando Camargo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Identificación de canal OneAPP en trama Postmortem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Lionel Gonzales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[EVT] Arquitectura cluster-to-cluster – Paquete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79 %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B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2E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Fernando Camargo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65760" y="29992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 · complejidad baja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11880" y="2779776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11880" y="277977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75 %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65760" y="3218688"/>
          <a:ext cx="4114800" cy="1152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7"/>
          <p:cNvSpPr/>
          <p:nvPr/>
        </p:nvSpPr>
        <p:spPr>
          <a:xfrm>
            <a:off x="2999232" y="3255264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-75 %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754880" y="277977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Lionel Gonzales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754880" y="29992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EVT · complejidad media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8001000" y="2779776"/>
            <a:ext cx="868680" cy="402336"/>
          </a:xfrm>
          <a:prstGeom prst="roundRect">
            <a:avLst>
              <a:gd name="adj" fmla="val 22727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001000" y="277977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79 %
</a:t>
            </a:r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070F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ahorro</a:t>
            </a:r>
            <a:endParaRPr lang="en-US" sz="14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4754880" y="3218688"/>
          <a:ext cx="4114800" cy="11521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Text 12"/>
          <p:cNvSpPr/>
          <p:nvPr/>
        </p:nvSpPr>
        <p:spPr>
          <a:xfrm>
            <a:off x="7388352" y="3255264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B5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-79 %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57200" y="4526280"/>
            <a:ext cx="813816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caso de mayor complejidad (Lionel Gonzales), pasar de 48 h a 10 h equivale a un ahorro de ~79 % (~4 días de implementación).</a:t>
            </a:r>
            <a:endParaRPr lang="en-US" sz="10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Roadmap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097280"/>
            <a:ext cx="1839976" cy="292608"/>
          </a:xfrm>
          <a:prstGeom prst="roundRect">
            <a:avLst>
              <a:gd name="adj" fmla="val 50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97280"/>
            <a:ext cx="183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1408176"/>
            <a:ext cx="183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13–26 ago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5760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1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13–19 ago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0624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Consolidación de repos + entorno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5760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Arranque de los 3 skills del pipeline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317752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7752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2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20–26 ago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17752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72616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Adopción de graphify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317752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2616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de HU con equipo dev (primer ejercicio real)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2269744" y="1097280"/>
            <a:ext cx="1839976" cy="292608"/>
          </a:xfrm>
          <a:prstGeom prst="roundRect">
            <a:avLst>
              <a:gd name="adj" fmla="val 50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69744" y="1097280"/>
            <a:ext cx="183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2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69744" y="1408176"/>
            <a:ext cx="183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ago–09 sep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269744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269744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3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ago–02 sep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269744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324608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Iteración de los skills del pipeline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269744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24608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 EVT con equipo dev (context-analyzer → DHU → código)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221736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21736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70F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4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1E3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03–09 sep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21736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76600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feedback de la ejecución EVT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221736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00CB5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76600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Iterar skills del pipeline con código real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173728" y="1097280"/>
            <a:ext cx="1839976" cy="292608"/>
          </a:xfrm>
          <a:prstGeom prst="roundRect">
            <a:avLst>
              <a:gd name="adj" fmla="val 50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173728" y="1097280"/>
            <a:ext cx="1839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3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173728" y="1408176"/>
            <a:ext cx="183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10–23 sep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173728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173728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5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10–16 sep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173728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228592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adicionales: bcv-hexagonal-architecture y bcv-openapi-design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4173728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228592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 bcv-spring-data-jpa-sql-server (persistencia SQL Server)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125720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25720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6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17–23 sep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125720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80584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el pipeline completo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125720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80584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bcv-hu-implementer (dry-run → apply)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6077712" y="1097280"/>
            <a:ext cx="2791968" cy="292608"/>
          </a:xfrm>
          <a:prstGeom prst="roundRect">
            <a:avLst>
              <a:gd name="adj" fmla="val 50000"/>
            </a:avLst>
          </a:prstGeom>
          <a:solidFill>
            <a:srgbClr val="005B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077712" y="1097280"/>
            <a:ext cx="2791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SPRINT 4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6077712" y="1408176"/>
            <a:ext cx="279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sep–09 oct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6077712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077712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7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24–30 sep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6077712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132576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equipo dev del banco (entorno propio)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6077712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32576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Ciclo: ajustar → regenerar → revalidar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029704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029704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8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01–07 oct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029704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084568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Estabilización final de skills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7029704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084568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Documentación, onboarding y demo al cliente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7981696" y="1645920"/>
            <a:ext cx="887984" cy="365760"/>
          </a:xfrm>
          <a:prstGeom prst="roundRect">
            <a:avLst>
              <a:gd name="adj" fmla="val 35000"/>
            </a:avLst>
          </a:prstGeom>
          <a:solidFill>
            <a:srgbClr val="1A2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7981696" y="1645920"/>
            <a:ext cx="88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
</a:t>
            </a:r>
            <a:pPr algn="ctr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08–09 oct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7981696" y="2103120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036560" y="2157984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final de entregables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7981696" y="3255264"/>
            <a:ext cx="887984" cy="1078992"/>
          </a:xfrm>
          <a:prstGeom prst="roundRect">
            <a:avLst>
              <a:gd name="adj" fmla="val 8238"/>
            </a:avLst>
          </a:prstGeom>
          <a:solidFill>
            <a:srgbClr val="0A1A2E"/>
          </a:solidFill>
          <a:ln w="15875">
            <a:solidFill>
              <a:srgbClr val="1A2B4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036560" y="3310128"/>
            <a:ext cx="77825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Traspaso a cargo de Oscar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5440680" y="40233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00CB5D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614416" y="3611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Completada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6355080" y="40233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F9E795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528816" y="3611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7132320" y="402336"/>
            <a:ext cx="128016" cy="128016"/>
          </a:xfrm>
          <a:prstGeom prst="roundRect">
            <a:avLst>
              <a:gd name="adj" fmla="val 35714"/>
            </a:avLst>
          </a:prstGeom>
          <a:solidFill>
            <a:srgbClr val="1A2B4A"/>
          </a:solidFill>
          <a:ln w="6350">
            <a:solidFill>
              <a:srgbClr val="D6D6D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306056" y="36118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800" dirty="0"/>
          </a:p>
        </p:txBody>
      </p:sp>
      <p:pic>
        <p:nvPicPr>
          <p:cNvPr id="7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78" name="Text 74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Próximos Pasos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005840"/>
            <a:ext cx="1097280" cy="27432"/>
          </a:xfrm>
          <a:prstGeom prst="rect">
            <a:avLst/>
          </a:prstGeom>
          <a:solidFill>
            <a:srgbClr val="00DF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65760" y="1234440"/>
            <a:ext cx="8503920" cy="960120"/>
          </a:xfrm>
          <a:prstGeom prst="roundRect">
            <a:avLst>
              <a:gd name="adj" fmla="val 5714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540764"/>
            <a:ext cx="347472" cy="347472"/>
          </a:xfrm>
          <a:prstGeom prst="ellipse">
            <a:avLst/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540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3441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adicionales: bcv-hexagonal-architecture y bcv-openapi-design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3000" y="1636776"/>
            <a:ext cx="74980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Complementan el pipeline: hexagonal-architecture define el patrón de todo el código, y openapi-design define lo que se expone y valida la HU contra su contrato. bcv-spring-data-jpa-sql-server (persistencia SQL Server, usada por casi toda HU) se suma como tercer complemento.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2313432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505456"/>
            <a:ext cx="347472" cy="347472"/>
          </a:xfrm>
          <a:prstGeom prst="ellipse">
            <a:avLst/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43000" y="2423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Iterar los skills en las próximas HUs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143000" y="2715768"/>
            <a:ext cx="7498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su cobertura con casos de uso adicionales del banco, sobre Historias de Usuario reales.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163824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3355848"/>
            <a:ext cx="347472" cy="347472"/>
          </a:xfrm>
          <a:prstGeom prst="ellipse">
            <a:avLst/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43000" y="3273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Oscar queda a cargo del proyecto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43000" y="3566160"/>
            <a:ext cx="7498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 el traspaso del Arquitecto IA (10 sep): soporte continuo y afinación de los skills.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4014216"/>
            <a:ext cx="8503920" cy="731520"/>
          </a:xfrm>
          <a:prstGeom prst="roundRect">
            <a:avLst>
              <a:gd name="adj" fmla="val 7500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" y="4206240"/>
            <a:ext cx="347472" cy="347472"/>
          </a:xfrm>
          <a:prstGeom prst="ellipse">
            <a:avLst/>
          </a:prstGeom>
          <a:solidFill>
            <a:srgbClr val="00CB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43000" y="41239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Refinar los skills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43000" y="4416552"/>
            <a:ext cx="74980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más código real y el feedback continuo del equipo dev del banco.</a:t>
            </a:r>
            <a:endParaRPr lang="en-US" sz="10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320040"/>
            <a:ext cx="822960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IA para el Ecosistema BCV/BACC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DFE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Pipeline HU → DHU → código · 3 skills · ~85 % menos tokens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1371600" y="3200400"/>
            <a:ext cx="6675120" cy="1005840"/>
          </a:xfrm>
          <a:prstGeom prst="roundRect">
            <a:avLst>
              <a:gd name="adj" fmla="val 5455"/>
            </a:avLst>
          </a:prstGeom>
          <a:solidFill>
            <a:srgbClr val="0A1A2E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34290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pasos: iterar y refinar los skills en las próximas HUs, con Oscar a cargo del proyecto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89520" y="228600"/>
            <a:ext cx="1188720" cy="1188720"/>
          </a:xfrm>
          <a:prstGeom prst="ellipse">
            <a:avLst/>
          </a:prstGeom>
          <a:solidFill>
            <a:srgbClr val="0072B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01000" y="502920"/>
            <a:ext cx="640080" cy="640080"/>
          </a:xfrm>
          <a:prstGeom prst="ellipse">
            <a:avLst/>
          </a:prstGeom>
          <a:solidFill>
            <a:srgbClr val="00DFED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892040"/>
            <a:ext cx="822960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4892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NTT DATA, Inc.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59536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Adaptación de Skills IA para el Ecosistema BCV/BACC — Resumen</dc:title>
  <dc:subject>Presentación Ejecutiva (Resumen) — Skills IA · BCV/BACC</dc:subject>
  <dc:creator>NTT DATA</dc:creator>
  <cp:lastModifiedBy>NTT DATA</cp:lastModifiedBy>
  <cp:revision>1</cp:revision>
  <dcterms:created xsi:type="dcterms:W3CDTF">2026-09-10T18:06:34Z</dcterms:created>
  <dcterms:modified xsi:type="dcterms:W3CDTF">2026-09-10T18:06:34Z</dcterms:modified>
</cp:coreProperties>
</file>