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360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108" y="18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Horas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758-41F7-B1EF-0B92D542BB5A}"/>
              </c:ext>
            </c:extLst>
          </c:dPt>
          <c:dPt>
            <c:idx val="1"/>
            <c:invertIfNegative val="0"/>
            <c:bubble3D val="0"/>
            <c:spPr>
              <a:solidFill>
                <a:srgbClr val="F9E79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758-41F7-B1EF-0B92D542BB5A}"/>
              </c:ext>
            </c:extLst>
          </c:dPt>
          <c:dPt>
            <c:idx val="2"/>
            <c:invertIfNegative val="0"/>
            <c:bubble3D val="0"/>
            <c:spPr>
              <a:solidFill>
                <a:srgbClr val="00CB5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758-41F7-B1EF-0B92D542BB5A}"/>
              </c:ext>
            </c:extLst>
          </c:dPt>
          <c:dLbls>
            <c:numFmt formatCode="0&quot;h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1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s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Tradicional</c:v>
                </c:pt>
                <c:pt idx="1">
                  <c:v>Copilot</c:v>
                </c:pt>
                <c:pt idx="2">
                  <c:v>Skill +
Graphify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</c:v>
                </c:pt>
                <c:pt idx="1">
                  <c:v>4</c:v>
                </c:pt>
                <c:pt idx="2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758-41F7-B1EF-0B92D542BB5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A2B4A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D6D6D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"/>
          <c:min val="0"/>
        </c:scaling>
        <c:delete val="1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Horas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7FC-4C9D-BF22-473D4480D323}"/>
              </c:ext>
            </c:extLst>
          </c:dPt>
          <c:dPt>
            <c:idx val="1"/>
            <c:invertIfNegative val="0"/>
            <c:bubble3D val="0"/>
            <c:spPr>
              <a:solidFill>
                <a:srgbClr val="F9E79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7FC-4C9D-BF22-473D4480D323}"/>
              </c:ext>
            </c:extLst>
          </c:dPt>
          <c:dPt>
            <c:idx val="2"/>
            <c:invertIfNegative val="0"/>
            <c:bubble3D val="0"/>
            <c:spPr>
              <a:solidFill>
                <a:srgbClr val="00CB5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7FC-4C9D-BF22-473D4480D323}"/>
              </c:ext>
            </c:extLst>
          </c:dPt>
          <c:dLbls>
            <c:numFmt formatCode="0&quot;h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1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s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Tradicional</c:v>
                </c:pt>
                <c:pt idx="1">
                  <c:v>Copilot</c:v>
                </c:pt>
                <c:pt idx="2">
                  <c:v>Skill +
Graphify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</c:v>
                </c:pt>
                <c:pt idx="1">
                  <c:v>40</c:v>
                </c:pt>
                <c:pt idx="2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7FC-4C9D-BF22-473D4480D32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A2B4A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D6D6D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2"/>
          <c:min val="0"/>
        </c:scaling>
        <c:delete val="1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1504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2830A7B-0EDE-414B-8E8C-20F574EA8F6D}" type="slidenum">
              <a:rPr kumimoji="0" lang="es-P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P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06836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0C3BB7C-B4A7-41A4-8C5A-903570B607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379792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svg"/><Relationship Id="rId18" Type="http://schemas.openxmlformats.org/officeDocument/2006/relationships/image" Target="../media/image17.svg"/><Relationship Id="rId26" Type="http://schemas.openxmlformats.org/officeDocument/2006/relationships/image" Target="../media/image25.svg"/><Relationship Id="rId3" Type="http://schemas.openxmlformats.org/officeDocument/2006/relationships/image" Target="../media/image2.png"/><Relationship Id="rId21" Type="http://schemas.openxmlformats.org/officeDocument/2006/relationships/image" Target="../media/image20.svg"/><Relationship Id="rId7" Type="http://schemas.openxmlformats.org/officeDocument/2006/relationships/image" Target="../media/image6.svg"/><Relationship Id="rId12" Type="http://schemas.openxmlformats.org/officeDocument/2006/relationships/image" Target="../media/image11.svg"/><Relationship Id="rId17" Type="http://schemas.openxmlformats.org/officeDocument/2006/relationships/image" Target="../media/image16.svg"/><Relationship Id="rId25" Type="http://schemas.openxmlformats.org/officeDocument/2006/relationships/image" Target="../media/image24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5.svg"/><Relationship Id="rId20" Type="http://schemas.openxmlformats.org/officeDocument/2006/relationships/image" Target="../media/image19.sv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11" Type="http://schemas.openxmlformats.org/officeDocument/2006/relationships/image" Target="../media/image10.svg"/><Relationship Id="rId24" Type="http://schemas.openxmlformats.org/officeDocument/2006/relationships/image" Target="../media/image23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22.svg"/><Relationship Id="rId28" Type="http://schemas.openxmlformats.org/officeDocument/2006/relationships/image" Target="../media/image27.png"/><Relationship Id="rId10" Type="http://schemas.openxmlformats.org/officeDocument/2006/relationships/image" Target="../media/image9.svg"/><Relationship Id="rId19" Type="http://schemas.openxmlformats.org/officeDocument/2006/relationships/image" Target="../media/image18.svg"/><Relationship Id="rId4" Type="http://schemas.openxmlformats.org/officeDocument/2006/relationships/image" Target="../media/image3.svg"/><Relationship Id="rId9" Type="http://schemas.openxmlformats.org/officeDocument/2006/relationships/image" Target="../media/image8.svg"/><Relationship Id="rId14" Type="http://schemas.openxmlformats.org/officeDocument/2006/relationships/image" Target="../media/image13.svg"/><Relationship Id="rId22" Type="http://schemas.openxmlformats.org/officeDocument/2006/relationships/image" Target="../media/image21.svg"/><Relationship Id="rId27" Type="http://schemas.openxmlformats.org/officeDocument/2006/relationships/image" Target="../media/image2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2.xml"/><Relationship Id="rId4" Type="http://schemas.openxmlformats.org/officeDocument/2006/relationships/chart" Target="../charts/char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9601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Adaptación de Skills IA</a:t>
            </a:r>
            <a:endParaRPr lang="en-US" sz="4000" dirty="0"/>
          </a:p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al Ecosistema BCV/BACC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457200" y="26060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Presentación Ejecutiva — Resumen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3246120"/>
            <a:ext cx="8503920" cy="1280160"/>
          </a:xfrm>
          <a:prstGeom prst="roundRect">
            <a:avLst>
              <a:gd name="adj" fmla="val 4286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685800" y="342900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Proyecto: skills de agente IA para los microservicios backend de Apertura de Cuentas Comerciales (BACC)</a:t>
            </a:r>
            <a:endParaRPr lang="en-US" sz="11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Ecosistema: BCV/BACC · Interbank · Entregable: NTT DATA</a:t>
            </a:r>
            <a:endParaRPr lang="en-US" sz="11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Cronograma: 13 ago → 09 oct 2026 · Sprint 2 en curso (4 sprints de 2 semanas)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7680960" y="685800"/>
            <a:ext cx="1371600" cy="1371600"/>
          </a:xfrm>
          <a:prstGeom prst="ellipse">
            <a:avLst/>
          </a:prstGeom>
          <a:solidFill>
            <a:srgbClr val="0072BC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Shape 5"/>
          <p:cNvSpPr/>
          <p:nvPr/>
        </p:nvSpPr>
        <p:spPr>
          <a:xfrm>
            <a:off x="8183880" y="1051560"/>
            <a:ext cx="640080" cy="640080"/>
          </a:xfrm>
          <a:prstGeom prst="ellipse">
            <a:avLst/>
          </a:prstGeom>
          <a:solidFill>
            <a:srgbClr val="00DFED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5F2CC03A-4950-3A7E-59E2-85C27A2C5C5F}"/>
              </a:ext>
            </a:extLst>
          </p:cNvPr>
          <p:cNvSpPr/>
          <p:nvPr/>
        </p:nvSpPr>
        <p:spPr>
          <a:xfrm>
            <a:off x="0" y="859931"/>
            <a:ext cx="9146141" cy="4443984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pPr defTabSz="685800"/>
            <a:endParaRPr lang="es-PE" sz="135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0CBA8FF-C323-F1AF-C07A-14CEDBA948A7}"/>
              </a:ext>
            </a:extLst>
          </p:cNvPr>
          <p:cNvSpPr/>
          <p:nvPr/>
        </p:nvSpPr>
        <p:spPr>
          <a:xfrm>
            <a:off x="306163" y="174011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r>
              <a:rPr lang="en-US" b="1">
                <a:solidFill>
                  <a:srgbClr val="FFFFFF"/>
                </a:solidFill>
                <a:latin typeface="Arial"/>
                <a:ea typeface="Poppins"/>
                <a:cs typeface="Poppins"/>
                <a:sym typeface="Poppins"/>
              </a:rPr>
              <a:t>Plan de </a:t>
            </a:r>
            <a:r>
              <a:rPr lang="en-US" b="1" err="1">
                <a:solidFill>
                  <a:srgbClr val="FFFFFF"/>
                </a:solidFill>
                <a:latin typeface="Arial"/>
                <a:ea typeface="Poppins"/>
                <a:cs typeface="Poppins"/>
                <a:sym typeface="Poppins"/>
              </a:rPr>
              <a:t>Implementación</a:t>
            </a:r>
            <a:endParaRPr lang="en-US" b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B7DB7A5-89FF-E013-A159-36F60F92C783}"/>
              </a:ext>
            </a:extLst>
          </p:cNvPr>
          <p:cNvSpPr/>
          <p:nvPr/>
        </p:nvSpPr>
        <p:spPr>
          <a:xfrm>
            <a:off x="306163" y="427757"/>
            <a:ext cx="5486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r>
              <a:rPr lang="es-ES" sz="900" b="1">
                <a:solidFill>
                  <a:srgbClr val="19A3FC"/>
                </a:solidFill>
                <a:latin typeface="Lato"/>
                <a:ea typeface="Lato"/>
                <a:cs typeface="Lato"/>
                <a:sym typeface="Lato"/>
              </a:rPr>
              <a:t>Piloto: Alcance, duración y entregables (8 semanas)</a:t>
            </a:r>
            <a:endParaRPr lang="es-ES" sz="900">
              <a:solidFill>
                <a:srgbClr val="19A3FC"/>
              </a:solidFill>
              <a:latin typeface="Arial"/>
            </a:endParaRPr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0A74D0B9-24D8-7F88-92C8-B54AB4DD6EB3}"/>
              </a:ext>
            </a:extLst>
          </p:cNvPr>
          <p:cNvSpPr/>
          <p:nvPr/>
        </p:nvSpPr>
        <p:spPr>
          <a:xfrm>
            <a:off x="105016" y="880128"/>
            <a:ext cx="8709660" cy="2293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685800"/>
            <a:r>
              <a:rPr lang="es-ES" sz="1500" b="1">
                <a:solidFill>
                  <a:srgbClr val="1E293B"/>
                </a:solidFill>
                <a:latin typeface="Lato"/>
                <a:ea typeface="Lato"/>
                <a:cs typeface="Lato"/>
                <a:sym typeface="Lato"/>
              </a:rPr>
              <a:t>Iniciamos con un piloto en 1-2 </a:t>
            </a:r>
            <a:r>
              <a:rPr lang="es-ES" sz="1500" b="1" err="1">
                <a:solidFill>
                  <a:srgbClr val="1E293B"/>
                </a:solidFill>
                <a:latin typeface="Lato"/>
                <a:ea typeface="Lato"/>
                <a:cs typeface="Lato"/>
                <a:sym typeface="Lato"/>
              </a:rPr>
              <a:t>squads</a:t>
            </a:r>
            <a:r>
              <a:rPr lang="es-ES" sz="1500" b="1">
                <a:solidFill>
                  <a:srgbClr val="1E293B"/>
                </a:solidFill>
                <a:latin typeface="Lato"/>
                <a:ea typeface="Lato"/>
                <a:cs typeface="Lato"/>
                <a:sym typeface="Lato"/>
              </a:rPr>
              <a:t> para generar impacto real, </a:t>
            </a:r>
            <a:r>
              <a:rPr lang="es-ES" sz="1500" b="1" err="1">
                <a:solidFill>
                  <a:srgbClr val="1E293B"/>
                </a:solidFill>
                <a:latin typeface="Lato"/>
                <a:ea typeface="Lato"/>
                <a:cs typeface="Lato"/>
                <a:sym typeface="Lato"/>
              </a:rPr>
              <a:t>calidar</a:t>
            </a:r>
            <a:r>
              <a:rPr lang="es-ES" sz="1500" b="1">
                <a:solidFill>
                  <a:srgbClr val="1E293B"/>
                </a:solidFill>
                <a:latin typeface="Lato"/>
                <a:ea typeface="Lato"/>
                <a:cs typeface="Lato"/>
                <a:sym typeface="Lato"/>
              </a:rPr>
              <a:t> y preparar el escalamiento  </a:t>
            </a:r>
            <a:endParaRPr lang="es-ES" sz="1500" b="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Text 15">
            <a:extLst>
              <a:ext uri="{FF2B5EF4-FFF2-40B4-BE49-F238E27FC236}">
                <a16:creationId xmlns:a16="http://schemas.microsoft.com/office/drawing/2014/main" id="{CBD98BB5-BC4F-0050-E2AC-B74BEC232FD6}"/>
              </a:ext>
            </a:extLst>
          </p:cNvPr>
          <p:cNvSpPr/>
          <p:nvPr/>
        </p:nvSpPr>
        <p:spPr>
          <a:xfrm>
            <a:off x="1815209" y="3034877"/>
            <a:ext cx="198882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r>
              <a:rPr lang="en-US" sz="638">
                <a:solidFill>
                  <a:srgbClr val="FFFFFF"/>
                </a:solidFill>
                <a:latin typeface="Arial"/>
              </a:rPr>
              <a:t>El </a:t>
            </a:r>
            <a:r>
              <a:rPr lang="en-US" sz="638" err="1">
                <a:solidFill>
                  <a:srgbClr val="FFFFFF"/>
                </a:solidFill>
                <a:latin typeface="Arial"/>
              </a:rPr>
              <a:t>desarrollador</a:t>
            </a:r>
            <a:r>
              <a:rPr lang="en-US" sz="638">
                <a:solidFill>
                  <a:srgbClr val="FFFFFF"/>
                </a:solidFill>
                <a:latin typeface="Arial"/>
              </a:rPr>
              <a:t> describe lo </a:t>
            </a:r>
            <a:r>
              <a:rPr lang="en-US" sz="638" err="1">
                <a:solidFill>
                  <a:srgbClr val="FFFFFF"/>
                </a:solidFill>
                <a:latin typeface="Arial"/>
              </a:rPr>
              <a:t>que</a:t>
            </a:r>
            <a:r>
              <a:rPr lang="en-US" sz="638">
                <a:solidFill>
                  <a:srgbClr val="FFFFFF"/>
                </a:solidFill>
                <a:latin typeface="Arial"/>
              </a:rPr>
              <a:t> </a:t>
            </a:r>
            <a:r>
              <a:rPr lang="en-US" sz="638" err="1">
                <a:solidFill>
                  <a:srgbClr val="FFFFFF"/>
                </a:solidFill>
                <a:latin typeface="Arial"/>
              </a:rPr>
              <a:t>necesita</a:t>
            </a:r>
            <a:r>
              <a:rPr lang="en-US" sz="638">
                <a:solidFill>
                  <a:srgbClr val="FFFFFF"/>
                </a:solidFill>
                <a:latin typeface="Arial"/>
              </a:rPr>
              <a:t> </a:t>
            </a:r>
            <a:r>
              <a:rPr lang="en-US" sz="638" err="1">
                <a:solidFill>
                  <a:srgbClr val="FFFFFF"/>
                </a:solidFill>
                <a:latin typeface="Arial"/>
              </a:rPr>
              <a:t>en</a:t>
            </a:r>
            <a:r>
              <a:rPr lang="en-US" sz="638">
                <a:solidFill>
                  <a:srgbClr val="FFFFFF"/>
                </a:solidFill>
                <a:latin typeface="Arial"/>
              </a:rPr>
              <a:t> </a:t>
            </a:r>
            <a:r>
              <a:rPr lang="en-US" sz="638" err="1">
                <a:solidFill>
                  <a:srgbClr val="FFFFFF"/>
                </a:solidFill>
                <a:latin typeface="Arial"/>
              </a:rPr>
              <a:t>lenguaje</a:t>
            </a:r>
            <a:r>
              <a:rPr lang="en-US" sz="638">
                <a:solidFill>
                  <a:srgbClr val="FFFFFF"/>
                </a:solidFill>
                <a:latin typeface="Arial"/>
              </a:rPr>
              <a:t> natural.</a:t>
            </a:r>
            <a:endParaRPr lang="en-US" sz="638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378799B6-0558-36B4-F368-A6DCA3CB07AF}"/>
              </a:ext>
            </a:extLst>
          </p:cNvPr>
          <p:cNvSpPr/>
          <p:nvPr/>
        </p:nvSpPr>
        <p:spPr>
          <a:xfrm>
            <a:off x="235574" y="1199756"/>
            <a:ext cx="2025588" cy="2075038"/>
          </a:xfrm>
          <a:prstGeom prst="roundRect">
            <a:avLst>
              <a:gd name="adj" fmla="val 9457"/>
            </a:avLst>
          </a:prstGeom>
          <a:solidFill>
            <a:schemeClr val="bg1"/>
          </a:solidFill>
          <a:ln w="28575">
            <a:solidFill>
              <a:srgbClr val="0D1F3C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81000" tIns="54000" rIns="81000" bIns="54000" rtlCol="0" anchor="ctr"/>
          <a:lstStyle/>
          <a:p>
            <a:pPr algn="ctr" defTabSz="685800">
              <a:lnSpc>
                <a:spcPct val="110000"/>
              </a:lnSpc>
              <a:spcBef>
                <a:spcPts val="450"/>
              </a:spcBef>
            </a:pPr>
            <a:endParaRPr lang="es-PE" sz="150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Shape 17">
            <a:extLst>
              <a:ext uri="{FF2B5EF4-FFF2-40B4-BE49-F238E27FC236}">
                <a16:creationId xmlns:a16="http://schemas.microsoft.com/office/drawing/2014/main" id="{7883B852-EBD0-9D0F-5B50-2376E15B09CF}"/>
              </a:ext>
            </a:extLst>
          </p:cNvPr>
          <p:cNvSpPr/>
          <p:nvPr/>
        </p:nvSpPr>
        <p:spPr>
          <a:xfrm>
            <a:off x="276342" y="1799812"/>
            <a:ext cx="1920241" cy="411480"/>
          </a:xfrm>
          <a:prstGeom prst="roundRect">
            <a:avLst/>
          </a:prstGeom>
          <a:solidFill>
            <a:schemeClr val="bg2">
              <a:lumMod val="20000"/>
              <a:lumOff val="8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pPr defTabSz="685800"/>
            <a:endParaRPr lang="es-PE" sz="135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C226A92C-B347-2459-2903-35E73BFD39E9}"/>
              </a:ext>
            </a:extLst>
          </p:cNvPr>
          <p:cNvSpPr/>
          <p:nvPr/>
        </p:nvSpPr>
        <p:spPr>
          <a:xfrm>
            <a:off x="812405" y="1807929"/>
            <a:ext cx="980826" cy="2534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r>
              <a:rPr lang="en-US" sz="600" b="1">
                <a:solidFill>
                  <a:srgbClr val="002060"/>
                </a:solidFill>
                <a:latin typeface="Arial"/>
              </a:rPr>
              <a:t>ASSI BCV / BACC</a:t>
            </a: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9AE152D9-D634-F540-1332-40C61E14C387}"/>
              </a:ext>
            </a:extLst>
          </p:cNvPr>
          <p:cNvSpPr/>
          <p:nvPr/>
        </p:nvSpPr>
        <p:spPr>
          <a:xfrm>
            <a:off x="240278" y="1607657"/>
            <a:ext cx="198882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r>
              <a:rPr lang="en-US" sz="638" b="1" err="1">
                <a:solidFill>
                  <a:srgbClr val="1565C0"/>
                </a:solidFill>
                <a:latin typeface="Arial"/>
              </a:rPr>
              <a:t>Incluye</a:t>
            </a:r>
            <a:r>
              <a:rPr lang="en-US" sz="638" b="1">
                <a:solidFill>
                  <a:srgbClr val="1565C0"/>
                </a:solidFill>
                <a:latin typeface="Arial"/>
              </a:rPr>
              <a:t>:</a:t>
            </a:r>
            <a:endParaRPr lang="en-US" sz="638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Rectángulo: esquinas redondeadas 21">
            <a:extLst>
              <a:ext uri="{FF2B5EF4-FFF2-40B4-BE49-F238E27FC236}">
                <a16:creationId xmlns:a16="http://schemas.microsoft.com/office/drawing/2014/main" id="{D4B830CE-9796-64DE-DA88-3AD8E2D9336B}"/>
              </a:ext>
            </a:extLst>
          </p:cNvPr>
          <p:cNvSpPr/>
          <p:nvPr/>
        </p:nvSpPr>
        <p:spPr>
          <a:xfrm>
            <a:off x="4612095" y="1204371"/>
            <a:ext cx="2025588" cy="2075038"/>
          </a:xfrm>
          <a:prstGeom prst="roundRect">
            <a:avLst>
              <a:gd name="adj" fmla="val 9457"/>
            </a:avLst>
          </a:prstGeom>
          <a:solidFill>
            <a:schemeClr val="bg1"/>
          </a:solidFill>
          <a:ln w="28575">
            <a:solidFill>
              <a:srgbClr val="0D1F3C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81000" tIns="54000" rIns="81000" bIns="54000" rtlCol="0" anchor="ctr"/>
          <a:lstStyle/>
          <a:p>
            <a:pPr algn="ctr" defTabSz="685800">
              <a:lnSpc>
                <a:spcPct val="110000"/>
              </a:lnSpc>
              <a:spcBef>
                <a:spcPts val="450"/>
              </a:spcBef>
            </a:pPr>
            <a:endParaRPr lang="es-PE" sz="150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7A00C682-EF1B-164D-4E3F-564F16AECDAE}"/>
              </a:ext>
            </a:extLst>
          </p:cNvPr>
          <p:cNvSpPr/>
          <p:nvPr/>
        </p:nvSpPr>
        <p:spPr>
          <a:xfrm>
            <a:off x="6782617" y="1207674"/>
            <a:ext cx="2025588" cy="2075038"/>
          </a:xfrm>
          <a:prstGeom prst="roundRect">
            <a:avLst>
              <a:gd name="adj" fmla="val 9457"/>
            </a:avLst>
          </a:prstGeom>
          <a:solidFill>
            <a:schemeClr val="bg1"/>
          </a:solidFill>
          <a:ln w="28575">
            <a:solidFill>
              <a:srgbClr val="0D1F3C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81000" tIns="54000" rIns="81000" bIns="54000" rtlCol="0" anchor="ctr"/>
          <a:lstStyle/>
          <a:p>
            <a:pPr algn="ctr" defTabSz="685800">
              <a:lnSpc>
                <a:spcPct val="110000"/>
              </a:lnSpc>
              <a:spcBef>
                <a:spcPts val="450"/>
              </a:spcBef>
            </a:pPr>
            <a:endParaRPr lang="es-PE" sz="150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55F833A7-C4A2-BBBD-8E42-8CF3933DAD47}"/>
              </a:ext>
            </a:extLst>
          </p:cNvPr>
          <p:cNvSpPr/>
          <p:nvPr/>
        </p:nvSpPr>
        <p:spPr>
          <a:xfrm>
            <a:off x="2445375" y="1186783"/>
            <a:ext cx="2025588" cy="2075038"/>
          </a:xfrm>
          <a:prstGeom prst="roundRect">
            <a:avLst>
              <a:gd name="adj" fmla="val 9457"/>
            </a:avLst>
          </a:prstGeom>
          <a:solidFill>
            <a:schemeClr val="bg1"/>
          </a:solidFill>
          <a:ln w="28575">
            <a:solidFill>
              <a:srgbClr val="0D1F3C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81000" tIns="54000" rIns="81000" bIns="54000" rtlCol="0" anchor="ctr"/>
          <a:lstStyle/>
          <a:p>
            <a:pPr algn="ctr" defTabSz="685800">
              <a:lnSpc>
                <a:spcPct val="110000"/>
              </a:lnSpc>
              <a:spcBef>
                <a:spcPts val="450"/>
              </a:spcBef>
            </a:pPr>
            <a:endParaRPr lang="es-PE" sz="150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123FC021-51E5-F931-EACD-261FF2CD3D7F}"/>
              </a:ext>
            </a:extLst>
          </p:cNvPr>
          <p:cNvSpPr/>
          <p:nvPr/>
        </p:nvSpPr>
        <p:spPr>
          <a:xfrm>
            <a:off x="2438146" y="1325065"/>
            <a:ext cx="37719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endParaRPr lang="en-US" sz="105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52117905-DA13-FB4F-28A6-5F48CF7BE7A4}"/>
              </a:ext>
            </a:extLst>
          </p:cNvPr>
          <p:cNvSpPr/>
          <p:nvPr/>
        </p:nvSpPr>
        <p:spPr>
          <a:xfrm>
            <a:off x="2472436" y="2667429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endParaRPr lang="en-US" sz="638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132E9C49-2FE7-2E3E-B3E7-53D0D442886C}"/>
              </a:ext>
            </a:extLst>
          </p:cNvPr>
          <p:cNvSpPr/>
          <p:nvPr/>
        </p:nvSpPr>
        <p:spPr>
          <a:xfrm>
            <a:off x="2472436" y="2907459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endParaRPr lang="en-US" sz="638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188805D4-25BD-2310-9A19-8AEBE3585335}"/>
              </a:ext>
            </a:extLst>
          </p:cNvPr>
          <p:cNvSpPr/>
          <p:nvPr/>
        </p:nvSpPr>
        <p:spPr>
          <a:xfrm>
            <a:off x="2472436" y="3183583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endParaRPr lang="en-US" sz="638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Text 32">
            <a:extLst>
              <a:ext uri="{FF2B5EF4-FFF2-40B4-BE49-F238E27FC236}">
                <a16:creationId xmlns:a16="http://schemas.microsoft.com/office/drawing/2014/main" id="{E98E506C-7BCE-AEB4-AC48-5FD17729A6A0}"/>
              </a:ext>
            </a:extLst>
          </p:cNvPr>
          <p:cNvSpPr/>
          <p:nvPr/>
        </p:nvSpPr>
        <p:spPr>
          <a:xfrm>
            <a:off x="4680712" y="1325065"/>
            <a:ext cx="37719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endParaRPr lang="en-US" sz="1050" b="1">
              <a:solidFill>
                <a:srgbClr val="FFFFFF"/>
              </a:solidFill>
              <a:latin typeface="Arial"/>
            </a:endParaRPr>
          </a:p>
          <a:p>
            <a:pPr algn="ctr" defTabSz="685800"/>
            <a:endParaRPr lang="en-US" sz="105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Text 36">
            <a:extLst>
              <a:ext uri="{FF2B5EF4-FFF2-40B4-BE49-F238E27FC236}">
                <a16:creationId xmlns:a16="http://schemas.microsoft.com/office/drawing/2014/main" id="{8B7B4190-40AD-6326-12AB-B6F58DDCC039}"/>
              </a:ext>
            </a:extLst>
          </p:cNvPr>
          <p:cNvSpPr/>
          <p:nvPr/>
        </p:nvSpPr>
        <p:spPr>
          <a:xfrm>
            <a:off x="4917028" y="1498830"/>
            <a:ext cx="1775930" cy="18190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r>
              <a:rPr lang="en-US" sz="750" err="1">
                <a:solidFill>
                  <a:srgbClr val="000000"/>
                </a:solidFill>
                <a:latin typeface="Arial"/>
              </a:rPr>
              <a:t>Revisión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de backlog al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inicio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del sprint para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identificar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oportunidades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de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uso</a:t>
            </a:r>
            <a:endParaRPr lang="en-US" sz="750">
              <a:solidFill>
                <a:srgbClr val="000000"/>
              </a:solidFill>
              <a:latin typeface="Arial"/>
            </a:endParaRPr>
          </a:p>
          <a:p>
            <a:pPr defTabSz="685800"/>
            <a:endParaRPr lang="en-US" sz="750">
              <a:solidFill>
                <a:srgbClr val="000000"/>
              </a:solidFill>
              <a:latin typeface="Arial"/>
            </a:endParaRPr>
          </a:p>
          <a:p>
            <a:pPr defTabSz="685800"/>
            <a:r>
              <a:rPr lang="en-US" sz="750" err="1">
                <a:solidFill>
                  <a:srgbClr val="000000"/>
                </a:solidFill>
                <a:latin typeface="Arial"/>
              </a:rPr>
              <a:t>Creación</a:t>
            </a:r>
            <a:r>
              <a:rPr lang="en-US" sz="750">
                <a:solidFill>
                  <a:srgbClr val="000000"/>
                </a:solidFill>
                <a:latin typeface="Arial"/>
              </a:rPr>
              <a:t>,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ajuste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y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ejecución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 de Agent Skills (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máximo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5)</a:t>
            </a:r>
          </a:p>
          <a:p>
            <a:pPr defTabSz="685800"/>
            <a:endParaRPr lang="en-US" sz="750">
              <a:solidFill>
                <a:srgbClr val="000000"/>
              </a:solidFill>
              <a:latin typeface="Arial"/>
            </a:endParaRPr>
          </a:p>
          <a:p>
            <a:pPr defTabSz="685800"/>
            <a:r>
              <a:rPr lang="en-US" sz="750">
                <a:solidFill>
                  <a:srgbClr val="000000"/>
                </a:solidFill>
                <a:latin typeface="Arial"/>
              </a:rPr>
              <a:t>Pair programming y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acompañamiento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en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la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implementación</a:t>
            </a:r>
            <a:r>
              <a:rPr lang="en-US" sz="750">
                <a:solidFill>
                  <a:srgbClr val="000000"/>
                </a:solidFill>
                <a:latin typeface="Arial"/>
              </a:rPr>
              <a:t>.</a:t>
            </a:r>
          </a:p>
          <a:p>
            <a:pPr defTabSz="685800"/>
            <a:endParaRPr lang="en-US" sz="750">
              <a:solidFill>
                <a:srgbClr val="000000"/>
              </a:solidFill>
              <a:latin typeface="Arial"/>
            </a:endParaRPr>
          </a:p>
          <a:p>
            <a:pPr defTabSz="685800"/>
            <a:r>
              <a:rPr lang="en-US" sz="750" err="1">
                <a:solidFill>
                  <a:srgbClr val="000000"/>
                </a:solidFill>
                <a:latin typeface="Arial"/>
              </a:rPr>
              <a:t>Medición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de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impacto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al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cierre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de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cada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sprint</a:t>
            </a:r>
          </a:p>
        </p:txBody>
      </p:sp>
      <p:sp>
        <p:nvSpPr>
          <p:cNvPr id="38" name="Text 37">
            <a:extLst>
              <a:ext uri="{FF2B5EF4-FFF2-40B4-BE49-F238E27FC236}">
                <a16:creationId xmlns:a16="http://schemas.microsoft.com/office/drawing/2014/main" id="{E445F0EB-387A-FD99-3EA4-881720105D45}"/>
              </a:ext>
            </a:extLst>
          </p:cNvPr>
          <p:cNvSpPr/>
          <p:nvPr/>
        </p:nvSpPr>
        <p:spPr>
          <a:xfrm>
            <a:off x="4715002" y="2667429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endParaRPr lang="en-US" sz="638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Text 38">
            <a:extLst>
              <a:ext uri="{FF2B5EF4-FFF2-40B4-BE49-F238E27FC236}">
                <a16:creationId xmlns:a16="http://schemas.microsoft.com/office/drawing/2014/main" id="{6DC90ADA-624A-4999-3916-ED3625F5B628}"/>
              </a:ext>
            </a:extLst>
          </p:cNvPr>
          <p:cNvSpPr/>
          <p:nvPr/>
        </p:nvSpPr>
        <p:spPr>
          <a:xfrm>
            <a:off x="4715002" y="2907459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endParaRPr lang="en-US" sz="638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Text 39">
            <a:extLst>
              <a:ext uri="{FF2B5EF4-FFF2-40B4-BE49-F238E27FC236}">
                <a16:creationId xmlns:a16="http://schemas.microsoft.com/office/drawing/2014/main" id="{1D48A582-AC51-22FD-CE61-832074577F9D}"/>
              </a:ext>
            </a:extLst>
          </p:cNvPr>
          <p:cNvSpPr/>
          <p:nvPr/>
        </p:nvSpPr>
        <p:spPr>
          <a:xfrm>
            <a:off x="4715002" y="3183583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endParaRPr lang="en-US" sz="638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Text 43">
            <a:extLst>
              <a:ext uri="{FF2B5EF4-FFF2-40B4-BE49-F238E27FC236}">
                <a16:creationId xmlns:a16="http://schemas.microsoft.com/office/drawing/2014/main" id="{C8D705F7-6FDB-36EF-5294-7058A4E2E9F1}"/>
              </a:ext>
            </a:extLst>
          </p:cNvPr>
          <p:cNvSpPr/>
          <p:nvPr/>
        </p:nvSpPr>
        <p:spPr>
          <a:xfrm>
            <a:off x="6887184" y="1325065"/>
            <a:ext cx="37719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endParaRPr lang="en-US" sz="1050" b="1">
              <a:solidFill>
                <a:srgbClr val="FFFFFF"/>
              </a:solidFill>
              <a:latin typeface="Arial"/>
            </a:endParaRPr>
          </a:p>
          <a:p>
            <a:pPr algn="ctr" defTabSz="685800"/>
            <a:endParaRPr lang="en-US" sz="105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Text 48">
            <a:extLst>
              <a:ext uri="{FF2B5EF4-FFF2-40B4-BE49-F238E27FC236}">
                <a16:creationId xmlns:a16="http://schemas.microsoft.com/office/drawing/2014/main" id="{DFD28861-4E2D-672E-123E-457052A0DFEA}"/>
              </a:ext>
            </a:extLst>
          </p:cNvPr>
          <p:cNvSpPr/>
          <p:nvPr/>
        </p:nvSpPr>
        <p:spPr>
          <a:xfrm>
            <a:off x="6955319" y="2579892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endParaRPr lang="en-US" sz="638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Text 49">
            <a:extLst>
              <a:ext uri="{FF2B5EF4-FFF2-40B4-BE49-F238E27FC236}">
                <a16:creationId xmlns:a16="http://schemas.microsoft.com/office/drawing/2014/main" id="{8A5D3297-C503-477A-52FD-319FED9F9BCF}"/>
              </a:ext>
            </a:extLst>
          </p:cNvPr>
          <p:cNvSpPr/>
          <p:nvPr/>
        </p:nvSpPr>
        <p:spPr>
          <a:xfrm>
            <a:off x="6955319" y="2819922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endParaRPr lang="en-US" sz="638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Text 50">
            <a:extLst>
              <a:ext uri="{FF2B5EF4-FFF2-40B4-BE49-F238E27FC236}">
                <a16:creationId xmlns:a16="http://schemas.microsoft.com/office/drawing/2014/main" id="{1F6E36C7-0EEE-0B41-EC9B-8EEEB95E81D2}"/>
              </a:ext>
            </a:extLst>
          </p:cNvPr>
          <p:cNvSpPr/>
          <p:nvPr/>
        </p:nvSpPr>
        <p:spPr>
          <a:xfrm>
            <a:off x="6955319" y="3059952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endParaRPr lang="en-US" sz="638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Rectángulo: esquinas redondeadas 65">
            <a:extLst>
              <a:ext uri="{FF2B5EF4-FFF2-40B4-BE49-F238E27FC236}">
                <a16:creationId xmlns:a16="http://schemas.microsoft.com/office/drawing/2014/main" id="{379FF67B-1A45-B038-6C5C-809DFFF88E5C}"/>
              </a:ext>
            </a:extLst>
          </p:cNvPr>
          <p:cNvSpPr/>
          <p:nvPr/>
        </p:nvSpPr>
        <p:spPr>
          <a:xfrm>
            <a:off x="240278" y="4459757"/>
            <a:ext cx="8567928" cy="547229"/>
          </a:xfrm>
          <a:prstGeom prst="roundRect">
            <a:avLst>
              <a:gd name="adj" fmla="val 31752"/>
            </a:avLst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1000" tIns="54000" rIns="81000" bIns="54000" rtlCol="0" anchor="ctr"/>
          <a:lstStyle/>
          <a:p>
            <a:pPr algn="ctr" defTabSz="685800">
              <a:lnSpc>
                <a:spcPct val="110000"/>
              </a:lnSpc>
              <a:spcBef>
                <a:spcPts val="450"/>
              </a:spcBef>
            </a:pPr>
            <a:endParaRPr lang="es-PE" sz="150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Text 62">
            <a:extLst>
              <a:ext uri="{FF2B5EF4-FFF2-40B4-BE49-F238E27FC236}">
                <a16:creationId xmlns:a16="http://schemas.microsoft.com/office/drawing/2014/main" id="{D07C1D66-5C46-46E4-AB73-6D5CE1F62719}"/>
              </a:ext>
            </a:extLst>
          </p:cNvPr>
          <p:cNvSpPr/>
          <p:nvPr/>
        </p:nvSpPr>
        <p:spPr>
          <a:xfrm>
            <a:off x="930339" y="4501312"/>
            <a:ext cx="2685566" cy="4442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r>
              <a:rPr lang="en-US" sz="788" b="1" err="1">
                <a:solidFill>
                  <a:srgbClr val="29B6F6"/>
                </a:solidFill>
                <a:latin typeface="Arial"/>
              </a:rPr>
              <a:t>Validamos</a:t>
            </a:r>
            <a:r>
              <a:rPr lang="en-US" sz="788" b="1">
                <a:solidFill>
                  <a:srgbClr val="29B6F6"/>
                </a:solidFill>
                <a:latin typeface="Arial"/>
              </a:rPr>
              <a:t> </a:t>
            </a:r>
            <a:r>
              <a:rPr lang="en-US" sz="788" b="1" err="1">
                <a:solidFill>
                  <a:srgbClr val="29B6F6"/>
                </a:solidFill>
                <a:latin typeface="Arial"/>
              </a:rPr>
              <a:t>el</a:t>
            </a:r>
            <a:r>
              <a:rPr lang="en-US" sz="788" b="1">
                <a:solidFill>
                  <a:srgbClr val="29B6F6"/>
                </a:solidFill>
                <a:latin typeface="Arial"/>
              </a:rPr>
              <a:t> </a:t>
            </a:r>
            <a:r>
              <a:rPr lang="en-US" sz="788" b="1" err="1">
                <a:solidFill>
                  <a:srgbClr val="29B6F6"/>
                </a:solidFill>
                <a:latin typeface="Arial"/>
              </a:rPr>
              <a:t>impacto</a:t>
            </a:r>
            <a:r>
              <a:rPr lang="en-US" sz="788" b="1">
                <a:solidFill>
                  <a:srgbClr val="29B6F6"/>
                </a:solidFill>
                <a:latin typeface="Arial"/>
              </a:rPr>
              <a:t> </a:t>
            </a:r>
            <a:r>
              <a:rPr lang="en-US" sz="788" b="1" err="1">
                <a:solidFill>
                  <a:srgbClr val="29B6F6"/>
                </a:solidFill>
                <a:latin typeface="Arial"/>
              </a:rPr>
              <a:t>en</a:t>
            </a:r>
            <a:r>
              <a:rPr lang="en-US" sz="788" b="1">
                <a:solidFill>
                  <a:srgbClr val="29B6F6"/>
                </a:solidFill>
                <a:latin typeface="Arial"/>
              </a:rPr>
              <a:t> 4 Sprints (8 Semanas) para </a:t>
            </a:r>
            <a:r>
              <a:rPr lang="en-US" sz="788" b="1" err="1">
                <a:solidFill>
                  <a:srgbClr val="29B6F6"/>
                </a:solidFill>
                <a:latin typeface="Arial"/>
              </a:rPr>
              <a:t>escalar</a:t>
            </a:r>
            <a:r>
              <a:rPr lang="en-US" sz="788" b="1">
                <a:solidFill>
                  <a:srgbClr val="29B6F6"/>
                </a:solidFill>
                <a:latin typeface="Arial"/>
              </a:rPr>
              <a:t> con confianza y </a:t>
            </a:r>
            <a:r>
              <a:rPr lang="en-US" sz="788" b="1" err="1">
                <a:solidFill>
                  <a:srgbClr val="29B6F6"/>
                </a:solidFill>
                <a:latin typeface="Arial"/>
              </a:rPr>
              <a:t>consistencia</a:t>
            </a:r>
            <a:endParaRPr lang="en-US" sz="788" b="1">
              <a:solidFill>
                <a:srgbClr val="29B6F6"/>
              </a:solidFill>
              <a:latin typeface="Arial"/>
            </a:endParaRPr>
          </a:p>
          <a:p>
            <a:pPr defTabSz="685800"/>
            <a:r>
              <a:rPr lang="en-US" sz="750">
                <a:solidFill>
                  <a:srgbClr val="FFFFFF"/>
                </a:solidFill>
                <a:latin typeface="Arial"/>
              </a:rPr>
              <a:t>La </a:t>
            </a:r>
            <a:r>
              <a:rPr lang="en-US" sz="750" err="1">
                <a:solidFill>
                  <a:srgbClr val="FFFFFF"/>
                </a:solidFill>
                <a:latin typeface="Arial"/>
              </a:rPr>
              <a:t>duración</a:t>
            </a:r>
            <a:r>
              <a:rPr lang="en-US" sz="750">
                <a:solidFill>
                  <a:srgbClr val="FFFFFF"/>
                </a:solidFill>
                <a:latin typeface="Arial"/>
              </a:rPr>
              <a:t> </a:t>
            </a:r>
            <a:r>
              <a:rPr lang="en-US" sz="750" err="1">
                <a:solidFill>
                  <a:srgbClr val="FFFFFF"/>
                </a:solidFill>
                <a:latin typeface="Arial"/>
              </a:rPr>
              <a:t>permite</a:t>
            </a:r>
            <a:r>
              <a:rPr lang="en-US" sz="750">
                <a:solidFill>
                  <a:srgbClr val="FFFFFF"/>
                </a:solidFill>
                <a:latin typeface="Arial"/>
              </a:rPr>
              <a:t> </a:t>
            </a:r>
            <a:r>
              <a:rPr lang="en-US" sz="750" err="1">
                <a:solidFill>
                  <a:srgbClr val="FFFFFF"/>
                </a:solidFill>
                <a:latin typeface="Arial"/>
              </a:rPr>
              <a:t>generar</a:t>
            </a:r>
            <a:r>
              <a:rPr lang="en-US" sz="750">
                <a:solidFill>
                  <a:srgbClr val="FFFFFF"/>
                </a:solidFill>
                <a:latin typeface="Arial"/>
              </a:rPr>
              <a:t> </a:t>
            </a:r>
            <a:r>
              <a:rPr lang="en-US" sz="750" err="1">
                <a:solidFill>
                  <a:srgbClr val="FFFFFF"/>
                </a:solidFill>
                <a:latin typeface="Arial"/>
              </a:rPr>
              <a:t>resultados</a:t>
            </a:r>
            <a:r>
              <a:rPr lang="en-US" sz="750">
                <a:solidFill>
                  <a:srgbClr val="FFFFFF"/>
                </a:solidFill>
                <a:latin typeface="Arial"/>
              </a:rPr>
              <a:t> </a:t>
            </a:r>
            <a:r>
              <a:rPr lang="en-US" sz="750" err="1">
                <a:solidFill>
                  <a:srgbClr val="FFFFFF"/>
                </a:solidFill>
                <a:latin typeface="Arial"/>
              </a:rPr>
              <a:t>tempranos</a:t>
            </a:r>
            <a:r>
              <a:rPr lang="en-US" sz="750">
                <a:solidFill>
                  <a:srgbClr val="FFFFFF"/>
                </a:solidFill>
                <a:latin typeface="Arial"/>
              </a:rPr>
              <a:t>  y </a:t>
            </a:r>
            <a:r>
              <a:rPr lang="en-US" sz="750" err="1">
                <a:solidFill>
                  <a:srgbClr val="FFFFFF"/>
                </a:solidFill>
                <a:latin typeface="Arial"/>
              </a:rPr>
              <a:t>ajustar</a:t>
            </a:r>
            <a:r>
              <a:rPr lang="en-US" sz="750">
                <a:solidFill>
                  <a:srgbClr val="FFFFFF"/>
                </a:solidFill>
                <a:latin typeface="Arial"/>
              </a:rPr>
              <a:t> </a:t>
            </a:r>
            <a:r>
              <a:rPr lang="en-US" sz="750" err="1">
                <a:solidFill>
                  <a:srgbClr val="FFFFFF"/>
                </a:solidFill>
                <a:latin typeface="Arial"/>
              </a:rPr>
              <a:t>el</a:t>
            </a:r>
            <a:r>
              <a:rPr lang="en-US" sz="750">
                <a:solidFill>
                  <a:srgbClr val="FFFFFF"/>
                </a:solidFill>
                <a:latin typeface="Arial"/>
              </a:rPr>
              <a:t> </a:t>
            </a:r>
            <a:r>
              <a:rPr lang="en-US" sz="750" err="1">
                <a:solidFill>
                  <a:srgbClr val="FFFFFF"/>
                </a:solidFill>
                <a:latin typeface="Arial"/>
              </a:rPr>
              <a:t>enfoque</a:t>
            </a:r>
            <a:r>
              <a:rPr lang="en-US" sz="750">
                <a:solidFill>
                  <a:srgbClr val="FFFFFF"/>
                </a:solidFill>
                <a:latin typeface="Arial"/>
              </a:rPr>
              <a:t> para </a:t>
            </a:r>
            <a:r>
              <a:rPr lang="en-US" sz="750" err="1">
                <a:solidFill>
                  <a:srgbClr val="FFFFFF"/>
                </a:solidFill>
                <a:latin typeface="Arial"/>
              </a:rPr>
              <a:t>maximizar</a:t>
            </a:r>
            <a:r>
              <a:rPr lang="en-US" sz="750">
                <a:solidFill>
                  <a:srgbClr val="FFFFFF"/>
                </a:solidFill>
                <a:latin typeface="Arial"/>
              </a:rPr>
              <a:t> </a:t>
            </a:r>
            <a:r>
              <a:rPr lang="en-US" sz="750" err="1">
                <a:solidFill>
                  <a:srgbClr val="FFFFFF"/>
                </a:solidFill>
                <a:latin typeface="Arial"/>
              </a:rPr>
              <a:t>el</a:t>
            </a:r>
            <a:r>
              <a:rPr lang="en-US" sz="750">
                <a:solidFill>
                  <a:srgbClr val="FFFFFF"/>
                </a:solidFill>
                <a:latin typeface="Arial"/>
              </a:rPr>
              <a:t> valor</a:t>
            </a:r>
          </a:p>
        </p:txBody>
      </p:sp>
      <p:sp>
        <p:nvSpPr>
          <p:cNvPr id="70" name="Shape 43">
            <a:extLst>
              <a:ext uri="{FF2B5EF4-FFF2-40B4-BE49-F238E27FC236}">
                <a16:creationId xmlns:a16="http://schemas.microsoft.com/office/drawing/2014/main" id="{57F567C3-7EB7-C201-5F91-9CFC2A9909B5}"/>
              </a:ext>
            </a:extLst>
          </p:cNvPr>
          <p:cNvSpPr/>
          <p:nvPr/>
        </p:nvSpPr>
        <p:spPr>
          <a:xfrm>
            <a:off x="4606464" y="1176214"/>
            <a:ext cx="2038302" cy="423019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7B1FA2"/>
          </a:solidFill>
          <a:ln w="12700">
            <a:solidFill>
              <a:srgbClr val="7B1FA2"/>
            </a:solidFill>
            <a:prstDash val="solid"/>
          </a:ln>
        </p:spPr>
        <p:txBody>
          <a:bodyPr/>
          <a:lstStyle/>
          <a:p>
            <a:pPr defTabSz="685800"/>
            <a:endParaRPr lang="es-PE" sz="135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11">
            <a:extLst>
              <a:ext uri="{FF2B5EF4-FFF2-40B4-BE49-F238E27FC236}">
                <a16:creationId xmlns:a16="http://schemas.microsoft.com/office/drawing/2014/main" id="{8CD224E6-B128-39BC-DC9D-FD705E31E451}"/>
              </a:ext>
            </a:extLst>
          </p:cNvPr>
          <p:cNvSpPr/>
          <p:nvPr/>
        </p:nvSpPr>
        <p:spPr>
          <a:xfrm>
            <a:off x="228601" y="1177883"/>
            <a:ext cx="2035259" cy="42135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70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pPr defTabSz="685800"/>
            <a:endParaRPr lang="es-PE" sz="135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27">
            <a:extLst>
              <a:ext uri="{FF2B5EF4-FFF2-40B4-BE49-F238E27FC236}">
                <a16:creationId xmlns:a16="http://schemas.microsoft.com/office/drawing/2014/main" id="{FFC6F22D-94E7-01AE-6ADF-E77B402F13BF}"/>
              </a:ext>
            </a:extLst>
          </p:cNvPr>
          <p:cNvSpPr/>
          <p:nvPr/>
        </p:nvSpPr>
        <p:spPr>
          <a:xfrm>
            <a:off x="2421879" y="1172139"/>
            <a:ext cx="2035259" cy="423019"/>
          </a:xfrm>
          <a:prstGeom prst="round2SameRect">
            <a:avLst>
              <a:gd name="adj1" fmla="val 43245"/>
              <a:gd name="adj2" fmla="val 0"/>
            </a:avLst>
          </a:prstGeom>
          <a:solidFill>
            <a:schemeClr val="accent5">
              <a:lumMod val="75000"/>
            </a:schemeClr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pPr defTabSz="685800"/>
            <a:endParaRPr lang="es-PE" sz="135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43">
            <a:extLst>
              <a:ext uri="{FF2B5EF4-FFF2-40B4-BE49-F238E27FC236}">
                <a16:creationId xmlns:a16="http://schemas.microsoft.com/office/drawing/2014/main" id="{DCD045A5-954A-917E-05C3-A8A1971BB23B}"/>
              </a:ext>
            </a:extLst>
          </p:cNvPr>
          <p:cNvSpPr/>
          <p:nvPr/>
        </p:nvSpPr>
        <p:spPr>
          <a:xfrm>
            <a:off x="6776374" y="1176214"/>
            <a:ext cx="2038302" cy="42301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1"/>
          </a:solidFill>
          <a:ln w="12700">
            <a:solidFill>
              <a:srgbClr val="7B1FA2"/>
            </a:solidFill>
            <a:prstDash val="solid"/>
          </a:ln>
        </p:spPr>
        <p:txBody>
          <a:bodyPr/>
          <a:lstStyle/>
          <a:p>
            <a:pPr defTabSz="685800"/>
            <a:endParaRPr lang="es-PE" sz="135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 14">
            <a:extLst>
              <a:ext uri="{FF2B5EF4-FFF2-40B4-BE49-F238E27FC236}">
                <a16:creationId xmlns:a16="http://schemas.microsoft.com/office/drawing/2014/main" id="{BE199691-1CF7-DE5A-71ED-0012BD2F6353}"/>
              </a:ext>
            </a:extLst>
          </p:cNvPr>
          <p:cNvSpPr/>
          <p:nvPr/>
        </p:nvSpPr>
        <p:spPr>
          <a:xfrm>
            <a:off x="688339" y="1239944"/>
            <a:ext cx="1326447" cy="2880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r>
              <a:rPr lang="en-US" sz="825" b="1">
                <a:solidFill>
                  <a:srgbClr val="FFFFFF"/>
                </a:solidFill>
                <a:latin typeface="Arial"/>
              </a:rPr>
              <a:t>ALCANCE DEL PILOTO</a:t>
            </a:r>
          </a:p>
        </p:txBody>
      </p:sp>
      <p:sp>
        <p:nvSpPr>
          <p:cNvPr id="76" name="Text 29">
            <a:extLst>
              <a:ext uri="{FF2B5EF4-FFF2-40B4-BE49-F238E27FC236}">
                <a16:creationId xmlns:a16="http://schemas.microsoft.com/office/drawing/2014/main" id="{41032869-CD1D-582C-7D7A-CE1B448EE298}"/>
              </a:ext>
            </a:extLst>
          </p:cNvPr>
          <p:cNvSpPr/>
          <p:nvPr/>
        </p:nvSpPr>
        <p:spPr>
          <a:xfrm>
            <a:off x="2550352" y="1253261"/>
            <a:ext cx="28803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endParaRPr lang="en-US" sz="90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 30">
            <a:extLst>
              <a:ext uri="{FF2B5EF4-FFF2-40B4-BE49-F238E27FC236}">
                <a16:creationId xmlns:a16="http://schemas.microsoft.com/office/drawing/2014/main" id="{ACD6178D-0756-9AE6-7AD3-E91443630AEF}"/>
              </a:ext>
            </a:extLst>
          </p:cNvPr>
          <p:cNvSpPr/>
          <p:nvPr/>
        </p:nvSpPr>
        <p:spPr>
          <a:xfrm>
            <a:off x="2940141" y="1248468"/>
            <a:ext cx="1424946" cy="2880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r>
              <a:rPr lang="en-US" sz="825" b="1">
                <a:solidFill>
                  <a:srgbClr val="FFFFFF"/>
                </a:solidFill>
                <a:latin typeface="Arial"/>
              </a:rPr>
              <a:t>DURACIÓN</a:t>
            </a:r>
          </a:p>
        </p:txBody>
      </p:sp>
      <p:sp>
        <p:nvSpPr>
          <p:cNvPr id="80" name="Text 46">
            <a:extLst>
              <a:ext uri="{FF2B5EF4-FFF2-40B4-BE49-F238E27FC236}">
                <a16:creationId xmlns:a16="http://schemas.microsoft.com/office/drawing/2014/main" id="{C4A998AA-5FD5-67A9-1D97-2950EC341D45}"/>
              </a:ext>
            </a:extLst>
          </p:cNvPr>
          <p:cNvSpPr/>
          <p:nvPr/>
        </p:nvSpPr>
        <p:spPr>
          <a:xfrm>
            <a:off x="5084247" y="1237856"/>
            <a:ext cx="1247815" cy="2880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r>
              <a:rPr lang="en-US" sz="825" b="1">
                <a:solidFill>
                  <a:srgbClr val="FFFFFF"/>
                </a:solidFill>
                <a:latin typeface="Arial"/>
              </a:rPr>
              <a:t>¿QUÉ INCLUYE?</a:t>
            </a:r>
            <a:endParaRPr lang="en-US" sz="825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 46">
            <a:extLst>
              <a:ext uri="{FF2B5EF4-FFF2-40B4-BE49-F238E27FC236}">
                <a16:creationId xmlns:a16="http://schemas.microsoft.com/office/drawing/2014/main" id="{053C8067-1FA7-BE80-74CB-65233FFD4BB5}"/>
              </a:ext>
            </a:extLst>
          </p:cNvPr>
          <p:cNvSpPr/>
          <p:nvPr/>
        </p:nvSpPr>
        <p:spPr>
          <a:xfrm>
            <a:off x="7250797" y="1237856"/>
            <a:ext cx="1653539" cy="3440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r>
              <a:rPr lang="en-US" sz="825" b="1">
                <a:solidFill>
                  <a:srgbClr val="FFFFFF"/>
                </a:solidFill>
                <a:latin typeface="Arial"/>
              </a:rPr>
              <a:t>RESULTADOS ESPERADOS</a:t>
            </a:r>
            <a:endParaRPr lang="en-US" sz="825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23">
            <a:extLst>
              <a:ext uri="{FF2B5EF4-FFF2-40B4-BE49-F238E27FC236}">
                <a16:creationId xmlns:a16="http://schemas.microsoft.com/office/drawing/2014/main" id="{D2044DAA-EC9D-9174-A847-CD37715405F2}"/>
              </a:ext>
            </a:extLst>
          </p:cNvPr>
          <p:cNvSpPr/>
          <p:nvPr/>
        </p:nvSpPr>
        <p:spPr>
          <a:xfrm>
            <a:off x="810303" y="2027710"/>
            <a:ext cx="1406270" cy="1116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r>
              <a:rPr lang="en-US" sz="600">
                <a:solidFill>
                  <a:srgbClr val="000000"/>
                </a:solidFill>
                <a:latin typeface="Arial"/>
              </a:rPr>
              <a:t>Backend(Java)</a:t>
            </a:r>
          </a:p>
        </p:txBody>
      </p:sp>
      <p:sp>
        <p:nvSpPr>
          <p:cNvPr id="85" name="Text 25">
            <a:extLst>
              <a:ext uri="{FF2B5EF4-FFF2-40B4-BE49-F238E27FC236}">
                <a16:creationId xmlns:a16="http://schemas.microsoft.com/office/drawing/2014/main" id="{853D1EDB-0E76-A30B-EC85-B5F9DED683BC}"/>
              </a:ext>
            </a:extLst>
          </p:cNvPr>
          <p:cNvSpPr/>
          <p:nvPr/>
        </p:nvSpPr>
        <p:spPr>
          <a:xfrm>
            <a:off x="299965" y="2342493"/>
            <a:ext cx="1984694" cy="8572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>
              <a:lnSpc>
                <a:spcPct val="150000"/>
              </a:lnSpc>
            </a:pPr>
            <a:r>
              <a:rPr lang="en-US" sz="750">
                <a:solidFill>
                  <a:srgbClr val="000000"/>
                </a:solidFill>
                <a:latin typeface="Arial"/>
              </a:rPr>
              <a:t>•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Trabajo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sobre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backlog real de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los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sprints </a:t>
            </a:r>
          </a:p>
          <a:p>
            <a:pPr defTabSz="685800">
              <a:lnSpc>
                <a:spcPct val="150000"/>
              </a:lnSpc>
            </a:pPr>
            <a:r>
              <a:rPr lang="en-US" sz="750">
                <a:solidFill>
                  <a:srgbClr val="000000"/>
                </a:solidFill>
                <a:latin typeface="Arial"/>
              </a:rPr>
              <a:t>•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Aplicación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de Agent Skills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en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historias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seleccionadas</a:t>
            </a:r>
            <a:endParaRPr lang="en-US" sz="750">
              <a:solidFill>
                <a:srgbClr val="000000"/>
              </a:solidFill>
              <a:latin typeface="Arial"/>
            </a:endParaRPr>
          </a:p>
          <a:p>
            <a:pPr defTabSz="685800">
              <a:lnSpc>
                <a:spcPct val="150000"/>
              </a:lnSpc>
            </a:pPr>
            <a:r>
              <a:rPr lang="en-US" sz="750">
                <a:solidFill>
                  <a:srgbClr val="000000"/>
                </a:solidFill>
                <a:latin typeface="Arial"/>
              </a:rPr>
              <a:t>•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Acompañamiento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de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especialistas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IA</a:t>
            </a:r>
          </a:p>
          <a:p>
            <a:pPr defTabSz="685800">
              <a:lnSpc>
                <a:spcPct val="150000"/>
              </a:lnSpc>
            </a:pPr>
            <a:r>
              <a:rPr lang="en-US" sz="750">
                <a:solidFill>
                  <a:srgbClr val="000000"/>
                </a:solidFill>
                <a:latin typeface="Arial"/>
              </a:rPr>
              <a:t>•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Medición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de Ahorro y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adopción</a:t>
            </a:r>
            <a:endParaRPr lang="en-US" sz="750">
              <a:solidFill>
                <a:srgbClr val="000000"/>
              </a:solidFill>
              <a:latin typeface="Arial"/>
            </a:endParaRPr>
          </a:p>
          <a:p>
            <a:pPr defTabSz="685800"/>
            <a:endParaRPr lang="en-US" sz="675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6" name="Google Shape;90;p13" descr="image.png">
            <a:extLst>
              <a:ext uri="{FF2B5EF4-FFF2-40B4-BE49-F238E27FC236}">
                <a16:creationId xmlns:a16="http://schemas.microsoft.com/office/drawing/2014/main" id="{524B64D0-C34B-4736-0A94-D3A9AAD7B13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89507" y="1711253"/>
            <a:ext cx="714375" cy="714375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107;p13">
            <a:extLst>
              <a:ext uri="{FF2B5EF4-FFF2-40B4-BE49-F238E27FC236}">
                <a16:creationId xmlns:a16="http://schemas.microsoft.com/office/drawing/2014/main" id="{A80EC23A-85B5-0137-3A76-58EE4A287D4B}"/>
              </a:ext>
            </a:extLst>
          </p:cNvPr>
          <p:cNvSpPr txBox="1"/>
          <p:nvPr/>
        </p:nvSpPr>
        <p:spPr>
          <a:xfrm>
            <a:off x="2701685" y="2422664"/>
            <a:ext cx="1522735" cy="1154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 defTabSz="685800"/>
            <a:r>
              <a:rPr lang="en-US" sz="75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8 </a:t>
            </a:r>
            <a:r>
              <a:rPr lang="en-US" sz="750" err="1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semanas</a:t>
            </a:r>
            <a:r>
              <a:rPr lang="en-US" sz="75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750" err="1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aprox</a:t>
            </a:r>
            <a:r>
              <a:rPr lang="en-US" sz="75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Google Shape;108;p13">
            <a:extLst>
              <a:ext uri="{FF2B5EF4-FFF2-40B4-BE49-F238E27FC236}">
                <a16:creationId xmlns:a16="http://schemas.microsoft.com/office/drawing/2014/main" id="{8005D914-7F75-959F-BC48-EC196CED2412}"/>
              </a:ext>
            </a:extLst>
          </p:cNvPr>
          <p:cNvSpPr txBox="1"/>
          <p:nvPr/>
        </p:nvSpPr>
        <p:spPr>
          <a:xfrm>
            <a:off x="3169553" y="2600452"/>
            <a:ext cx="1292468" cy="57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85800"/>
            <a:r>
              <a:rPr lang="en-US" sz="750" b="1" err="1">
                <a:solidFill>
                  <a:srgbClr val="00CB5D">
                    <a:lumMod val="75000"/>
                  </a:srgbClr>
                </a:solidFill>
                <a:latin typeface="Lato"/>
                <a:ea typeface="Lato"/>
                <a:cs typeface="Lato"/>
                <a:sym typeface="Lato"/>
              </a:rPr>
              <a:t>Inicio</a:t>
            </a:r>
            <a:r>
              <a:rPr lang="en-US" sz="750" b="1">
                <a:solidFill>
                  <a:srgbClr val="00CB5D">
                    <a:lumMod val="75000"/>
                  </a:srgbClr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750" b="1" err="1">
                <a:solidFill>
                  <a:srgbClr val="00CB5D">
                    <a:lumMod val="75000"/>
                  </a:srgbClr>
                </a:solidFill>
                <a:latin typeface="Lato"/>
                <a:ea typeface="Lato"/>
                <a:cs typeface="Lato"/>
                <a:sym typeface="Lato"/>
              </a:rPr>
              <a:t>sugerido</a:t>
            </a:r>
            <a:r>
              <a:rPr lang="en-US" sz="750" b="1">
                <a:solidFill>
                  <a:srgbClr val="00CB5D">
                    <a:lumMod val="75000"/>
                  </a:srgbClr>
                </a:solidFill>
                <a:latin typeface="Lato"/>
                <a:ea typeface="Lato"/>
                <a:cs typeface="Lato"/>
                <a:sym typeface="Lato"/>
              </a:rPr>
              <a:t>:</a:t>
            </a:r>
          </a:p>
          <a:p>
            <a:pPr defTabSz="685800"/>
            <a:endParaRPr lang="en-US" sz="75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defTabSz="685800"/>
            <a:r>
              <a:rPr lang="en-US" sz="75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Al </a:t>
            </a:r>
            <a:r>
              <a:rPr lang="en-US" sz="75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inicio</a:t>
            </a:r>
            <a:r>
              <a:rPr lang="en-US" sz="75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de un sprint para </a:t>
            </a:r>
            <a:r>
              <a:rPr lang="en-US" sz="75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maximizar</a:t>
            </a:r>
            <a:r>
              <a:rPr lang="en-US" sz="75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75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el</a:t>
            </a:r>
            <a:r>
              <a:rPr lang="en-US" sz="75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75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impacto</a:t>
            </a:r>
            <a:r>
              <a:rPr lang="en-US" sz="75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y la </a:t>
            </a:r>
            <a:r>
              <a:rPr lang="en-US" sz="75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medición</a:t>
            </a:r>
            <a:r>
              <a:rPr lang="en-US" sz="75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endParaRPr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Google Shape;136;p13">
            <a:extLst>
              <a:ext uri="{FF2B5EF4-FFF2-40B4-BE49-F238E27FC236}">
                <a16:creationId xmlns:a16="http://schemas.microsoft.com/office/drawing/2014/main" id="{0A2855AE-5432-D06B-6A1E-024B39A97C89}"/>
              </a:ext>
            </a:extLst>
          </p:cNvPr>
          <p:cNvSpPr txBox="1"/>
          <p:nvPr/>
        </p:nvSpPr>
        <p:spPr>
          <a:xfrm>
            <a:off x="3378829" y="1900563"/>
            <a:ext cx="135731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 defTabSz="685800"/>
            <a:r>
              <a:rPr lang="en-US" b="1">
                <a:solidFill>
                  <a:srgbClr val="00CB5D">
                    <a:lumMod val="50000"/>
                  </a:srgbClr>
                </a:solidFill>
                <a:latin typeface="Lato"/>
                <a:ea typeface="Lato"/>
                <a:cs typeface="Lato"/>
                <a:sym typeface="Lato"/>
              </a:rPr>
              <a:t>4</a:t>
            </a:r>
            <a:endParaRPr sz="1350">
              <a:solidFill>
                <a:srgbClr val="00CB5D">
                  <a:lumMod val="50000"/>
                </a:srgbClr>
              </a:solidFill>
              <a:latin typeface="Arial"/>
            </a:endParaRPr>
          </a:p>
        </p:txBody>
      </p:sp>
      <p:sp>
        <p:nvSpPr>
          <p:cNvPr id="90" name="Google Shape;137;p13">
            <a:extLst>
              <a:ext uri="{FF2B5EF4-FFF2-40B4-BE49-F238E27FC236}">
                <a16:creationId xmlns:a16="http://schemas.microsoft.com/office/drawing/2014/main" id="{BEBFB7F9-5BF0-95D1-24C0-D26D383C3B3E}"/>
              </a:ext>
            </a:extLst>
          </p:cNvPr>
          <p:cNvSpPr txBox="1"/>
          <p:nvPr/>
        </p:nvSpPr>
        <p:spPr>
          <a:xfrm>
            <a:off x="3310963" y="2129163"/>
            <a:ext cx="271463" cy="10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 defTabSz="685800"/>
            <a:r>
              <a:rPr lang="en-US" sz="675" b="1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Sprints</a:t>
            </a:r>
            <a:endParaRPr sz="135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 36">
            <a:extLst>
              <a:ext uri="{FF2B5EF4-FFF2-40B4-BE49-F238E27FC236}">
                <a16:creationId xmlns:a16="http://schemas.microsoft.com/office/drawing/2014/main" id="{DDA2AA3B-E332-F009-37E4-C86A99B2E785}"/>
              </a:ext>
            </a:extLst>
          </p:cNvPr>
          <p:cNvSpPr/>
          <p:nvPr/>
        </p:nvSpPr>
        <p:spPr>
          <a:xfrm>
            <a:off x="7167836" y="1533455"/>
            <a:ext cx="1696104" cy="18190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r>
              <a:rPr lang="en-US" sz="750" err="1">
                <a:solidFill>
                  <a:srgbClr val="000000"/>
                </a:solidFill>
                <a:latin typeface="Arial"/>
              </a:rPr>
              <a:t>Reducción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de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esfuerzo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y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tiempo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en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desarrollo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de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historias</a:t>
            </a:r>
            <a:endParaRPr lang="en-US" sz="750">
              <a:solidFill>
                <a:srgbClr val="000000"/>
              </a:solidFill>
              <a:latin typeface="Arial"/>
            </a:endParaRPr>
          </a:p>
          <a:p>
            <a:pPr defTabSz="685800"/>
            <a:endParaRPr lang="en-US" sz="750">
              <a:solidFill>
                <a:srgbClr val="000000"/>
              </a:solidFill>
              <a:latin typeface="Arial"/>
            </a:endParaRPr>
          </a:p>
          <a:p>
            <a:pPr defTabSz="685800"/>
            <a:r>
              <a:rPr lang="en-US" sz="750">
                <a:solidFill>
                  <a:srgbClr val="000000"/>
                </a:solidFill>
                <a:latin typeface="Arial"/>
              </a:rPr>
              <a:t>Mayor Calidad de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codigo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y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estandarización</a:t>
            </a:r>
            <a:r>
              <a:rPr lang="en-US" sz="750">
                <a:solidFill>
                  <a:srgbClr val="000000"/>
                </a:solidFill>
                <a:latin typeface="Arial"/>
              </a:rPr>
              <a:t>.</a:t>
            </a:r>
          </a:p>
          <a:p>
            <a:pPr defTabSz="685800"/>
            <a:endParaRPr lang="en-US" sz="750">
              <a:solidFill>
                <a:srgbClr val="000000"/>
              </a:solidFill>
              <a:latin typeface="Arial"/>
            </a:endParaRPr>
          </a:p>
          <a:p>
            <a:pPr defTabSz="685800"/>
            <a:r>
              <a:rPr lang="en-US" sz="750" err="1">
                <a:solidFill>
                  <a:srgbClr val="000000"/>
                </a:solidFill>
                <a:latin typeface="Arial"/>
              </a:rPr>
              <a:t>Adopción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temprana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y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sostenida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de Agent Skills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en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el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squad.</a:t>
            </a:r>
          </a:p>
          <a:p>
            <a:pPr defTabSz="685800"/>
            <a:endParaRPr lang="en-US" sz="750">
              <a:solidFill>
                <a:srgbClr val="000000"/>
              </a:solidFill>
              <a:latin typeface="Arial"/>
            </a:endParaRPr>
          </a:p>
          <a:p>
            <a:pPr defTabSz="685800"/>
            <a:r>
              <a:rPr lang="en-US" sz="750">
                <a:solidFill>
                  <a:srgbClr val="000000"/>
                </a:solidFill>
                <a:latin typeface="Arial"/>
              </a:rPr>
              <a:t>Modelo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validado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para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escalamiento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a </a:t>
            </a:r>
            <a:r>
              <a:rPr lang="en-US" sz="750" err="1">
                <a:solidFill>
                  <a:srgbClr val="000000"/>
                </a:solidFill>
                <a:latin typeface="Arial"/>
              </a:rPr>
              <a:t>más</a:t>
            </a:r>
            <a:r>
              <a:rPr lang="en-US" sz="750">
                <a:solidFill>
                  <a:srgbClr val="000000"/>
                </a:solidFill>
                <a:latin typeface="Arial"/>
              </a:rPr>
              <a:t> squads</a:t>
            </a:r>
          </a:p>
        </p:txBody>
      </p:sp>
      <p:sp>
        <p:nvSpPr>
          <p:cNvPr id="103" name="Shape 58">
            <a:extLst>
              <a:ext uri="{FF2B5EF4-FFF2-40B4-BE49-F238E27FC236}">
                <a16:creationId xmlns:a16="http://schemas.microsoft.com/office/drawing/2014/main" id="{054B2C1F-7846-1112-83AB-68A942FEDA96}"/>
              </a:ext>
            </a:extLst>
          </p:cNvPr>
          <p:cNvSpPr/>
          <p:nvPr/>
        </p:nvSpPr>
        <p:spPr>
          <a:xfrm>
            <a:off x="159453" y="3399353"/>
            <a:ext cx="8595369" cy="703856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95000"/>
              </a:schemeClr>
            </a:solidFill>
            <a:prstDash val="solid"/>
          </a:ln>
        </p:spPr>
        <p:txBody>
          <a:bodyPr/>
          <a:lstStyle/>
          <a:p>
            <a:pPr defTabSz="685800"/>
            <a:endParaRPr lang="es-PE" sz="135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 60">
            <a:extLst>
              <a:ext uri="{FF2B5EF4-FFF2-40B4-BE49-F238E27FC236}">
                <a16:creationId xmlns:a16="http://schemas.microsoft.com/office/drawing/2014/main" id="{5D7A9599-F71F-665C-8ADA-F6D1E2B962E5}"/>
              </a:ext>
            </a:extLst>
          </p:cNvPr>
          <p:cNvSpPr/>
          <p:nvPr/>
        </p:nvSpPr>
        <p:spPr>
          <a:xfrm>
            <a:off x="539096" y="3529348"/>
            <a:ext cx="1488369" cy="39773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28588" indent="-128588" defTabSz="685800">
              <a:buFont typeface="Arial" panose="020B0604020202020204" pitchFamily="34" charset="0"/>
              <a:buChar char="•"/>
            </a:pPr>
            <a:r>
              <a:rPr lang="en-US" sz="675" err="1">
                <a:solidFill>
                  <a:srgbClr val="000000"/>
                </a:solidFill>
                <a:latin typeface="Arial"/>
              </a:rPr>
              <a:t>Revisión</a:t>
            </a:r>
            <a:r>
              <a:rPr lang="en-US" sz="675">
                <a:solidFill>
                  <a:srgbClr val="000000"/>
                </a:solidFill>
                <a:latin typeface="Arial"/>
              </a:rPr>
              <a:t> de backlog</a:t>
            </a:r>
          </a:p>
          <a:p>
            <a:pPr marL="128588" indent="-128588" defTabSz="685800">
              <a:buFont typeface="Arial" panose="020B0604020202020204" pitchFamily="34" charset="0"/>
              <a:buChar char="•"/>
            </a:pPr>
            <a:r>
              <a:rPr lang="en-US" sz="675" err="1">
                <a:solidFill>
                  <a:srgbClr val="000000"/>
                </a:solidFill>
                <a:latin typeface="Arial"/>
              </a:rPr>
              <a:t>Identificación</a:t>
            </a:r>
            <a:r>
              <a:rPr lang="en-US" sz="675">
                <a:solidFill>
                  <a:srgbClr val="000000"/>
                </a:solidFill>
                <a:latin typeface="Arial"/>
              </a:rPr>
              <a:t> de </a:t>
            </a:r>
            <a:r>
              <a:rPr lang="en-US" sz="675" err="1">
                <a:solidFill>
                  <a:srgbClr val="000000"/>
                </a:solidFill>
                <a:latin typeface="Arial"/>
              </a:rPr>
              <a:t>oportunidades</a:t>
            </a:r>
            <a:r>
              <a:rPr lang="en-US" sz="675">
                <a:solidFill>
                  <a:srgbClr val="000000"/>
                </a:solidFill>
                <a:latin typeface="Arial"/>
              </a:rPr>
              <a:t> para </a:t>
            </a:r>
            <a:r>
              <a:rPr lang="en-US" sz="675" err="1">
                <a:solidFill>
                  <a:srgbClr val="000000"/>
                </a:solidFill>
                <a:latin typeface="Arial"/>
              </a:rPr>
              <a:t>aplicar</a:t>
            </a:r>
            <a:r>
              <a:rPr lang="en-US" sz="675">
                <a:solidFill>
                  <a:srgbClr val="000000"/>
                </a:solidFill>
                <a:latin typeface="Arial"/>
              </a:rPr>
              <a:t> Agent Skills.</a:t>
            </a:r>
          </a:p>
          <a:p>
            <a:pPr marL="128588" indent="-128588" defTabSz="685800">
              <a:buFont typeface="Arial" panose="020B0604020202020204" pitchFamily="34" charset="0"/>
              <a:buChar char="•"/>
            </a:pPr>
            <a:r>
              <a:rPr lang="en-US" sz="675" err="1">
                <a:solidFill>
                  <a:srgbClr val="000000"/>
                </a:solidFill>
                <a:latin typeface="Arial"/>
              </a:rPr>
              <a:t>Priorización</a:t>
            </a:r>
            <a:r>
              <a:rPr lang="en-US" sz="675">
                <a:solidFill>
                  <a:srgbClr val="000000"/>
                </a:solidFill>
                <a:latin typeface="Arial"/>
              </a:rPr>
              <a:t> junto al Squad</a:t>
            </a:r>
          </a:p>
        </p:txBody>
      </p:sp>
      <p:sp>
        <p:nvSpPr>
          <p:cNvPr id="106" name="Text 61">
            <a:extLst>
              <a:ext uri="{FF2B5EF4-FFF2-40B4-BE49-F238E27FC236}">
                <a16:creationId xmlns:a16="http://schemas.microsoft.com/office/drawing/2014/main" id="{DE5B4169-96FA-FD58-61A1-5A9837B456AD}"/>
              </a:ext>
            </a:extLst>
          </p:cNvPr>
          <p:cNvSpPr/>
          <p:nvPr/>
        </p:nvSpPr>
        <p:spPr>
          <a:xfrm>
            <a:off x="2267226" y="3309197"/>
            <a:ext cx="1107391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r>
              <a:rPr lang="en-US" sz="900" b="1">
                <a:solidFill>
                  <a:srgbClr val="29B6F6"/>
                </a:solidFill>
                <a:latin typeface="Arial"/>
              </a:rPr>
              <a:t>2. </a:t>
            </a:r>
            <a:r>
              <a:rPr lang="en-US" sz="900" b="1" err="1">
                <a:solidFill>
                  <a:srgbClr val="29B6F6"/>
                </a:solidFill>
                <a:latin typeface="Arial"/>
              </a:rPr>
              <a:t>Ejecución</a:t>
            </a:r>
            <a:endParaRPr lang="en-US" sz="825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62">
            <a:extLst>
              <a:ext uri="{FF2B5EF4-FFF2-40B4-BE49-F238E27FC236}">
                <a16:creationId xmlns:a16="http://schemas.microsoft.com/office/drawing/2014/main" id="{D92ED785-7B97-EAC9-C235-190D3ABE9940}"/>
              </a:ext>
            </a:extLst>
          </p:cNvPr>
          <p:cNvSpPr/>
          <p:nvPr/>
        </p:nvSpPr>
        <p:spPr>
          <a:xfrm>
            <a:off x="2206755" y="3535687"/>
            <a:ext cx="1546095" cy="3755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28588" indent="-128588" defTabSz="685800">
              <a:buFont typeface="Arial" panose="020B0604020202020204" pitchFamily="34" charset="0"/>
              <a:buChar char="•"/>
            </a:pPr>
            <a:r>
              <a:rPr lang="en-US" sz="675" err="1">
                <a:solidFill>
                  <a:srgbClr val="000000"/>
                </a:solidFill>
                <a:latin typeface="Arial"/>
              </a:rPr>
              <a:t>Aplicación</a:t>
            </a:r>
            <a:r>
              <a:rPr lang="en-US" sz="675">
                <a:solidFill>
                  <a:srgbClr val="000000"/>
                </a:solidFill>
                <a:latin typeface="Arial"/>
              </a:rPr>
              <a:t> de Agent Skills</a:t>
            </a:r>
          </a:p>
          <a:p>
            <a:pPr marL="128588" indent="-128588" defTabSz="685800">
              <a:buFont typeface="Arial" panose="020B0604020202020204" pitchFamily="34" charset="0"/>
              <a:buChar char="•"/>
            </a:pPr>
            <a:r>
              <a:rPr lang="en-US" sz="675">
                <a:solidFill>
                  <a:srgbClr val="000000"/>
                </a:solidFill>
                <a:latin typeface="Arial"/>
              </a:rPr>
              <a:t>Pair programming con </a:t>
            </a:r>
            <a:r>
              <a:rPr lang="en-US" sz="675" err="1">
                <a:solidFill>
                  <a:srgbClr val="000000"/>
                </a:solidFill>
                <a:latin typeface="Arial"/>
              </a:rPr>
              <a:t>el</a:t>
            </a:r>
            <a:r>
              <a:rPr lang="en-US" sz="675">
                <a:solidFill>
                  <a:srgbClr val="000000"/>
                </a:solidFill>
                <a:latin typeface="Arial"/>
              </a:rPr>
              <a:t> </a:t>
            </a:r>
            <a:r>
              <a:rPr lang="en-US" sz="675" err="1">
                <a:solidFill>
                  <a:srgbClr val="000000"/>
                </a:solidFill>
                <a:latin typeface="Arial"/>
              </a:rPr>
              <a:t>equipo</a:t>
            </a:r>
            <a:endParaRPr lang="en-US" sz="675">
              <a:solidFill>
                <a:srgbClr val="000000"/>
              </a:solidFill>
              <a:latin typeface="Arial"/>
            </a:endParaRPr>
          </a:p>
          <a:p>
            <a:pPr marL="128588" indent="-128588" defTabSz="685800">
              <a:buFont typeface="Arial" panose="020B0604020202020204" pitchFamily="34" charset="0"/>
              <a:buChar char="•"/>
            </a:pPr>
            <a:r>
              <a:rPr lang="en-US" sz="675" err="1">
                <a:solidFill>
                  <a:srgbClr val="000000"/>
                </a:solidFill>
                <a:latin typeface="Arial"/>
              </a:rPr>
              <a:t>Creación</a:t>
            </a:r>
            <a:r>
              <a:rPr lang="en-US" sz="675">
                <a:solidFill>
                  <a:srgbClr val="000000"/>
                </a:solidFill>
                <a:latin typeface="Arial"/>
              </a:rPr>
              <a:t>, </a:t>
            </a:r>
            <a:r>
              <a:rPr lang="en-US" sz="675" err="1">
                <a:solidFill>
                  <a:srgbClr val="000000"/>
                </a:solidFill>
                <a:latin typeface="Arial"/>
              </a:rPr>
              <a:t>ajuste</a:t>
            </a:r>
            <a:r>
              <a:rPr lang="en-US" sz="675">
                <a:solidFill>
                  <a:srgbClr val="000000"/>
                </a:solidFill>
                <a:latin typeface="Arial"/>
              </a:rPr>
              <a:t> y </a:t>
            </a:r>
            <a:r>
              <a:rPr lang="en-US" sz="675" err="1">
                <a:solidFill>
                  <a:srgbClr val="000000"/>
                </a:solidFill>
                <a:latin typeface="Arial"/>
              </a:rPr>
              <a:t>adecuación</a:t>
            </a:r>
            <a:r>
              <a:rPr lang="en-US" sz="675">
                <a:solidFill>
                  <a:srgbClr val="000000"/>
                </a:solidFill>
                <a:latin typeface="Arial"/>
              </a:rPr>
              <a:t> de Skills </a:t>
            </a:r>
            <a:r>
              <a:rPr lang="en-US" sz="675" err="1">
                <a:solidFill>
                  <a:srgbClr val="000000"/>
                </a:solidFill>
                <a:latin typeface="Arial"/>
              </a:rPr>
              <a:t>segun</a:t>
            </a:r>
            <a:r>
              <a:rPr lang="en-US" sz="675">
                <a:solidFill>
                  <a:srgbClr val="000000"/>
                </a:solidFill>
                <a:latin typeface="Arial"/>
              </a:rPr>
              <a:t> </a:t>
            </a:r>
            <a:r>
              <a:rPr lang="en-US" sz="675" err="1">
                <a:solidFill>
                  <a:srgbClr val="000000"/>
                </a:solidFill>
                <a:latin typeface="Arial"/>
              </a:rPr>
              <a:t>necesidades</a:t>
            </a:r>
            <a:r>
              <a:rPr lang="en-US" sz="675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08" name="Text 63">
            <a:extLst>
              <a:ext uri="{FF2B5EF4-FFF2-40B4-BE49-F238E27FC236}">
                <a16:creationId xmlns:a16="http://schemas.microsoft.com/office/drawing/2014/main" id="{C6E699DF-548C-93B7-A5EA-0FB1D09DE29F}"/>
              </a:ext>
            </a:extLst>
          </p:cNvPr>
          <p:cNvSpPr/>
          <p:nvPr/>
        </p:nvSpPr>
        <p:spPr>
          <a:xfrm>
            <a:off x="4070085" y="3323005"/>
            <a:ext cx="1060081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r>
              <a:rPr lang="en-US" sz="900" b="1">
                <a:solidFill>
                  <a:srgbClr val="00897B"/>
                </a:solidFill>
                <a:latin typeface="Arial"/>
              </a:rPr>
              <a:t>3. </a:t>
            </a:r>
            <a:r>
              <a:rPr lang="en-US" sz="900" b="1" err="1">
                <a:solidFill>
                  <a:srgbClr val="00897B"/>
                </a:solidFill>
                <a:latin typeface="Arial"/>
              </a:rPr>
              <a:t>Validación</a:t>
            </a:r>
            <a:endParaRPr lang="en-US" sz="90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 64">
            <a:extLst>
              <a:ext uri="{FF2B5EF4-FFF2-40B4-BE49-F238E27FC236}">
                <a16:creationId xmlns:a16="http://schemas.microsoft.com/office/drawing/2014/main" id="{EA3FE728-0F0F-22B4-A2A1-59452A10F4F4}"/>
              </a:ext>
            </a:extLst>
          </p:cNvPr>
          <p:cNvSpPr/>
          <p:nvPr/>
        </p:nvSpPr>
        <p:spPr>
          <a:xfrm>
            <a:off x="3949194" y="3490638"/>
            <a:ext cx="1456888" cy="442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28588" indent="-128588" defTabSz="685800">
              <a:buFont typeface="Arial" panose="020B0604020202020204" pitchFamily="34" charset="0"/>
              <a:buChar char="•"/>
            </a:pPr>
            <a:r>
              <a:rPr lang="en-US" sz="675" err="1">
                <a:solidFill>
                  <a:srgbClr val="000000"/>
                </a:solidFill>
                <a:latin typeface="Arial"/>
              </a:rPr>
              <a:t>Validación</a:t>
            </a:r>
            <a:r>
              <a:rPr lang="en-US" sz="675">
                <a:solidFill>
                  <a:srgbClr val="000000"/>
                </a:solidFill>
                <a:latin typeface="Arial"/>
              </a:rPr>
              <a:t> </a:t>
            </a:r>
            <a:r>
              <a:rPr lang="en-US" sz="675" err="1">
                <a:solidFill>
                  <a:srgbClr val="000000"/>
                </a:solidFill>
                <a:latin typeface="Arial"/>
              </a:rPr>
              <a:t>técnica</a:t>
            </a:r>
            <a:r>
              <a:rPr lang="en-US" sz="675">
                <a:solidFill>
                  <a:srgbClr val="000000"/>
                </a:solidFill>
                <a:latin typeface="Arial"/>
              </a:rPr>
              <a:t> y </a:t>
            </a:r>
            <a:r>
              <a:rPr lang="en-US" sz="675" err="1">
                <a:solidFill>
                  <a:srgbClr val="000000"/>
                </a:solidFill>
                <a:latin typeface="Arial"/>
              </a:rPr>
              <a:t>funcional</a:t>
            </a:r>
            <a:endParaRPr lang="en-US" sz="675">
              <a:solidFill>
                <a:srgbClr val="000000"/>
              </a:solidFill>
              <a:latin typeface="Arial"/>
            </a:endParaRPr>
          </a:p>
          <a:p>
            <a:pPr marL="128588" indent="-128588" defTabSz="685800">
              <a:buFont typeface="Arial" panose="020B0604020202020204" pitchFamily="34" charset="0"/>
              <a:buChar char="•"/>
            </a:pPr>
            <a:r>
              <a:rPr lang="en-US" sz="675" err="1">
                <a:solidFill>
                  <a:srgbClr val="000000"/>
                </a:solidFill>
                <a:latin typeface="Arial"/>
              </a:rPr>
              <a:t>Alineación</a:t>
            </a:r>
            <a:r>
              <a:rPr lang="en-US" sz="675">
                <a:solidFill>
                  <a:srgbClr val="000000"/>
                </a:solidFill>
                <a:latin typeface="Arial"/>
              </a:rPr>
              <a:t> de </a:t>
            </a:r>
            <a:r>
              <a:rPr lang="en-US" sz="675" err="1">
                <a:solidFill>
                  <a:srgbClr val="000000"/>
                </a:solidFill>
                <a:latin typeface="Arial"/>
              </a:rPr>
              <a:t>estándares</a:t>
            </a:r>
            <a:r>
              <a:rPr lang="en-US" sz="675">
                <a:solidFill>
                  <a:srgbClr val="000000"/>
                </a:solidFill>
                <a:latin typeface="Arial"/>
              </a:rPr>
              <a:t> y </a:t>
            </a:r>
            <a:r>
              <a:rPr lang="en-US" sz="675" err="1">
                <a:solidFill>
                  <a:srgbClr val="000000"/>
                </a:solidFill>
                <a:latin typeface="Arial"/>
              </a:rPr>
              <a:t>arquitectura</a:t>
            </a:r>
            <a:endParaRPr lang="en-US" sz="675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 65">
            <a:extLst>
              <a:ext uri="{FF2B5EF4-FFF2-40B4-BE49-F238E27FC236}">
                <a16:creationId xmlns:a16="http://schemas.microsoft.com/office/drawing/2014/main" id="{F4FCE2D7-BC63-621D-23C1-F240D49315C8}"/>
              </a:ext>
            </a:extLst>
          </p:cNvPr>
          <p:cNvSpPr/>
          <p:nvPr/>
        </p:nvSpPr>
        <p:spPr>
          <a:xfrm>
            <a:off x="5731884" y="3333133"/>
            <a:ext cx="144018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r>
              <a:rPr lang="en-US" sz="900" b="1">
                <a:solidFill>
                  <a:srgbClr val="7B1FA2"/>
                </a:solidFill>
                <a:latin typeface="Arial"/>
              </a:rPr>
              <a:t>4. </a:t>
            </a:r>
            <a:r>
              <a:rPr lang="en-US" sz="900" b="1" err="1">
                <a:solidFill>
                  <a:srgbClr val="7B1FA2"/>
                </a:solidFill>
                <a:latin typeface="Arial"/>
              </a:rPr>
              <a:t>Medición</a:t>
            </a:r>
            <a:endParaRPr lang="en-US" sz="90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 66">
            <a:extLst>
              <a:ext uri="{FF2B5EF4-FFF2-40B4-BE49-F238E27FC236}">
                <a16:creationId xmlns:a16="http://schemas.microsoft.com/office/drawing/2014/main" id="{EB61517B-7431-8BE1-CDB6-6E3C8B11EA10}"/>
              </a:ext>
            </a:extLst>
          </p:cNvPr>
          <p:cNvSpPr/>
          <p:nvPr/>
        </p:nvSpPr>
        <p:spPr>
          <a:xfrm>
            <a:off x="5630989" y="3556500"/>
            <a:ext cx="1683653" cy="3247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28588" indent="-128588" defTabSz="685800">
              <a:buFont typeface="Arial" panose="020B0604020202020204" pitchFamily="34" charset="0"/>
              <a:buChar char="•"/>
            </a:pPr>
            <a:r>
              <a:rPr lang="en-US" sz="675" err="1">
                <a:solidFill>
                  <a:srgbClr val="000000"/>
                </a:solidFill>
                <a:latin typeface="Arial"/>
              </a:rPr>
              <a:t>Medición</a:t>
            </a:r>
            <a:r>
              <a:rPr lang="en-US" sz="675">
                <a:solidFill>
                  <a:srgbClr val="000000"/>
                </a:solidFill>
                <a:latin typeface="Arial"/>
              </a:rPr>
              <a:t> de Ahorro </a:t>
            </a:r>
            <a:r>
              <a:rPr lang="en-US" sz="675" err="1">
                <a:solidFill>
                  <a:srgbClr val="000000"/>
                </a:solidFill>
                <a:latin typeface="Arial"/>
              </a:rPr>
              <a:t>por</a:t>
            </a:r>
            <a:r>
              <a:rPr lang="en-US" sz="675">
                <a:solidFill>
                  <a:srgbClr val="000000"/>
                </a:solidFill>
                <a:latin typeface="Arial"/>
              </a:rPr>
              <a:t> </a:t>
            </a:r>
            <a:r>
              <a:rPr lang="en-US" sz="675" err="1">
                <a:solidFill>
                  <a:srgbClr val="000000"/>
                </a:solidFill>
                <a:latin typeface="Arial"/>
              </a:rPr>
              <a:t>historia</a:t>
            </a:r>
            <a:endParaRPr lang="en-US" sz="675">
              <a:solidFill>
                <a:srgbClr val="000000"/>
              </a:solidFill>
              <a:latin typeface="Arial"/>
            </a:endParaRPr>
          </a:p>
          <a:p>
            <a:pPr marL="128588" indent="-128588" defTabSz="685800">
              <a:buFont typeface="Arial" panose="020B0604020202020204" pitchFamily="34" charset="0"/>
              <a:buChar char="•"/>
            </a:pPr>
            <a:r>
              <a:rPr lang="en-US" sz="675" err="1">
                <a:solidFill>
                  <a:srgbClr val="000000"/>
                </a:solidFill>
                <a:latin typeface="Arial"/>
              </a:rPr>
              <a:t>Evaluación</a:t>
            </a:r>
            <a:r>
              <a:rPr lang="en-US" sz="675">
                <a:solidFill>
                  <a:srgbClr val="000000"/>
                </a:solidFill>
                <a:latin typeface="Arial"/>
              </a:rPr>
              <a:t> de </a:t>
            </a:r>
            <a:r>
              <a:rPr lang="en-US" sz="675" err="1">
                <a:solidFill>
                  <a:srgbClr val="000000"/>
                </a:solidFill>
                <a:latin typeface="Arial"/>
              </a:rPr>
              <a:t>adopción</a:t>
            </a:r>
            <a:r>
              <a:rPr lang="en-US" sz="675">
                <a:solidFill>
                  <a:srgbClr val="000000"/>
                </a:solidFill>
                <a:latin typeface="Arial"/>
              </a:rPr>
              <a:t> de Skills</a:t>
            </a:r>
          </a:p>
          <a:p>
            <a:pPr marL="128588" indent="-128588" defTabSz="685800">
              <a:buFont typeface="Arial" panose="020B0604020202020204" pitchFamily="34" charset="0"/>
              <a:buChar char="•"/>
            </a:pPr>
            <a:r>
              <a:rPr lang="en-US" sz="675">
                <a:solidFill>
                  <a:srgbClr val="000000"/>
                </a:solidFill>
                <a:latin typeface="Arial"/>
              </a:rPr>
              <a:t>Impacto </a:t>
            </a:r>
            <a:r>
              <a:rPr lang="en-US" sz="675" err="1">
                <a:solidFill>
                  <a:srgbClr val="000000"/>
                </a:solidFill>
                <a:latin typeface="Arial"/>
              </a:rPr>
              <a:t>en</a:t>
            </a:r>
            <a:r>
              <a:rPr lang="en-US" sz="675">
                <a:solidFill>
                  <a:srgbClr val="000000"/>
                </a:solidFill>
                <a:latin typeface="Arial"/>
              </a:rPr>
              <a:t> </a:t>
            </a:r>
            <a:r>
              <a:rPr lang="en-US" sz="675" err="1">
                <a:solidFill>
                  <a:srgbClr val="000000"/>
                </a:solidFill>
                <a:latin typeface="Arial"/>
              </a:rPr>
              <a:t>velocidad</a:t>
            </a:r>
            <a:r>
              <a:rPr lang="en-US" sz="675">
                <a:solidFill>
                  <a:srgbClr val="000000"/>
                </a:solidFill>
                <a:latin typeface="Arial"/>
              </a:rPr>
              <a:t> del Squad</a:t>
            </a:r>
          </a:p>
        </p:txBody>
      </p:sp>
      <p:sp>
        <p:nvSpPr>
          <p:cNvPr id="112" name="Text 67">
            <a:extLst>
              <a:ext uri="{FF2B5EF4-FFF2-40B4-BE49-F238E27FC236}">
                <a16:creationId xmlns:a16="http://schemas.microsoft.com/office/drawing/2014/main" id="{44FCC8DB-C04A-EC27-DDD9-F5F9982D4E5C}"/>
              </a:ext>
            </a:extLst>
          </p:cNvPr>
          <p:cNvSpPr/>
          <p:nvPr/>
        </p:nvSpPr>
        <p:spPr>
          <a:xfrm>
            <a:off x="7431338" y="3372528"/>
            <a:ext cx="144018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r>
              <a:rPr lang="en-US" sz="825" b="1">
                <a:solidFill>
                  <a:srgbClr val="EF6C00"/>
                </a:solidFill>
                <a:latin typeface="Arial"/>
              </a:rPr>
              <a:t>5. Cierre de Sprint</a:t>
            </a:r>
            <a:endParaRPr lang="en-US" sz="825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 68">
            <a:extLst>
              <a:ext uri="{FF2B5EF4-FFF2-40B4-BE49-F238E27FC236}">
                <a16:creationId xmlns:a16="http://schemas.microsoft.com/office/drawing/2014/main" id="{6C442C8B-AEA5-F1F6-2FC5-D23C5BA5C3DE}"/>
              </a:ext>
            </a:extLst>
          </p:cNvPr>
          <p:cNvSpPr/>
          <p:nvPr/>
        </p:nvSpPr>
        <p:spPr>
          <a:xfrm>
            <a:off x="7488796" y="3590841"/>
            <a:ext cx="1653232" cy="3247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28588" indent="-128588" defTabSz="685800">
              <a:buFont typeface="Arial" panose="020B0604020202020204" pitchFamily="34" charset="0"/>
              <a:buChar char="•"/>
            </a:pPr>
            <a:r>
              <a:rPr lang="en-US" sz="675">
                <a:solidFill>
                  <a:srgbClr val="000000"/>
                </a:solidFill>
                <a:latin typeface="Arial"/>
              </a:rPr>
              <a:t>Retro y feedback con </a:t>
            </a:r>
            <a:r>
              <a:rPr lang="en-US" sz="675" err="1">
                <a:solidFill>
                  <a:srgbClr val="000000"/>
                </a:solidFill>
                <a:latin typeface="Arial"/>
              </a:rPr>
              <a:t>el</a:t>
            </a:r>
            <a:r>
              <a:rPr lang="en-US" sz="675">
                <a:solidFill>
                  <a:srgbClr val="000000"/>
                </a:solidFill>
                <a:latin typeface="Arial"/>
              </a:rPr>
              <a:t> Squad</a:t>
            </a:r>
          </a:p>
          <a:p>
            <a:pPr marL="128588" indent="-128588" defTabSz="685800">
              <a:buFont typeface="Arial" panose="020B0604020202020204" pitchFamily="34" charset="0"/>
              <a:buChar char="•"/>
            </a:pPr>
            <a:r>
              <a:rPr lang="en-US" sz="675" err="1">
                <a:solidFill>
                  <a:srgbClr val="000000"/>
                </a:solidFill>
                <a:latin typeface="Arial"/>
              </a:rPr>
              <a:t>Documentación</a:t>
            </a:r>
            <a:r>
              <a:rPr lang="en-US" sz="675">
                <a:solidFill>
                  <a:srgbClr val="000000"/>
                </a:solidFill>
                <a:latin typeface="Arial"/>
              </a:rPr>
              <a:t> de </a:t>
            </a:r>
            <a:r>
              <a:rPr lang="en-US" sz="675" err="1">
                <a:solidFill>
                  <a:srgbClr val="000000"/>
                </a:solidFill>
                <a:latin typeface="Arial"/>
              </a:rPr>
              <a:t>aprendizajes</a:t>
            </a:r>
            <a:endParaRPr lang="en-US" sz="675">
              <a:solidFill>
                <a:srgbClr val="000000"/>
              </a:solidFill>
              <a:latin typeface="Arial"/>
            </a:endParaRPr>
          </a:p>
          <a:p>
            <a:pPr marL="128588" indent="-128588" defTabSz="685800">
              <a:buFont typeface="Arial" panose="020B0604020202020204" pitchFamily="34" charset="0"/>
              <a:buChar char="•"/>
            </a:pPr>
            <a:r>
              <a:rPr lang="en-US" sz="675">
                <a:solidFill>
                  <a:srgbClr val="000000"/>
                </a:solidFill>
                <a:latin typeface="Arial"/>
              </a:rPr>
              <a:t>Plan de </a:t>
            </a:r>
            <a:r>
              <a:rPr lang="en-US" sz="675" err="1">
                <a:solidFill>
                  <a:srgbClr val="000000"/>
                </a:solidFill>
                <a:latin typeface="Arial"/>
              </a:rPr>
              <a:t>mejoras</a:t>
            </a:r>
            <a:r>
              <a:rPr lang="en-US" sz="675">
                <a:solidFill>
                  <a:srgbClr val="000000"/>
                </a:solidFill>
                <a:latin typeface="Arial"/>
              </a:rPr>
              <a:t> para </a:t>
            </a:r>
            <a:r>
              <a:rPr lang="en-US" sz="675" err="1">
                <a:solidFill>
                  <a:srgbClr val="000000"/>
                </a:solidFill>
                <a:latin typeface="Arial"/>
              </a:rPr>
              <a:t>el</a:t>
            </a:r>
            <a:r>
              <a:rPr lang="en-US" sz="675">
                <a:solidFill>
                  <a:srgbClr val="000000"/>
                </a:solidFill>
                <a:latin typeface="Arial"/>
              </a:rPr>
              <a:t> </a:t>
            </a:r>
            <a:r>
              <a:rPr lang="en-US" sz="675" err="1">
                <a:solidFill>
                  <a:srgbClr val="000000"/>
                </a:solidFill>
                <a:latin typeface="Arial"/>
              </a:rPr>
              <a:t>siguiente</a:t>
            </a:r>
            <a:r>
              <a:rPr lang="en-US" sz="675">
                <a:solidFill>
                  <a:srgbClr val="000000"/>
                </a:solidFill>
                <a:latin typeface="Arial"/>
              </a:rPr>
              <a:t> sprint</a:t>
            </a:r>
          </a:p>
        </p:txBody>
      </p:sp>
      <p:sp>
        <p:nvSpPr>
          <p:cNvPr id="114" name="Text 61">
            <a:extLst>
              <a:ext uri="{FF2B5EF4-FFF2-40B4-BE49-F238E27FC236}">
                <a16:creationId xmlns:a16="http://schemas.microsoft.com/office/drawing/2014/main" id="{16250FD7-4290-CED2-A7D8-E2573699BB4B}"/>
              </a:ext>
            </a:extLst>
          </p:cNvPr>
          <p:cNvSpPr/>
          <p:nvPr/>
        </p:nvSpPr>
        <p:spPr>
          <a:xfrm>
            <a:off x="573216" y="3343478"/>
            <a:ext cx="1237996" cy="1823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r>
              <a:rPr lang="en-US" sz="900" b="1">
                <a:solidFill>
                  <a:srgbClr val="29B6F6"/>
                </a:solidFill>
                <a:latin typeface="Arial"/>
              </a:rPr>
              <a:t>1. </a:t>
            </a:r>
            <a:r>
              <a:rPr lang="en-US" sz="900" b="1" err="1">
                <a:solidFill>
                  <a:srgbClr val="29B6F6"/>
                </a:solidFill>
                <a:latin typeface="Arial"/>
              </a:rPr>
              <a:t>Inicio</a:t>
            </a:r>
            <a:r>
              <a:rPr lang="en-US" sz="900" b="1">
                <a:solidFill>
                  <a:srgbClr val="29B6F6"/>
                </a:solidFill>
                <a:latin typeface="Arial"/>
              </a:rPr>
              <a:t> de Sprint</a:t>
            </a:r>
            <a:endParaRPr lang="en-US" sz="90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62">
            <a:extLst>
              <a:ext uri="{FF2B5EF4-FFF2-40B4-BE49-F238E27FC236}">
                <a16:creationId xmlns:a16="http://schemas.microsoft.com/office/drawing/2014/main" id="{89DE7CF8-7F15-6F08-CF71-5C74B5000A4D}"/>
              </a:ext>
            </a:extLst>
          </p:cNvPr>
          <p:cNvSpPr/>
          <p:nvPr/>
        </p:nvSpPr>
        <p:spPr>
          <a:xfrm>
            <a:off x="4190197" y="4514723"/>
            <a:ext cx="730424" cy="3334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r>
              <a:rPr lang="en-US" sz="750" err="1">
                <a:solidFill>
                  <a:srgbClr val="FFFFFF"/>
                </a:solidFill>
                <a:latin typeface="Arial"/>
              </a:rPr>
              <a:t>Inicio</a:t>
            </a:r>
            <a:r>
              <a:rPr lang="en-US" sz="750">
                <a:solidFill>
                  <a:srgbClr val="FFFFFF"/>
                </a:solidFill>
                <a:latin typeface="Arial"/>
              </a:rPr>
              <a:t> </a:t>
            </a:r>
            <a:r>
              <a:rPr lang="en-US" sz="750" err="1">
                <a:solidFill>
                  <a:srgbClr val="FFFFFF"/>
                </a:solidFill>
                <a:latin typeface="Arial"/>
              </a:rPr>
              <a:t>rápido</a:t>
            </a:r>
            <a:r>
              <a:rPr lang="en-US" sz="750">
                <a:solidFill>
                  <a:srgbClr val="FFFFFF"/>
                </a:solidFill>
                <a:latin typeface="Arial"/>
              </a:rPr>
              <a:t> y </a:t>
            </a:r>
            <a:r>
              <a:rPr lang="en-US" sz="750" err="1">
                <a:solidFill>
                  <a:srgbClr val="FFFFFF"/>
                </a:solidFill>
                <a:latin typeface="Arial"/>
              </a:rPr>
              <a:t>resultados</a:t>
            </a:r>
            <a:r>
              <a:rPr lang="en-US" sz="750">
                <a:solidFill>
                  <a:srgbClr val="FFFFFF"/>
                </a:solidFill>
                <a:latin typeface="Arial"/>
              </a:rPr>
              <a:t> </a:t>
            </a:r>
            <a:r>
              <a:rPr lang="en-US" sz="750" err="1">
                <a:solidFill>
                  <a:srgbClr val="FFFFFF"/>
                </a:solidFill>
                <a:latin typeface="Arial"/>
              </a:rPr>
              <a:t>tempranos</a:t>
            </a:r>
            <a:endParaRPr lang="en-US" sz="75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 64">
            <a:extLst>
              <a:ext uri="{FF2B5EF4-FFF2-40B4-BE49-F238E27FC236}">
                <a16:creationId xmlns:a16="http://schemas.microsoft.com/office/drawing/2014/main" id="{70EA07DE-E9E8-33BD-8DDC-F3008D3FCAA3}"/>
              </a:ext>
            </a:extLst>
          </p:cNvPr>
          <p:cNvSpPr/>
          <p:nvPr/>
        </p:nvSpPr>
        <p:spPr>
          <a:xfrm>
            <a:off x="5305528" y="4530188"/>
            <a:ext cx="924563" cy="3334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r>
              <a:rPr lang="es-ES" sz="750">
                <a:solidFill>
                  <a:srgbClr val="FFFFFF"/>
                </a:solidFill>
                <a:latin typeface="Arial"/>
              </a:rPr>
              <a:t>Enfoque en valor desde el primer sprint</a:t>
            </a:r>
          </a:p>
        </p:txBody>
      </p:sp>
      <p:sp>
        <p:nvSpPr>
          <p:cNvPr id="127" name="Text 66">
            <a:extLst>
              <a:ext uri="{FF2B5EF4-FFF2-40B4-BE49-F238E27FC236}">
                <a16:creationId xmlns:a16="http://schemas.microsoft.com/office/drawing/2014/main" id="{34EBF816-93BD-9E6F-817A-0BA592578A98}"/>
              </a:ext>
            </a:extLst>
          </p:cNvPr>
          <p:cNvSpPr/>
          <p:nvPr/>
        </p:nvSpPr>
        <p:spPr>
          <a:xfrm>
            <a:off x="6666428" y="4521789"/>
            <a:ext cx="787693" cy="3334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r>
              <a:rPr lang="es-ES" sz="750">
                <a:solidFill>
                  <a:srgbClr val="FFFFFF"/>
                </a:solidFill>
                <a:latin typeface="Arial"/>
              </a:rPr>
              <a:t>Menor riesgo con impacto comprobable</a:t>
            </a:r>
            <a:endParaRPr lang="en-US" sz="75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Text 68">
            <a:extLst>
              <a:ext uri="{FF2B5EF4-FFF2-40B4-BE49-F238E27FC236}">
                <a16:creationId xmlns:a16="http://schemas.microsoft.com/office/drawing/2014/main" id="{AE66B5A3-BC0C-5E8A-40DA-E907D9B03FC4}"/>
              </a:ext>
            </a:extLst>
          </p:cNvPr>
          <p:cNvSpPr/>
          <p:nvPr/>
        </p:nvSpPr>
        <p:spPr>
          <a:xfrm>
            <a:off x="7841947" y="4533069"/>
            <a:ext cx="821055" cy="3334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r>
              <a:rPr lang="es-ES" sz="750">
                <a:solidFill>
                  <a:srgbClr val="FFFFFF"/>
                </a:solidFill>
                <a:latin typeface="Arial"/>
              </a:rPr>
              <a:t>Base sólida para escalar a más </a:t>
            </a:r>
            <a:r>
              <a:rPr lang="es-ES" sz="750" err="1">
                <a:solidFill>
                  <a:srgbClr val="FFFFFF"/>
                </a:solidFill>
                <a:latin typeface="Arial"/>
              </a:rPr>
              <a:t>Squads</a:t>
            </a:r>
            <a:endParaRPr lang="en-US" sz="75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Shape 40">
            <a:extLst>
              <a:ext uri="{FF2B5EF4-FFF2-40B4-BE49-F238E27FC236}">
                <a16:creationId xmlns:a16="http://schemas.microsoft.com/office/drawing/2014/main" id="{C95CB924-0C1A-1EBB-344A-16DFC2C98CCB}"/>
              </a:ext>
            </a:extLst>
          </p:cNvPr>
          <p:cNvSpPr/>
          <p:nvPr/>
        </p:nvSpPr>
        <p:spPr>
          <a:xfrm>
            <a:off x="4969990" y="4508262"/>
            <a:ext cx="335538" cy="333435"/>
          </a:xfrm>
          <a:prstGeom prst="ellipse">
            <a:avLst/>
          </a:prstGeom>
          <a:solidFill>
            <a:srgbClr val="7030A0"/>
          </a:solidFill>
          <a:ln w="12700">
            <a:noFill/>
            <a:prstDash val="solid"/>
          </a:ln>
        </p:spPr>
        <p:txBody>
          <a:bodyPr/>
          <a:lstStyle/>
          <a:p>
            <a:pPr defTabSz="685800"/>
            <a:endParaRPr lang="es-PE" sz="135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40">
            <a:extLst>
              <a:ext uri="{FF2B5EF4-FFF2-40B4-BE49-F238E27FC236}">
                <a16:creationId xmlns:a16="http://schemas.microsoft.com/office/drawing/2014/main" id="{E765925A-E6D5-7C26-9850-59AD5AFE14B7}"/>
              </a:ext>
            </a:extLst>
          </p:cNvPr>
          <p:cNvSpPr/>
          <p:nvPr/>
        </p:nvSpPr>
        <p:spPr>
          <a:xfrm>
            <a:off x="6315103" y="4515067"/>
            <a:ext cx="335284" cy="333434"/>
          </a:xfrm>
          <a:prstGeom prst="ellipse">
            <a:avLst/>
          </a:prstGeom>
          <a:solidFill>
            <a:srgbClr val="0070C0"/>
          </a:solidFill>
          <a:ln w="12700">
            <a:noFill/>
            <a:prstDash val="solid"/>
          </a:ln>
        </p:spPr>
        <p:txBody>
          <a:bodyPr/>
          <a:lstStyle/>
          <a:p>
            <a:pPr defTabSz="685800"/>
            <a:endParaRPr lang="es-PE" sz="135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40">
            <a:extLst>
              <a:ext uri="{FF2B5EF4-FFF2-40B4-BE49-F238E27FC236}">
                <a16:creationId xmlns:a16="http://schemas.microsoft.com/office/drawing/2014/main" id="{C689C79F-B92B-8CD7-F8A9-784C521F9DE5}"/>
              </a:ext>
            </a:extLst>
          </p:cNvPr>
          <p:cNvSpPr/>
          <p:nvPr/>
        </p:nvSpPr>
        <p:spPr>
          <a:xfrm>
            <a:off x="7531837" y="4530188"/>
            <a:ext cx="313931" cy="333434"/>
          </a:xfrm>
          <a:prstGeom prst="ellipse">
            <a:avLst/>
          </a:prstGeom>
          <a:solidFill>
            <a:srgbClr val="00B050"/>
          </a:solidFill>
          <a:ln w="12700">
            <a:noFill/>
            <a:prstDash val="solid"/>
          </a:ln>
        </p:spPr>
        <p:txBody>
          <a:bodyPr/>
          <a:lstStyle/>
          <a:p>
            <a:pPr defTabSz="685800"/>
            <a:endParaRPr lang="es-PE" sz="135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40">
            <a:extLst>
              <a:ext uri="{FF2B5EF4-FFF2-40B4-BE49-F238E27FC236}">
                <a16:creationId xmlns:a16="http://schemas.microsoft.com/office/drawing/2014/main" id="{0087F1F7-2072-3447-ADF5-C6976EFD452B}"/>
              </a:ext>
            </a:extLst>
          </p:cNvPr>
          <p:cNvSpPr/>
          <p:nvPr/>
        </p:nvSpPr>
        <p:spPr>
          <a:xfrm>
            <a:off x="3863512" y="4515560"/>
            <a:ext cx="324358" cy="323143"/>
          </a:xfrm>
          <a:prstGeom prst="ellipse">
            <a:avLst/>
          </a:prstGeom>
          <a:solidFill>
            <a:schemeClr val="accent5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pPr defTabSz="685800"/>
            <a:endParaRPr lang="es-PE" sz="135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7" name="Gráfico 136" descr="Diana con relleno sólido">
            <a:extLst>
              <a:ext uri="{FF2B5EF4-FFF2-40B4-BE49-F238E27FC236}">
                <a16:creationId xmlns:a16="http://schemas.microsoft.com/office/drawing/2014/main" id="{C558D877-4162-8D89-668B-F659113BB4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8049" y="1259909"/>
            <a:ext cx="271599" cy="271599"/>
          </a:xfrm>
          <a:prstGeom prst="rect">
            <a:avLst/>
          </a:prstGeom>
        </p:spPr>
      </p:pic>
      <p:pic>
        <p:nvPicPr>
          <p:cNvPr id="139" name="Gráfico 138" descr="Calendario mensual contorno">
            <a:extLst>
              <a:ext uri="{FF2B5EF4-FFF2-40B4-BE49-F238E27FC236}">
                <a16:creationId xmlns:a16="http://schemas.microsoft.com/office/drawing/2014/main" id="{EAF71799-FCFA-7AB0-360D-785AE28F75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2842" y="1215940"/>
            <a:ext cx="344102" cy="344102"/>
          </a:xfrm>
          <a:prstGeom prst="rect">
            <a:avLst/>
          </a:prstGeom>
        </p:spPr>
      </p:pic>
      <p:pic>
        <p:nvPicPr>
          <p:cNvPr id="141" name="Gráfico 140" descr="Lista de comprobación contorno">
            <a:extLst>
              <a:ext uri="{FF2B5EF4-FFF2-40B4-BE49-F238E27FC236}">
                <a16:creationId xmlns:a16="http://schemas.microsoft.com/office/drawing/2014/main" id="{15E3CC85-D0F1-2161-609C-73AD2EBAE9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06344" y="1237513"/>
            <a:ext cx="300419" cy="300419"/>
          </a:xfrm>
          <a:prstGeom prst="rect">
            <a:avLst/>
          </a:prstGeom>
        </p:spPr>
      </p:pic>
      <p:pic>
        <p:nvPicPr>
          <p:cNvPr id="142" name="Gráfico 141" descr="Estadísticas con relleno sólido">
            <a:extLst>
              <a:ext uri="{FF2B5EF4-FFF2-40B4-BE49-F238E27FC236}">
                <a16:creationId xmlns:a16="http://schemas.microsoft.com/office/drawing/2014/main" id="{BED4D557-CE3E-B19E-9379-65F69FF538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87149" y="1261558"/>
            <a:ext cx="237428" cy="237428"/>
          </a:xfrm>
          <a:prstGeom prst="rect">
            <a:avLst/>
          </a:prstGeom>
        </p:spPr>
      </p:pic>
      <p:pic>
        <p:nvPicPr>
          <p:cNvPr id="143" name="Gráfico 142" descr="Estadísticas con relleno sólido">
            <a:extLst>
              <a:ext uri="{FF2B5EF4-FFF2-40B4-BE49-F238E27FC236}">
                <a16:creationId xmlns:a16="http://schemas.microsoft.com/office/drawing/2014/main" id="{EF820B78-9FE6-ACD0-23C3-366C6FF0C4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36448" y="1813980"/>
            <a:ext cx="237428" cy="237428"/>
          </a:xfrm>
          <a:prstGeom prst="rect">
            <a:avLst/>
          </a:prstGeom>
        </p:spPr>
      </p:pic>
      <p:pic>
        <p:nvPicPr>
          <p:cNvPr id="144" name="Gráfico 143" descr="Diseño web con relleno sólido">
            <a:extLst>
              <a:ext uri="{FF2B5EF4-FFF2-40B4-BE49-F238E27FC236}">
                <a16:creationId xmlns:a16="http://schemas.microsoft.com/office/drawing/2014/main" id="{3845FF5A-9292-93BF-19FD-F673CDA889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22198" t="37498" r="18133" b="26107"/>
          <a:stretch>
            <a:fillRect/>
          </a:stretch>
        </p:blipFill>
        <p:spPr>
          <a:xfrm>
            <a:off x="6956665" y="2213806"/>
            <a:ext cx="192787" cy="134447"/>
          </a:xfrm>
          <a:prstGeom prst="rect">
            <a:avLst/>
          </a:prstGeom>
        </p:spPr>
      </p:pic>
      <p:pic>
        <p:nvPicPr>
          <p:cNvPr id="146" name="Gráfico 145" descr="Apertura contorno">
            <a:extLst>
              <a:ext uri="{FF2B5EF4-FFF2-40B4-BE49-F238E27FC236}">
                <a16:creationId xmlns:a16="http://schemas.microsoft.com/office/drawing/2014/main" id="{EEAF6203-577D-B277-D598-652D41E8F7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939453" y="2512004"/>
            <a:ext cx="205794" cy="205794"/>
          </a:xfrm>
          <a:prstGeom prst="rect">
            <a:avLst/>
          </a:prstGeom>
        </p:spPr>
      </p:pic>
      <p:pic>
        <p:nvPicPr>
          <p:cNvPr id="148" name="Gráfico 147" descr="Usuarios con relleno sólido">
            <a:extLst>
              <a:ext uri="{FF2B5EF4-FFF2-40B4-BE49-F238E27FC236}">
                <a16:creationId xmlns:a16="http://schemas.microsoft.com/office/drawing/2014/main" id="{B5CEDC27-6416-9EB7-B0FB-EAE0977EBD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954429" y="2848568"/>
            <a:ext cx="189002" cy="189002"/>
          </a:xfrm>
          <a:prstGeom prst="rect">
            <a:avLst/>
          </a:prstGeom>
        </p:spPr>
      </p:pic>
      <p:pic>
        <p:nvPicPr>
          <p:cNvPr id="150" name="Gráfico 149" descr="Usuarios con relleno sólido">
            <a:extLst>
              <a:ext uri="{FF2B5EF4-FFF2-40B4-BE49-F238E27FC236}">
                <a16:creationId xmlns:a16="http://schemas.microsoft.com/office/drawing/2014/main" id="{C01267D6-0D67-A83A-6CF7-F45633025F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690553" y="2496214"/>
            <a:ext cx="189002" cy="189002"/>
          </a:xfrm>
          <a:prstGeom prst="rect">
            <a:avLst/>
          </a:prstGeom>
        </p:spPr>
      </p:pic>
      <p:pic>
        <p:nvPicPr>
          <p:cNvPr id="151" name="Gráfico 150" descr="Apertura contorno">
            <a:extLst>
              <a:ext uri="{FF2B5EF4-FFF2-40B4-BE49-F238E27FC236}">
                <a16:creationId xmlns:a16="http://schemas.microsoft.com/office/drawing/2014/main" id="{E83ED8E5-5E0B-2635-4308-4884BD3418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689634" y="2143205"/>
            <a:ext cx="205794" cy="205794"/>
          </a:xfrm>
          <a:prstGeom prst="rect">
            <a:avLst/>
          </a:prstGeom>
        </p:spPr>
      </p:pic>
      <p:pic>
        <p:nvPicPr>
          <p:cNvPr id="153" name="Gráfico 152" descr="Insignia de portapapeles con relleno sólido">
            <a:extLst>
              <a:ext uri="{FF2B5EF4-FFF2-40B4-BE49-F238E27FC236}">
                <a16:creationId xmlns:a16="http://schemas.microsoft.com/office/drawing/2014/main" id="{91CD24DB-7E16-C721-1FA7-BF2404B75A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665806" y="1759849"/>
            <a:ext cx="247631" cy="247631"/>
          </a:xfrm>
          <a:prstGeom prst="rect">
            <a:avLst/>
          </a:prstGeom>
        </p:spPr>
      </p:pic>
      <p:pic>
        <p:nvPicPr>
          <p:cNvPr id="157" name="Gráfico 156" descr="Insignia de portapapeles contorno">
            <a:extLst>
              <a:ext uri="{FF2B5EF4-FFF2-40B4-BE49-F238E27FC236}">
                <a16:creationId xmlns:a16="http://schemas.microsoft.com/office/drawing/2014/main" id="{A31A49C8-2C0E-71C8-DF23-41D9C558E0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672990" y="2797501"/>
            <a:ext cx="247631" cy="247631"/>
          </a:xfrm>
          <a:prstGeom prst="rect">
            <a:avLst/>
          </a:prstGeom>
        </p:spPr>
      </p:pic>
      <p:pic>
        <p:nvPicPr>
          <p:cNvPr id="159" name="Gráfico 158" descr="Reloj con relleno sólido">
            <a:extLst>
              <a:ext uri="{FF2B5EF4-FFF2-40B4-BE49-F238E27FC236}">
                <a16:creationId xmlns:a16="http://schemas.microsoft.com/office/drawing/2014/main" id="{90DAABA3-1055-3881-2806-4F54A27F76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722926" y="2665017"/>
            <a:ext cx="401913" cy="401913"/>
          </a:xfrm>
          <a:prstGeom prst="rect">
            <a:avLst/>
          </a:prstGeom>
        </p:spPr>
      </p:pic>
      <p:pic>
        <p:nvPicPr>
          <p:cNvPr id="160" name="Gráfico 159" descr="Usuarios con relleno sólido">
            <a:extLst>
              <a:ext uri="{FF2B5EF4-FFF2-40B4-BE49-F238E27FC236}">
                <a16:creationId xmlns:a16="http://schemas.microsoft.com/office/drawing/2014/main" id="{C6EB4781-AA5A-68E5-CE35-57C256611C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34693" y="1846902"/>
            <a:ext cx="307744" cy="307744"/>
          </a:xfrm>
          <a:prstGeom prst="rect">
            <a:avLst/>
          </a:prstGeom>
        </p:spPr>
      </p:pic>
      <p:pic>
        <p:nvPicPr>
          <p:cNvPr id="161" name="Gráfico 160" descr="Reloj con relleno sólido">
            <a:extLst>
              <a:ext uri="{FF2B5EF4-FFF2-40B4-BE49-F238E27FC236}">
                <a16:creationId xmlns:a16="http://schemas.microsoft.com/office/drawing/2014/main" id="{5CBB9881-7F0F-7FDD-CD07-F902E9744D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885989" y="4536539"/>
            <a:ext cx="284688" cy="284688"/>
          </a:xfrm>
          <a:prstGeom prst="rect">
            <a:avLst/>
          </a:prstGeom>
        </p:spPr>
      </p:pic>
      <p:pic>
        <p:nvPicPr>
          <p:cNvPr id="162" name="Gráfico 161" descr="Diana con relleno sólido">
            <a:extLst>
              <a:ext uri="{FF2B5EF4-FFF2-40B4-BE49-F238E27FC236}">
                <a16:creationId xmlns:a16="http://schemas.microsoft.com/office/drawing/2014/main" id="{CEFE9FDD-40D3-CB85-5960-0D8E269395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01959" y="4539180"/>
            <a:ext cx="271599" cy="271599"/>
          </a:xfrm>
          <a:prstGeom prst="rect">
            <a:avLst/>
          </a:prstGeom>
        </p:spPr>
      </p:pic>
      <p:pic>
        <p:nvPicPr>
          <p:cNvPr id="163" name="Gráfico 162" descr="Marca de escudo contorno">
            <a:extLst>
              <a:ext uri="{FF2B5EF4-FFF2-40B4-BE49-F238E27FC236}">
                <a16:creationId xmlns:a16="http://schemas.microsoft.com/office/drawing/2014/main" id="{A82FC8E4-D9B9-B157-BE7B-D56F9EFEB2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362447" y="4561507"/>
            <a:ext cx="233362" cy="233362"/>
          </a:xfrm>
          <a:prstGeom prst="rect">
            <a:avLst/>
          </a:prstGeom>
        </p:spPr>
      </p:pic>
      <p:pic>
        <p:nvPicPr>
          <p:cNvPr id="164" name="Gráfico 163" descr="Estadísticas con relleno sólido">
            <a:extLst>
              <a:ext uri="{FF2B5EF4-FFF2-40B4-BE49-F238E27FC236}">
                <a16:creationId xmlns:a16="http://schemas.microsoft.com/office/drawing/2014/main" id="{F1B5D2C5-E95F-E8A9-0D0B-19C78B9465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574275" y="4569793"/>
            <a:ext cx="237428" cy="237428"/>
          </a:xfrm>
          <a:prstGeom prst="rect">
            <a:avLst/>
          </a:prstGeom>
        </p:spPr>
      </p:pic>
      <p:pic>
        <p:nvPicPr>
          <p:cNvPr id="166" name="Gráfico 165" descr="Lista contorno">
            <a:extLst>
              <a:ext uri="{FF2B5EF4-FFF2-40B4-BE49-F238E27FC236}">
                <a16:creationId xmlns:a16="http://schemas.microsoft.com/office/drawing/2014/main" id="{9974AD22-2813-609D-C39E-F3BA5BC1EB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308048" y="3402214"/>
            <a:ext cx="297806" cy="297806"/>
          </a:xfrm>
          <a:prstGeom prst="rect">
            <a:avLst/>
          </a:prstGeom>
        </p:spPr>
      </p:pic>
      <p:pic>
        <p:nvPicPr>
          <p:cNvPr id="168" name="Gráfico 167" descr="Monitor con relleno sólido">
            <a:extLst>
              <a:ext uri="{FF2B5EF4-FFF2-40B4-BE49-F238E27FC236}">
                <a16:creationId xmlns:a16="http://schemas.microsoft.com/office/drawing/2014/main" id="{3C2DAED4-CE50-B288-03D8-E7C6F396F4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912394" y="3393409"/>
            <a:ext cx="342900" cy="342900"/>
          </a:xfrm>
          <a:prstGeom prst="rect">
            <a:avLst/>
          </a:prstGeom>
        </p:spPr>
      </p:pic>
      <p:pic>
        <p:nvPicPr>
          <p:cNvPr id="169" name="Gráfico 168" descr="Portapapeles mezclado con relleno sólido">
            <a:extLst>
              <a:ext uri="{FF2B5EF4-FFF2-40B4-BE49-F238E27FC236}">
                <a16:creationId xmlns:a16="http://schemas.microsoft.com/office/drawing/2014/main" id="{19738D79-BD8B-8263-8F89-48CDE46660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3714435" y="3400637"/>
            <a:ext cx="306702" cy="306702"/>
          </a:xfrm>
          <a:prstGeom prst="rect">
            <a:avLst/>
          </a:prstGeom>
        </p:spPr>
      </p:pic>
      <p:pic>
        <p:nvPicPr>
          <p:cNvPr id="170" name="Gráfico 169" descr="Estadísticas con relleno sólido">
            <a:extLst>
              <a:ext uri="{FF2B5EF4-FFF2-40B4-BE49-F238E27FC236}">
                <a16:creationId xmlns:a16="http://schemas.microsoft.com/office/drawing/2014/main" id="{F50A1D73-C115-3EB3-D8DF-5898C269D1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5359543" y="3393842"/>
            <a:ext cx="332021" cy="332021"/>
          </a:xfrm>
          <a:prstGeom prst="rect">
            <a:avLst/>
          </a:prstGeom>
        </p:spPr>
      </p:pic>
      <p:pic>
        <p:nvPicPr>
          <p:cNvPr id="171" name="Gráfico 170" descr="Usuarios con relleno sólido">
            <a:extLst>
              <a:ext uri="{FF2B5EF4-FFF2-40B4-BE49-F238E27FC236}">
                <a16:creationId xmlns:a16="http://schemas.microsoft.com/office/drawing/2014/main" id="{AB6691E1-E0A2-4462-D8D1-D14B55AD12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7169630" y="3410605"/>
            <a:ext cx="259991" cy="259991"/>
          </a:xfrm>
          <a:prstGeom prst="rect">
            <a:avLst/>
          </a:prstGeom>
        </p:spPr>
      </p:pic>
      <p:sp>
        <p:nvSpPr>
          <p:cNvPr id="172" name="Shape 50">
            <a:extLst>
              <a:ext uri="{FF2B5EF4-FFF2-40B4-BE49-F238E27FC236}">
                <a16:creationId xmlns:a16="http://schemas.microsoft.com/office/drawing/2014/main" id="{A1385910-098E-9474-5EE6-D5120EDA326E}"/>
              </a:ext>
            </a:extLst>
          </p:cNvPr>
          <p:cNvSpPr/>
          <p:nvPr/>
        </p:nvSpPr>
        <p:spPr>
          <a:xfrm>
            <a:off x="445849" y="4530188"/>
            <a:ext cx="413045" cy="380021"/>
          </a:xfrm>
          <a:prstGeom prst="ellipse">
            <a:avLst/>
          </a:prstGeom>
          <a:solidFill>
            <a:schemeClr val="tx1"/>
          </a:solidFill>
          <a:ln w="19050">
            <a:solidFill>
              <a:srgbClr val="3963DB"/>
            </a:solidFill>
            <a:prstDash val="solid"/>
          </a:ln>
        </p:spPr>
        <p:txBody>
          <a:bodyPr/>
          <a:lstStyle/>
          <a:p>
            <a:pPr defTabSz="685800"/>
            <a:endParaRPr lang="es-PE" sz="135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5" name="Gráfico 174" descr="Cohete contorno">
            <a:extLst>
              <a:ext uri="{FF2B5EF4-FFF2-40B4-BE49-F238E27FC236}">
                <a16:creationId xmlns:a16="http://schemas.microsoft.com/office/drawing/2014/main" id="{BCAAD8C9-3373-329F-BAAE-F12A079A74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474894" y="4561922"/>
            <a:ext cx="342900" cy="3429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0B729728-C015-98BE-06BB-ACEBF2DF2139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6231" y="124858"/>
            <a:ext cx="1261872" cy="346877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FB09BCCB-A773-BBCA-F3CC-FE0FB2E7F3DB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362066" y="174866"/>
            <a:ext cx="1251153" cy="226340"/>
          </a:xfrm>
          <a:prstGeom prst="rect">
            <a:avLst/>
          </a:prstGeom>
        </p:spPr>
      </p:pic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02C24D14-9132-E206-A0E5-10E5BF819CC1}"/>
              </a:ext>
            </a:extLst>
          </p:cNvPr>
          <p:cNvSpPr/>
          <p:nvPr/>
        </p:nvSpPr>
        <p:spPr>
          <a:xfrm>
            <a:off x="299965" y="4043363"/>
            <a:ext cx="8614310" cy="397733"/>
          </a:xfrm>
          <a:prstGeom prst="roundRect">
            <a:avLst/>
          </a:prstGeom>
          <a:solidFill>
            <a:schemeClr val="accent2"/>
          </a:solidFill>
          <a:ln w="952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1000" tIns="54000" rIns="81000" bIns="54000" rtlCol="0" anchor="ctr"/>
          <a:lstStyle/>
          <a:p>
            <a:pPr algn="ctr" defTabSz="685800">
              <a:lnSpc>
                <a:spcPct val="110000"/>
              </a:lnSpc>
              <a:spcBef>
                <a:spcPts val="450"/>
              </a:spcBef>
            </a:pPr>
            <a:endParaRPr lang="es-PE" sz="150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Google Shape;127;p13">
            <a:extLst>
              <a:ext uri="{FF2B5EF4-FFF2-40B4-BE49-F238E27FC236}">
                <a16:creationId xmlns:a16="http://schemas.microsoft.com/office/drawing/2014/main" id="{EBA7A46F-A71D-1FBF-628F-57DC85D798AE}"/>
              </a:ext>
            </a:extLst>
          </p:cNvPr>
          <p:cNvSpPr txBox="1"/>
          <p:nvPr/>
        </p:nvSpPr>
        <p:spPr>
          <a:xfrm>
            <a:off x="646345" y="4162382"/>
            <a:ext cx="1553969" cy="121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8588" tIns="0" rIns="0" bIns="0" anchor="t" anchorCtr="0">
            <a:spAutoFit/>
          </a:bodyPr>
          <a:lstStyle/>
          <a:p>
            <a:pPr defTabSz="685800"/>
            <a:r>
              <a:rPr lang="en-US" sz="788" b="1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ENTREGABLES DEL PILOTO</a:t>
            </a:r>
            <a:endParaRPr sz="135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" name="Google Shape;154;p13" descr="image.png">
            <a:extLst>
              <a:ext uri="{FF2B5EF4-FFF2-40B4-BE49-F238E27FC236}">
                <a16:creationId xmlns:a16="http://schemas.microsoft.com/office/drawing/2014/main" id="{F9E922FF-8519-39B4-B6B0-2781AC371EB2}"/>
              </a:ext>
            </a:extLst>
          </p:cNvPr>
          <p:cNvPicPr preferRelativeResize="0"/>
          <p:nvPr/>
        </p:nvPicPr>
        <p:blipFill rotWithShape="1">
          <a:blip r:embed="rId29">
            <a:alphaModFix/>
          </a:blip>
          <a:srcRect/>
          <a:stretch/>
        </p:blipFill>
        <p:spPr>
          <a:xfrm>
            <a:off x="495718" y="4151343"/>
            <a:ext cx="204683" cy="15117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Rectángulo 27">
            <a:extLst>
              <a:ext uri="{FF2B5EF4-FFF2-40B4-BE49-F238E27FC236}">
                <a16:creationId xmlns:a16="http://schemas.microsoft.com/office/drawing/2014/main" id="{3ABF2117-DCE3-4F2E-1E5E-71745F61DFD0}"/>
              </a:ext>
            </a:extLst>
          </p:cNvPr>
          <p:cNvSpPr/>
          <p:nvPr/>
        </p:nvSpPr>
        <p:spPr>
          <a:xfrm>
            <a:off x="2404331" y="4089327"/>
            <a:ext cx="1425366" cy="301803"/>
          </a:xfrm>
          <a:prstGeom prst="rect">
            <a:avLst/>
          </a:prstGeom>
          <a:solidFill>
            <a:schemeClr val="accent1">
              <a:lumMod val="75000"/>
              <a:lumOff val="25000"/>
            </a:schemeClr>
          </a:solidFill>
          <a:ln w="952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1000" tIns="54000" rIns="81000" bIns="54000" rtlCol="0" anchor="ctr"/>
          <a:lstStyle/>
          <a:p>
            <a:pPr algn="ctr" defTabSz="685800">
              <a:lnSpc>
                <a:spcPct val="110000"/>
              </a:lnSpc>
              <a:spcBef>
                <a:spcPts val="450"/>
              </a:spcBef>
            </a:pPr>
            <a:endParaRPr lang="es-PE" sz="150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25474162-4267-900A-0262-6804E327E674}"/>
              </a:ext>
            </a:extLst>
          </p:cNvPr>
          <p:cNvSpPr txBox="1"/>
          <p:nvPr/>
        </p:nvSpPr>
        <p:spPr>
          <a:xfrm>
            <a:off x="2499360" y="4137751"/>
            <a:ext cx="1253490" cy="104198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defTabSz="685800"/>
            <a:r>
              <a:rPr lang="es-PE" sz="750" err="1">
                <a:solidFill>
                  <a:srgbClr val="FFFFFF"/>
                </a:solidFill>
                <a:latin typeface="Arial"/>
              </a:rPr>
              <a:t>Skills</a:t>
            </a:r>
            <a:r>
              <a:rPr lang="es-PE" sz="750">
                <a:solidFill>
                  <a:srgbClr val="FFFFFF"/>
                </a:solidFill>
                <a:latin typeface="Arial"/>
              </a:rPr>
              <a:t> para uso de los </a:t>
            </a:r>
            <a:r>
              <a:rPr lang="es-PE" sz="750" err="1">
                <a:solidFill>
                  <a:srgbClr val="FFFFFF"/>
                </a:solidFill>
                <a:latin typeface="Arial"/>
              </a:rPr>
              <a:t>squads</a:t>
            </a:r>
            <a:r>
              <a:rPr lang="es-PE" sz="750">
                <a:solidFill>
                  <a:srgbClr val="FFFFFF"/>
                </a:solidFill>
                <a:latin typeface="Arial"/>
              </a:rPr>
              <a:t> (5)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B33CE223-A5E9-5AE2-8470-0CD2CB70B1C0}"/>
              </a:ext>
            </a:extLst>
          </p:cNvPr>
          <p:cNvSpPr/>
          <p:nvPr/>
        </p:nvSpPr>
        <p:spPr>
          <a:xfrm>
            <a:off x="3869956" y="4089327"/>
            <a:ext cx="1425366" cy="301803"/>
          </a:xfrm>
          <a:prstGeom prst="rect">
            <a:avLst/>
          </a:prstGeom>
          <a:solidFill>
            <a:schemeClr val="accent1">
              <a:lumMod val="75000"/>
              <a:lumOff val="25000"/>
            </a:schemeClr>
          </a:solidFill>
          <a:ln w="952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1000" tIns="54000" rIns="81000" bIns="54000" rtlCol="0" anchor="ctr"/>
          <a:lstStyle/>
          <a:p>
            <a:pPr algn="ctr" defTabSz="685800">
              <a:lnSpc>
                <a:spcPct val="110000"/>
              </a:lnSpc>
              <a:spcBef>
                <a:spcPts val="450"/>
              </a:spcBef>
            </a:pPr>
            <a:endParaRPr lang="es-PE" sz="1500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E456A534-3181-D47F-7490-099CAFE01601}"/>
              </a:ext>
            </a:extLst>
          </p:cNvPr>
          <p:cNvSpPr txBox="1"/>
          <p:nvPr/>
        </p:nvSpPr>
        <p:spPr>
          <a:xfrm>
            <a:off x="3985350" y="4146787"/>
            <a:ext cx="1253490" cy="104198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defTabSz="685800"/>
            <a:r>
              <a:rPr lang="es-PE" sz="750">
                <a:solidFill>
                  <a:srgbClr val="FFFFFF"/>
                </a:solidFill>
                <a:latin typeface="Arial"/>
              </a:rPr>
              <a:t>Reportes (Métricas iniciales y </a:t>
            </a:r>
            <a:r>
              <a:rPr lang="es-PE" sz="750" err="1">
                <a:solidFill>
                  <a:srgbClr val="FFFFFF"/>
                </a:solidFill>
                <a:latin typeface="Arial"/>
              </a:rPr>
              <a:t>KPIs</a:t>
            </a:r>
            <a:r>
              <a:rPr lang="es-PE" sz="750">
                <a:solidFill>
                  <a:srgbClr val="FFFFFF"/>
                </a:solidFill>
                <a:latin typeface="Arial"/>
              </a:rPr>
              <a:t>)</a:t>
            </a:r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73F12782-956F-49BF-D5A5-DAE9E4B9BC99}"/>
              </a:ext>
            </a:extLst>
          </p:cNvPr>
          <p:cNvSpPr/>
          <p:nvPr/>
        </p:nvSpPr>
        <p:spPr>
          <a:xfrm>
            <a:off x="5332589" y="4094403"/>
            <a:ext cx="1425366" cy="301803"/>
          </a:xfrm>
          <a:prstGeom prst="rect">
            <a:avLst/>
          </a:prstGeom>
          <a:solidFill>
            <a:schemeClr val="accent1">
              <a:lumMod val="75000"/>
              <a:lumOff val="25000"/>
            </a:schemeClr>
          </a:solidFill>
          <a:ln w="952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1000" tIns="54000" rIns="81000" bIns="54000" rtlCol="0" anchor="ctr"/>
          <a:lstStyle/>
          <a:p>
            <a:pPr algn="ctr" defTabSz="685800">
              <a:lnSpc>
                <a:spcPct val="110000"/>
              </a:lnSpc>
              <a:spcBef>
                <a:spcPts val="450"/>
              </a:spcBef>
            </a:pPr>
            <a:endParaRPr lang="es-PE" sz="150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22A07DB9-11FB-0194-C13A-3B677C6597A9}"/>
              </a:ext>
            </a:extLst>
          </p:cNvPr>
          <p:cNvSpPr txBox="1"/>
          <p:nvPr/>
        </p:nvSpPr>
        <p:spPr>
          <a:xfrm>
            <a:off x="5447983" y="4151863"/>
            <a:ext cx="1253490" cy="104198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defTabSz="685800"/>
            <a:r>
              <a:rPr lang="es-PE" sz="750">
                <a:solidFill>
                  <a:srgbClr val="FFFFFF"/>
                </a:solidFill>
                <a:latin typeface="Arial"/>
              </a:rPr>
              <a:t>Guías de buenas prácticas</a:t>
            </a:r>
          </a:p>
        </p:txBody>
      </p:sp>
      <p:sp>
        <p:nvSpPr>
          <p:cNvPr id="44" name="Rectángulo 43">
            <a:extLst>
              <a:ext uri="{FF2B5EF4-FFF2-40B4-BE49-F238E27FC236}">
                <a16:creationId xmlns:a16="http://schemas.microsoft.com/office/drawing/2014/main" id="{6429585F-08D5-455F-5BE3-EF479008267F}"/>
              </a:ext>
            </a:extLst>
          </p:cNvPr>
          <p:cNvSpPr/>
          <p:nvPr/>
        </p:nvSpPr>
        <p:spPr>
          <a:xfrm>
            <a:off x="6819153" y="4097127"/>
            <a:ext cx="1425366" cy="301803"/>
          </a:xfrm>
          <a:prstGeom prst="rect">
            <a:avLst/>
          </a:prstGeom>
          <a:solidFill>
            <a:schemeClr val="accent1">
              <a:lumMod val="75000"/>
              <a:lumOff val="25000"/>
            </a:schemeClr>
          </a:solidFill>
          <a:ln w="952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1000" tIns="54000" rIns="81000" bIns="54000" rtlCol="0" anchor="ctr"/>
          <a:lstStyle/>
          <a:p>
            <a:pPr algn="ctr" defTabSz="685800">
              <a:lnSpc>
                <a:spcPct val="110000"/>
              </a:lnSpc>
              <a:spcBef>
                <a:spcPts val="450"/>
              </a:spcBef>
            </a:pPr>
            <a:endParaRPr lang="es-PE" sz="150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14A64583-BF36-08EB-B83B-ECF80B274616}"/>
              </a:ext>
            </a:extLst>
          </p:cNvPr>
          <p:cNvSpPr txBox="1"/>
          <p:nvPr/>
        </p:nvSpPr>
        <p:spPr>
          <a:xfrm>
            <a:off x="6934547" y="4154587"/>
            <a:ext cx="1253490" cy="104198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defTabSz="685800"/>
            <a:r>
              <a:rPr lang="es-PE" sz="750">
                <a:solidFill>
                  <a:srgbClr val="FFFFFF"/>
                </a:solidFill>
                <a:latin typeface="Arial"/>
              </a:rPr>
              <a:t>Lecciones aprendidas (Documentación)</a:t>
            </a:r>
          </a:p>
        </p:txBody>
      </p:sp>
    </p:spTree>
    <p:extLst>
      <p:ext uri="{BB962C8B-B14F-4D97-AF65-F5344CB8AC3E}">
        <p14:creationId xmlns:p14="http://schemas.microsoft.com/office/powerpoint/2010/main" val="3688799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Metodología: SDD + BMAD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2"/>
          <p:cNvSpPr/>
          <p:nvPr/>
        </p:nvSpPr>
        <p:spPr>
          <a:xfrm>
            <a:off x="457200" y="1115568"/>
            <a:ext cx="832104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proyecto sigue Spec-Driven Development (SDD) y BMAD: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1417320"/>
            <a:ext cx="4160520" cy="1234440"/>
          </a:xfrm>
          <a:prstGeom prst="roundRect">
            <a:avLst>
              <a:gd name="adj" fmla="val 4444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/>
          <p:nvPr/>
        </p:nvSpPr>
        <p:spPr>
          <a:xfrm>
            <a:off x="594360" y="153619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SDD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94360" y="1828800"/>
            <a:ext cx="370332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de desarrollo guiado por especificaciones. Antes de escribir código se produce y aprueba una spec (la DHU) con criterios de aceptación y mapa técnico — bcv-hu-implementer no genera código si la DHU tiene gaps sin resolver.</a:t>
            </a:r>
            <a:endParaRPr lang="en-US" sz="980" dirty="0"/>
          </a:p>
        </p:txBody>
      </p:sp>
      <p:sp>
        <p:nvSpPr>
          <p:cNvPr id="9" name="Shape 6"/>
          <p:cNvSpPr/>
          <p:nvPr/>
        </p:nvSpPr>
        <p:spPr>
          <a:xfrm>
            <a:off x="4709160" y="1417320"/>
            <a:ext cx="4160520" cy="1234440"/>
          </a:xfrm>
          <a:prstGeom prst="roundRect">
            <a:avLst>
              <a:gd name="adj" fmla="val 4444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4937760" y="153619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BMAD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937760" y="1828800"/>
            <a:ext cx="370332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de desarrollo ágil con IA. Es el ciclo interno que cada skill sigue al construir algo: Understand (entender la tarea y el código), Design (diseñar el cambio), Build (generarlo) y Validate (verificarlo).</a:t>
            </a:r>
            <a:endParaRPr lang="en-US" sz="98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880360"/>
          <a:ext cx="8503920" cy="1353312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26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Fase SDD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Acción del flujo BCV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Intención de entrada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 funcional de negocio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Research-Driven Context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bcv-hu-context-analyzer investiga el código real con graphify → .context/hu-&lt;codigo&gt;.md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Especificar formalmente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bcv-dhu-writer escribe la DHU (criterios de aceptación, endpoints, mapa técnico)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Implementar desde la spec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bcv-hu-implementer aplica la DHU en ramas feature (dry-run / apply)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 / feedback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Linter + tests, revisión humana y gotchas que vuelven al contexto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5" name="Text 10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Skills que se Identificaron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2"/>
          <p:cNvSpPr/>
          <p:nvPr/>
        </p:nvSpPr>
        <p:spPr>
          <a:xfrm>
            <a:off x="457200" y="1133856"/>
            <a:ext cx="832104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identificó y construyó un pipeline de 3 skills principales, uno por cada paso del flujo SDD: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493776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/>
          <p:nvPr/>
        </p:nvSpPr>
        <p:spPr>
          <a:xfrm>
            <a:off x="530352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HU funcional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30352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requerimiento de negocio</a:t>
            </a:r>
            <a:endParaRPr lang="en-US" sz="680" dirty="0"/>
          </a:p>
        </p:txBody>
      </p:sp>
      <p:sp>
        <p:nvSpPr>
          <p:cNvPr id="9" name="Text 6"/>
          <p:cNvSpPr/>
          <p:nvPr/>
        </p:nvSpPr>
        <p:spPr>
          <a:xfrm>
            <a:off x="1536192" y="1874520"/>
            <a:ext cx="173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691640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1728216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bcv-hu-context-analyzer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1728216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 código con graphify</a:t>
            </a:r>
            <a:endParaRPr lang="en-US" sz="680" dirty="0"/>
          </a:p>
        </p:txBody>
      </p:sp>
      <p:sp>
        <p:nvSpPr>
          <p:cNvPr id="13" name="Text 10"/>
          <p:cNvSpPr/>
          <p:nvPr/>
        </p:nvSpPr>
        <p:spPr>
          <a:xfrm>
            <a:off x="2734056" y="1874520"/>
            <a:ext cx="173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2889504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ext 12"/>
          <p:cNvSpPr/>
          <p:nvPr/>
        </p:nvSpPr>
        <p:spPr>
          <a:xfrm>
            <a:off x="2926080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Contexto técnico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2926080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.context/hu-&lt;codigo&gt;.md</a:t>
            </a:r>
            <a:endParaRPr lang="en-US" sz="680" dirty="0"/>
          </a:p>
        </p:txBody>
      </p:sp>
      <p:sp>
        <p:nvSpPr>
          <p:cNvPr id="17" name="Text 14"/>
          <p:cNvSpPr/>
          <p:nvPr/>
        </p:nvSpPr>
        <p:spPr>
          <a:xfrm>
            <a:off x="3931920" y="1874520"/>
            <a:ext cx="173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087368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9" name="Text 16"/>
          <p:cNvSpPr/>
          <p:nvPr/>
        </p:nvSpPr>
        <p:spPr>
          <a:xfrm>
            <a:off x="4123944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bcv-dhu-writer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4123944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escribe la especificación</a:t>
            </a:r>
            <a:endParaRPr lang="en-US" sz="680" dirty="0"/>
          </a:p>
        </p:txBody>
      </p:sp>
      <p:sp>
        <p:nvSpPr>
          <p:cNvPr id="21" name="Text 18"/>
          <p:cNvSpPr/>
          <p:nvPr/>
        </p:nvSpPr>
        <p:spPr>
          <a:xfrm>
            <a:off x="5129784" y="1874520"/>
            <a:ext cx="173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5285232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5321808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DHU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5321808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ibk-hu-technical-refinement</a:t>
            </a:r>
            <a:endParaRPr lang="en-US" sz="680" dirty="0"/>
          </a:p>
        </p:txBody>
      </p:sp>
      <p:sp>
        <p:nvSpPr>
          <p:cNvPr id="25" name="Text 22"/>
          <p:cNvSpPr/>
          <p:nvPr/>
        </p:nvSpPr>
        <p:spPr>
          <a:xfrm>
            <a:off x="6327648" y="1874520"/>
            <a:ext cx="173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483096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F9E79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Text 24"/>
          <p:cNvSpPr/>
          <p:nvPr/>
        </p:nvSpPr>
        <p:spPr>
          <a:xfrm>
            <a:off x="6519672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bcv-hu-implementer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519672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 desde la spec</a:t>
            </a:r>
            <a:endParaRPr lang="en-US" sz="680" dirty="0"/>
          </a:p>
        </p:txBody>
      </p:sp>
      <p:sp>
        <p:nvSpPr>
          <p:cNvPr id="29" name="Text 26"/>
          <p:cNvSpPr/>
          <p:nvPr/>
        </p:nvSpPr>
        <p:spPr>
          <a:xfrm>
            <a:off x="7525512" y="1874520"/>
            <a:ext cx="173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7680960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Text 28"/>
          <p:cNvSpPr/>
          <p:nvPr/>
        </p:nvSpPr>
        <p:spPr>
          <a:xfrm>
            <a:off x="7717536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Código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7717536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ramas feature + tests</a:t>
            </a:r>
            <a:endParaRPr lang="en-US" sz="680" dirty="0"/>
          </a:p>
        </p:txBody>
      </p:sp>
      <p:sp>
        <p:nvSpPr>
          <p:cNvPr id="33" name="Shape 30"/>
          <p:cNvSpPr/>
          <p:nvPr/>
        </p:nvSpPr>
        <p:spPr>
          <a:xfrm>
            <a:off x="365760" y="3246120"/>
            <a:ext cx="8503920" cy="1188720"/>
          </a:xfrm>
          <a:prstGeom prst="roundRect">
            <a:avLst>
              <a:gd name="adj" fmla="val 4615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31"/>
          <p:cNvSpPr/>
          <p:nvPr/>
        </p:nvSpPr>
        <p:spPr>
          <a:xfrm>
            <a:off x="594360" y="34015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Primera entrega: un plan de tareas validado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594360" y="3703320"/>
            <a:ext cx="804672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bcv-hu-context-analyzer (research con graphify) y bcv-dhu-writer (especificación) ejecutan la primera parte del pipeline y entregan un plan de tareas (la DHU) validado. Desde ahí, bcv-hu-implementer aplica el plan y genera el código, iterando con el feedback del equipo dev.</a:t>
            </a:r>
            <a:endParaRPr lang="en-US" sz="1050" dirty="0"/>
          </a:p>
        </p:txBody>
      </p:sp>
      <p:pic>
        <p:nvPicPr>
          <p:cNvPr id="3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Resultados (hitos medidos)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2"/>
          <p:cNvSpPr/>
          <p:nvPr/>
        </p:nvSpPr>
        <p:spPr>
          <a:xfrm>
            <a:off x="457200" y="1078992"/>
            <a:ext cx="813816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dos primeros ejercicios con el equipo dev del banco cuantificaron el ahorro frente a la forma tradicional: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99032"/>
          <a:ext cx="8503920" cy="98145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Usuario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HU / EVT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Compl.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Tradic. (h)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Copilot (h)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Skill+Graphify (h)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Ahorro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Fernando Camargo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Identificación de canal OneAPP en trama Postmortem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Lionel Gonzales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[EVT] Arquitectura cluster-to-cluster – Paquete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365760" y="277977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Fernando Camargo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365760" y="299923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 · complejidad baja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3611880" y="2779776"/>
            <a:ext cx="868680" cy="402336"/>
          </a:xfrm>
          <a:prstGeom prst="roundRect">
            <a:avLst>
              <a:gd name="adj" fmla="val 22727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6"/>
          <p:cNvSpPr/>
          <p:nvPr/>
        </p:nvSpPr>
        <p:spPr>
          <a:xfrm>
            <a:off x="3611880" y="277977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75 %
</a:t>
            </a:r>
            <a:r>
              <a:rPr lang="en-US" sz="700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ahorro</a:t>
            </a:r>
            <a:endParaRPr lang="en-US" sz="1400" dirty="0"/>
          </a:p>
        </p:txBody>
      </p:sp>
      <p:graphicFrame>
        <p:nvGraphicFramePr>
          <p:cNvPr id="11" name="Chart 0"/>
          <p:cNvGraphicFramePr/>
          <p:nvPr/>
        </p:nvGraphicFramePr>
        <p:xfrm>
          <a:off x="365760" y="3218688"/>
          <a:ext cx="4114800" cy="11521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Text 7"/>
          <p:cNvSpPr/>
          <p:nvPr/>
        </p:nvSpPr>
        <p:spPr>
          <a:xfrm>
            <a:off x="2999232" y="3255264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-75 %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4754880" y="277977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Lionel Gonzales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4754880" y="299923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· complejidad media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8001000" y="2779776"/>
            <a:ext cx="868680" cy="402336"/>
          </a:xfrm>
          <a:prstGeom prst="roundRect">
            <a:avLst>
              <a:gd name="adj" fmla="val 22727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ext 11"/>
          <p:cNvSpPr/>
          <p:nvPr/>
        </p:nvSpPr>
        <p:spPr>
          <a:xfrm>
            <a:off x="8001000" y="277977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79 %
</a:t>
            </a:r>
            <a:r>
              <a:rPr lang="en-US" sz="700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ahorro</a:t>
            </a:r>
            <a:endParaRPr lang="en-US" sz="1400" dirty="0"/>
          </a:p>
        </p:txBody>
      </p:sp>
      <p:graphicFrame>
        <p:nvGraphicFramePr>
          <p:cNvPr id="17" name="Chart 1"/>
          <p:cNvGraphicFramePr/>
          <p:nvPr/>
        </p:nvGraphicFramePr>
        <p:xfrm>
          <a:off x="4754880" y="3218688"/>
          <a:ext cx="4114800" cy="11521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8" name="Text 12"/>
          <p:cNvSpPr/>
          <p:nvPr/>
        </p:nvSpPr>
        <p:spPr>
          <a:xfrm>
            <a:off x="7388352" y="3255264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-79 %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457200" y="4526280"/>
            <a:ext cx="813816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caso de mayor complejidad (Lionel Gonzales), pasar de 48 h a 10 h equivale a un ahorro de ~79 % (~4 días de implementación).</a:t>
            </a:r>
            <a:endParaRPr lang="en-US" sz="1050" dirty="0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2" name="Text 15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Roadmap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Shape 2"/>
          <p:cNvSpPr/>
          <p:nvPr/>
        </p:nvSpPr>
        <p:spPr>
          <a:xfrm>
            <a:off x="365760" y="1060704"/>
            <a:ext cx="2077974" cy="274320"/>
          </a:xfrm>
          <a:prstGeom prst="roundRect">
            <a:avLst>
              <a:gd name="adj" fmla="val 53333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365760" y="1060704"/>
            <a:ext cx="20779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1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365760" y="1362456"/>
            <a:ext cx="207797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13–28 ago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507742" y="1060704"/>
            <a:ext cx="2077974" cy="274320"/>
          </a:xfrm>
          <a:prstGeom prst="roundRect">
            <a:avLst>
              <a:gd name="adj" fmla="val 53333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6"/>
          <p:cNvSpPr/>
          <p:nvPr/>
        </p:nvSpPr>
        <p:spPr>
          <a:xfrm>
            <a:off x="2507742" y="1060704"/>
            <a:ext cx="20779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2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507742" y="1362456"/>
            <a:ext cx="207797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ago–11 sep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649724" y="1060704"/>
            <a:ext cx="2077974" cy="274320"/>
          </a:xfrm>
          <a:prstGeom prst="roundRect">
            <a:avLst>
              <a:gd name="adj" fmla="val 53333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ext 9"/>
          <p:cNvSpPr/>
          <p:nvPr/>
        </p:nvSpPr>
        <p:spPr>
          <a:xfrm>
            <a:off x="4649724" y="1060704"/>
            <a:ext cx="20779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3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649724" y="1362456"/>
            <a:ext cx="207797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14–25 sep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6791706" y="1060704"/>
            <a:ext cx="2077974" cy="274320"/>
          </a:xfrm>
          <a:prstGeom prst="roundRect">
            <a:avLst>
              <a:gd name="adj" fmla="val 53333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ext 12"/>
          <p:cNvSpPr/>
          <p:nvPr/>
        </p:nvSpPr>
        <p:spPr>
          <a:xfrm>
            <a:off x="6791706" y="1060704"/>
            <a:ext cx="20779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4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791706" y="1362456"/>
            <a:ext cx="207797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sep–09 oct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365760" y="1600200"/>
            <a:ext cx="1006983" cy="347472"/>
          </a:xfrm>
          <a:prstGeom prst="roundRect">
            <a:avLst>
              <a:gd name="adj" fmla="val 36842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Text 15"/>
          <p:cNvSpPr/>
          <p:nvPr/>
        </p:nvSpPr>
        <p:spPr>
          <a:xfrm>
            <a:off x="365760" y="1600200"/>
            <a:ext cx="100698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1
</a:t>
            </a:r>
            <a:r>
              <a:rPr lang="en-US" sz="700" dirty="0">
                <a:solidFill>
                  <a:srgbClr val="1E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13–21 ago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436751" y="1600200"/>
            <a:ext cx="1006983" cy="347472"/>
          </a:xfrm>
          <a:prstGeom prst="roundRect">
            <a:avLst>
              <a:gd name="adj" fmla="val 36842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1436751" y="1600200"/>
            <a:ext cx="100698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2
</a:t>
            </a:r>
            <a:r>
              <a:rPr lang="en-US" sz="700" dirty="0">
                <a:solidFill>
                  <a:srgbClr val="1E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24–28 ago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2507742" y="1600200"/>
            <a:ext cx="1006983" cy="347472"/>
          </a:xfrm>
          <a:prstGeom prst="roundRect">
            <a:avLst>
              <a:gd name="adj" fmla="val 36842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2" name="Text 19"/>
          <p:cNvSpPr/>
          <p:nvPr/>
        </p:nvSpPr>
        <p:spPr>
          <a:xfrm>
            <a:off x="2507742" y="1600200"/>
            <a:ext cx="100698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3
</a:t>
            </a:r>
            <a:r>
              <a:rPr lang="en-US" sz="700" dirty="0">
                <a:solidFill>
                  <a:srgbClr val="1E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ago–04 sep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3578733" y="1600200"/>
            <a:ext cx="1006983" cy="347472"/>
          </a:xfrm>
          <a:prstGeom prst="roundRect">
            <a:avLst>
              <a:gd name="adj" fmla="val 36842"/>
            </a:avLst>
          </a:prstGeom>
          <a:solidFill>
            <a:srgbClr val="F9E79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Text 21"/>
          <p:cNvSpPr/>
          <p:nvPr/>
        </p:nvSpPr>
        <p:spPr>
          <a:xfrm>
            <a:off x="3578733" y="1600200"/>
            <a:ext cx="100698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4
</a:t>
            </a:r>
            <a:r>
              <a:rPr lang="en-US" sz="700" dirty="0">
                <a:solidFill>
                  <a:srgbClr val="4A3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07–11 sep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649724" y="1600200"/>
            <a:ext cx="1006983" cy="347472"/>
          </a:xfrm>
          <a:prstGeom prst="roundRect">
            <a:avLst>
              <a:gd name="adj" fmla="val 36842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4649724" y="1600200"/>
            <a:ext cx="100698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5
</a:t>
            </a: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14–18 sep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720715" y="1600200"/>
            <a:ext cx="1006983" cy="347472"/>
          </a:xfrm>
          <a:prstGeom prst="roundRect">
            <a:avLst>
              <a:gd name="adj" fmla="val 36842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5720715" y="1600200"/>
            <a:ext cx="100698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6
</a:t>
            </a: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21–25 sep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6791706" y="1600200"/>
            <a:ext cx="1006983" cy="347472"/>
          </a:xfrm>
          <a:prstGeom prst="roundRect">
            <a:avLst>
              <a:gd name="adj" fmla="val 36842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Text 27"/>
          <p:cNvSpPr/>
          <p:nvPr/>
        </p:nvSpPr>
        <p:spPr>
          <a:xfrm>
            <a:off x="6791706" y="1600200"/>
            <a:ext cx="100698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7
</a:t>
            </a: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sep–02 oct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7862697" y="1600200"/>
            <a:ext cx="1006983" cy="347472"/>
          </a:xfrm>
          <a:prstGeom prst="roundRect">
            <a:avLst>
              <a:gd name="adj" fmla="val 36842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7862697" y="1600200"/>
            <a:ext cx="100698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8
</a:t>
            </a: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05–09 oct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65760" y="2020824"/>
            <a:ext cx="1006983" cy="1376172"/>
          </a:xfrm>
          <a:prstGeom prst="roundRect">
            <a:avLst>
              <a:gd name="adj" fmla="val 7264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31"/>
          <p:cNvSpPr/>
          <p:nvPr/>
        </p:nvSpPr>
        <p:spPr>
          <a:xfrm>
            <a:off x="420624" y="2075688"/>
            <a:ext cx="897255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Consolidación de repos + entorno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3470148"/>
            <a:ext cx="1006983" cy="1376172"/>
          </a:xfrm>
          <a:prstGeom prst="roundRect">
            <a:avLst>
              <a:gd name="adj" fmla="val 7264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33"/>
          <p:cNvSpPr/>
          <p:nvPr/>
        </p:nvSpPr>
        <p:spPr>
          <a:xfrm>
            <a:off x="420624" y="3525012"/>
            <a:ext cx="897255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Arranque de los 3 skills, el flujo de generación DHU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1436751" y="2020824"/>
            <a:ext cx="1006983" cy="1376172"/>
          </a:xfrm>
          <a:prstGeom prst="roundRect">
            <a:avLst>
              <a:gd name="adj" fmla="val 7264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Text 35"/>
          <p:cNvSpPr/>
          <p:nvPr/>
        </p:nvSpPr>
        <p:spPr>
          <a:xfrm>
            <a:off x="1491615" y="2075688"/>
            <a:ext cx="897255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Adopción de graphify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1436751" y="3470148"/>
            <a:ext cx="1006983" cy="1376172"/>
          </a:xfrm>
          <a:prstGeom prst="roundRect">
            <a:avLst>
              <a:gd name="adj" fmla="val 7264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0" name="Text 37"/>
          <p:cNvSpPr/>
          <p:nvPr/>
        </p:nvSpPr>
        <p:spPr>
          <a:xfrm>
            <a:off x="1491615" y="3525012"/>
            <a:ext cx="897255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Ejecución de HU con equipo dev (primer ejercicio real)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2507742" y="2020824"/>
            <a:ext cx="1006983" cy="893064"/>
          </a:xfrm>
          <a:prstGeom prst="roundRect">
            <a:avLst>
              <a:gd name="adj" fmla="val 8191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2" name="Text 39"/>
          <p:cNvSpPr/>
          <p:nvPr/>
        </p:nvSpPr>
        <p:spPr>
          <a:xfrm>
            <a:off x="2562606" y="2075688"/>
            <a:ext cx="897255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Iteración de los skills del pipeline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2507742" y="2987040"/>
            <a:ext cx="1006983" cy="893064"/>
          </a:xfrm>
          <a:prstGeom prst="roundRect">
            <a:avLst>
              <a:gd name="adj" fmla="val 8191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4" name="Text 41"/>
          <p:cNvSpPr/>
          <p:nvPr/>
        </p:nvSpPr>
        <p:spPr>
          <a:xfrm>
            <a:off x="2562606" y="3041904"/>
            <a:ext cx="897255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Ejecución EVT con equipo dev (context-analyzer → DHU → código)</a:t>
            </a:r>
            <a:endParaRPr lang="en-US" sz="750" dirty="0"/>
          </a:p>
        </p:txBody>
      </p:sp>
      <p:sp>
        <p:nvSpPr>
          <p:cNvPr id="45" name="Shape 42"/>
          <p:cNvSpPr/>
          <p:nvPr/>
        </p:nvSpPr>
        <p:spPr>
          <a:xfrm>
            <a:off x="3578733" y="2020824"/>
            <a:ext cx="1006983" cy="893064"/>
          </a:xfrm>
          <a:prstGeom prst="roundRect">
            <a:avLst>
              <a:gd name="adj" fmla="val 8191"/>
            </a:avLst>
          </a:prstGeom>
          <a:solidFill>
            <a:srgbClr val="0A1A2E"/>
          </a:solidFill>
          <a:ln w="15875">
            <a:solidFill>
              <a:srgbClr val="F9E79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6" name="Text 43"/>
          <p:cNvSpPr/>
          <p:nvPr/>
        </p:nvSpPr>
        <p:spPr>
          <a:xfrm>
            <a:off x="3633597" y="2075688"/>
            <a:ext cx="897255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Consolidar feedback de la ejecución EVT</a:t>
            </a:r>
            <a:endParaRPr lang="en-US" sz="750" dirty="0"/>
          </a:p>
        </p:txBody>
      </p:sp>
      <p:sp>
        <p:nvSpPr>
          <p:cNvPr id="47" name="Shape 44"/>
          <p:cNvSpPr/>
          <p:nvPr/>
        </p:nvSpPr>
        <p:spPr>
          <a:xfrm>
            <a:off x="3578733" y="2987040"/>
            <a:ext cx="1006983" cy="893064"/>
          </a:xfrm>
          <a:prstGeom prst="roundRect">
            <a:avLst>
              <a:gd name="adj" fmla="val 8191"/>
            </a:avLst>
          </a:prstGeom>
          <a:solidFill>
            <a:srgbClr val="0A1A2E"/>
          </a:solidFill>
          <a:ln w="15875">
            <a:solidFill>
              <a:srgbClr val="F9E79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8" name="Text 45"/>
          <p:cNvSpPr/>
          <p:nvPr/>
        </p:nvSpPr>
        <p:spPr>
          <a:xfrm>
            <a:off x="3633597" y="3041904"/>
            <a:ext cx="897255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Iterar skills del pipeline con código real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2507742" y="3953256"/>
            <a:ext cx="2077974" cy="893064"/>
          </a:xfrm>
          <a:prstGeom prst="roundRect">
            <a:avLst>
              <a:gd name="adj" fmla="val 8191"/>
            </a:avLst>
          </a:prstGeom>
          <a:solidFill>
            <a:srgbClr val="0A1A2E"/>
          </a:solidFill>
          <a:ln w="15875">
            <a:solidFill>
              <a:srgbClr val="005B9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0" name="Text 47"/>
          <p:cNvSpPr/>
          <p:nvPr/>
        </p:nvSpPr>
        <p:spPr>
          <a:xfrm>
            <a:off x="2562606" y="4008120"/>
            <a:ext cx="1968246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adicionales (3)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4649724" y="2020824"/>
            <a:ext cx="3148965" cy="1376172"/>
          </a:xfrm>
          <a:prstGeom prst="roundRect">
            <a:avLst>
              <a:gd name="adj" fmla="val 5316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/>
          <p:cNvSpPr/>
          <p:nvPr/>
        </p:nvSpPr>
        <p:spPr>
          <a:xfrm>
            <a:off x="4704588" y="2075688"/>
            <a:ext cx="3039237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Iteración y ajustes de skills definidos con HUs/EVTs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4649724" y="3470148"/>
            <a:ext cx="3148965" cy="1376172"/>
          </a:xfrm>
          <a:prstGeom prst="roundRect">
            <a:avLst>
              <a:gd name="adj" fmla="val 5316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Text 51"/>
          <p:cNvSpPr/>
          <p:nvPr/>
        </p:nvSpPr>
        <p:spPr>
          <a:xfrm>
            <a:off x="4704588" y="3525012"/>
            <a:ext cx="3039237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Métricas obtenidas de ejecución</a:t>
            </a:r>
            <a:endParaRPr lang="en-US" sz="900" dirty="0"/>
          </a:p>
        </p:txBody>
      </p:sp>
      <p:sp>
        <p:nvSpPr>
          <p:cNvPr id="55" name="Shape 52"/>
          <p:cNvSpPr/>
          <p:nvPr/>
        </p:nvSpPr>
        <p:spPr>
          <a:xfrm>
            <a:off x="7862697" y="2020824"/>
            <a:ext cx="1006983" cy="1376172"/>
          </a:xfrm>
          <a:prstGeom prst="roundRect">
            <a:avLst>
              <a:gd name="adj" fmla="val 7264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6" name="Text 53"/>
          <p:cNvSpPr/>
          <p:nvPr/>
        </p:nvSpPr>
        <p:spPr>
          <a:xfrm>
            <a:off x="7917561" y="2075688"/>
            <a:ext cx="897255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Elaboración de informe final</a:t>
            </a:r>
            <a:endParaRPr lang="en-US" sz="800" dirty="0"/>
          </a:p>
        </p:txBody>
      </p:sp>
      <p:sp>
        <p:nvSpPr>
          <p:cNvPr id="57" name="Shape 54"/>
          <p:cNvSpPr/>
          <p:nvPr/>
        </p:nvSpPr>
        <p:spPr>
          <a:xfrm>
            <a:off x="7862697" y="3470148"/>
            <a:ext cx="1006983" cy="1376172"/>
          </a:xfrm>
          <a:prstGeom prst="roundRect">
            <a:avLst>
              <a:gd name="adj" fmla="val 7264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8" name="Text 55"/>
          <p:cNvSpPr/>
          <p:nvPr/>
        </p:nvSpPr>
        <p:spPr>
          <a:xfrm>
            <a:off x="7917561" y="3525012"/>
            <a:ext cx="897255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Recomendaciones y lecciones aprendidas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5440680" y="402336"/>
            <a:ext cx="128016" cy="128016"/>
          </a:xfrm>
          <a:prstGeom prst="roundRect">
            <a:avLst>
              <a:gd name="adj" fmla="val 35714"/>
            </a:avLst>
          </a:prstGeom>
          <a:solidFill>
            <a:srgbClr val="00CB5D"/>
          </a:solidFill>
          <a:ln w="6350">
            <a:solidFill>
              <a:srgbClr val="D6D6D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0" name="Text 57"/>
          <p:cNvSpPr/>
          <p:nvPr/>
        </p:nvSpPr>
        <p:spPr>
          <a:xfrm>
            <a:off x="5614416" y="3611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Completada</a:t>
            </a:r>
            <a:endParaRPr lang="en-US" sz="800" dirty="0"/>
          </a:p>
        </p:txBody>
      </p:sp>
      <p:sp>
        <p:nvSpPr>
          <p:cNvPr id="61" name="Shape 58"/>
          <p:cNvSpPr/>
          <p:nvPr/>
        </p:nvSpPr>
        <p:spPr>
          <a:xfrm>
            <a:off x="6355080" y="402336"/>
            <a:ext cx="128016" cy="128016"/>
          </a:xfrm>
          <a:prstGeom prst="roundRect">
            <a:avLst>
              <a:gd name="adj" fmla="val 35714"/>
            </a:avLst>
          </a:prstGeom>
          <a:solidFill>
            <a:srgbClr val="F9E795"/>
          </a:solidFill>
          <a:ln w="6350">
            <a:solidFill>
              <a:srgbClr val="D6D6D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2" name="Text 59"/>
          <p:cNvSpPr/>
          <p:nvPr/>
        </p:nvSpPr>
        <p:spPr>
          <a:xfrm>
            <a:off x="6528816" y="3611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curso</a:t>
            </a:r>
            <a:endParaRPr lang="en-US" sz="800" dirty="0"/>
          </a:p>
        </p:txBody>
      </p:sp>
      <p:sp>
        <p:nvSpPr>
          <p:cNvPr id="63" name="Shape 60"/>
          <p:cNvSpPr/>
          <p:nvPr/>
        </p:nvSpPr>
        <p:spPr>
          <a:xfrm>
            <a:off x="7132320" y="402336"/>
            <a:ext cx="128016" cy="128016"/>
          </a:xfrm>
          <a:prstGeom prst="roundRect">
            <a:avLst>
              <a:gd name="adj" fmla="val 35714"/>
            </a:avLst>
          </a:prstGeom>
          <a:solidFill>
            <a:srgbClr val="1A2B4A"/>
          </a:solidFill>
          <a:ln w="6350">
            <a:solidFill>
              <a:srgbClr val="D6D6D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4" name="Text 61"/>
          <p:cNvSpPr/>
          <p:nvPr/>
        </p:nvSpPr>
        <p:spPr>
          <a:xfrm>
            <a:off x="7306056" y="36118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Propuesto</a:t>
            </a:r>
            <a:endParaRPr lang="en-US" sz="800" dirty="0"/>
          </a:p>
        </p:txBody>
      </p:sp>
      <p:pic>
        <p:nvPicPr>
          <p:cNvPr id="6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66" name="Text 6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67" name="Text 6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Próximos Pasos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Shape 2"/>
          <p:cNvSpPr/>
          <p:nvPr/>
        </p:nvSpPr>
        <p:spPr>
          <a:xfrm>
            <a:off x="365760" y="1234440"/>
            <a:ext cx="8503920" cy="960120"/>
          </a:xfrm>
          <a:prstGeom prst="roundRect">
            <a:avLst>
              <a:gd name="adj" fmla="val 5714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Shape 3"/>
          <p:cNvSpPr/>
          <p:nvPr/>
        </p:nvSpPr>
        <p:spPr>
          <a:xfrm>
            <a:off x="594360" y="1540764"/>
            <a:ext cx="347472" cy="347472"/>
          </a:xfrm>
          <a:prstGeom prst="ellipse">
            <a:avLst/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/>
          <p:nvPr/>
        </p:nvSpPr>
        <p:spPr>
          <a:xfrm>
            <a:off x="594360" y="1540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43000" y="134416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Skills adicionales: bcv-hexagonal-architecture y bcv-openapi-design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143000" y="1636776"/>
            <a:ext cx="74980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Complementan el pipeline: hexagonal-architecture define el patrón de todo el código, y openapi-design define lo que se expone y valida la HU contra su contrato. bcv-spring-data-jpa-sql-server (persistencia SQL Server, usada por casi toda HU) se suma como tercer complemento.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65760" y="2313432"/>
            <a:ext cx="8503920" cy="731520"/>
          </a:xfrm>
          <a:prstGeom prst="roundRect">
            <a:avLst>
              <a:gd name="adj" fmla="val 75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Shape 8"/>
          <p:cNvSpPr/>
          <p:nvPr/>
        </p:nvSpPr>
        <p:spPr>
          <a:xfrm>
            <a:off x="594360" y="2505456"/>
            <a:ext cx="347472" cy="347472"/>
          </a:xfrm>
          <a:prstGeom prst="ellipse">
            <a:avLst/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ext 9"/>
          <p:cNvSpPr/>
          <p:nvPr/>
        </p:nvSpPr>
        <p:spPr>
          <a:xfrm>
            <a:off x="594360" y="25054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43000" y="24231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Iterar los skills en las próximas HUs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1143000" y="2715768"/>
            <a:ext cx="749808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Ampliar su cobertura con casos de uso adicionales del banco, sobre Historias de Usuario reales.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365760" y="3163824"/>
            <a:ext cx="8503920" cy="731520"/>
          </a:xfrm>
          <a:prstGeom prst="roundRect">
            <a:avLst>
              <a:gd name="adj" fmla="val 75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594360" y="3355848"/>
            <a:ext cx="347472" cy="347472"/>
          </a:xfrm>
          <a:prstGeom prst="ellipse">
            <a:avLst/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594360" y="33558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43000" y="327355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Oscar queda a cargo del proyecto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1143000" y="3566160"/>
            <a:ext cx="749808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Tras el traspaso del Arquitecto IA (10 sep): soporte continuo y afinación de los skills.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65760" y="4014216"/>
            <a:ext cx="8503920" cy="731520"/>
          </a:xfrm>
          <a:prstGeom prst="roundRect">
            <a:avLst>
              <a:gd name="adj" fmla="val 75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Shape 18"/>
          <p:cNvSpPr/>
          <p:nvPr/>
        </p:nvSpPr>
        <p:spPr>
          <a:xfrm>
            <a:off x="594360" y="4206240"/>
            <a:ext cx="347472" cy="347472"/>
          </a:xfrm>
          <a:prstGeom prst="ellipse">
            <a:avLst/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2" name="Text 19"/>
          <p:cNvSpPr/>
          <p:nvPr/>
        </p:nvSpPr>
        <p:spPr>
          <a:xfrm>
            <a:off x="594360" y="4206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143000" y="4123944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Refinar los skills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1143000" y="4416552"/>
            <a:ext cx="749808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más código real y el feedback continuo del equipo dev del banco.</a:t>
            </a:r>
            <a:endParaRPr lang="en-US" sz="1000" dirty="0"/>
          </a:p>
        </p:txBody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554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Skills IA para el Ecosistema BCV/BACC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Pipeline HU → DHU → código · 3 skills · ~85 % menos tokens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1371600" y="3200400"/>
            <a:ext cx="6675120" cy="1005840"/>
          </a:xfrm>
          <a:prstGeom prst="roundRect">
            <a:avLst>
              <a:gd name="adj" fmla="val 545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1645920" y="342900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pasos: iterar y refinar los skills en las próximas HUs, con Oscar a cargo del proyecto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589520" y="228600"/>
            <a:ext cx="1188720" cy="1188720"/>
          </a:xfrm>
          <a:prstGeom prst="ellipse">
            <a:avLst/>
          </a:prstGeom>
          <a:solidFill>
            <a:srgbClr val="0072BC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Shape 5"/>
          <p:cNvSpPr/>
          <p:nvPr/>
        </p:nvSpPr>
        <p:spPr>
          <a:xfrm>
            <a:off x="8001000" y="502920"/>
            <a:ext cx="640080" cy="640080"/>
          </a:xfrm>
          <a:prstGeom prst="ellipse">
            <a:avLst/>
          </a:prstGeom>
          <a:solidFill>
            <a:srgbClr val="00DFED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1248</Words>
  <Application>Microsoft Office PowerPoint</Application>
  <PresentationFormat>Presentación en pantalla (16:9)</PresentationFormat>
  <Paragraphs>216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3" baseType="lpstr">
      <vt:lpstr>Aptos</vt:lpstr>
      <vt:lpstr>Arial</vt:lpstr>
      <vt:lpstr>Lato</vt:lpstr>
      <vt:lpstr>Noto Sans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NTT DATA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Adaptación de Skills IA para el Ecosistema BCV/BACC — Resumen</dc:title>
  <dc:subject>Presentación Ejecutiva (Resumen) — Skills IA · BCV/BACC</dc:subject>
  <dc:creator>NTT DATA</dc:creator>
  <cp:lastModifiedBy>Jose Luis Mejia Rojas</cp:lastModifiedBy>
  <cp:revision>3</cp:revision>
  <dcterms:created xsi:type="dcterms:W3CDTF">2026-09-10T19:41:59Z</dcterms:created>
  <dcterms:modified xsi:type="dcterms:W3CDTF">2026-09-10T21:47:45Z</dcterms:modified>
</cp:coreProperties>
</file>