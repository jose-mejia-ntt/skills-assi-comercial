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Horas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&quot;h&quot;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E79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CB5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Tradicional</c:v>
                  </c:pt>
                  <c:pt idx="1">
                    <c:v>Copilot</c:v>
                  </c:pt>
                  <c:pt idx="2">
                    <c:v>Skill +
Graphify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dLbls>
          <c:numFmt formatCode="0&quot;h&quot;" sourceLinked="0"/>
          <c:txPr>
            <a:bodyPr/>
            <a:lstStyle/>
            <a:p>
              <a:pPr>
                <a:defRPr b="1" i="0" strike="noStrike" sz="95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2B4A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D6D6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Horas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&quot;h&quot;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96167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E79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0CB5D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Tradicional</c:v>
                  </c:pt>
                  <c:pt idx="1">
                    <c:v>Copilot</c:v>
                  </c:pt>
                  <c:pt idx="2">
                    <c:v>Skill +
Graphify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</c:v>
                </c:pt>
                <c:pt idx="1">
                  <c:v>40</c:v>
                </c:pt>
                <c:pt idx="2">
                  <c:v>10</c:v>
                </c:pt>
              </c:numCache>
            </c:numRef>
          </c:val>
        </c:ser>
        <c:dLbls>
          <c:numFmt formatCode="0&quot;h&quot;" sourceLinked="0"/>
          <c:txPr>
            <a:bodyPr/>
            <a:lstStyle/>
            <a:p>
              <a:pPr>
                <a:defRPr b="1" i="0" strike="noStrike" sz="95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A2B4A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D6D6D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2"/>
          <c:min val="0"/>
        </c:scaling>
        <c:delete val="1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3" Type="http://schemas.openxmlformats.org/officeDocument/2006/relationships/chart" Target="/ppt/charts/chart2.xml"/><Relationship Id="rId1" Type="http://schemas.openxmlformats.org/officeDocument/2006/relationships/image" Target="../media/image-5-1.png"/><Relationship Id="rId4" Type="http://schemas.openxmlformats.org/officeDocument/2006/relationships/image" Target="../media/image-5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960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Adaptación de Skills IA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 Ecosistema BCV/BACC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457200" y="2606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Presentación Ejecutiva — Resumen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57200" y="3246120"/>
            <a:ext cx="8503920" cy="1280160"/>
          </a:xfrm>
          <a:prstGeom prst="roundRect">
            <a:avLst>
              <a:gd name="adj" fmla="val 4286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85800" y="3429000"/>
            <a:ext cx="8046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Proyecto: skills de agente IA para los microservicios backend de Apertura de Cuentas Comerciales (BACC)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Ecosistema: BCV/BACC · Interbank · Entregable: NTT DATA</a:t>
            </a:r>
            <a:endParaRPr lang="en-US" sz="115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Cronograma: 13 ago → 09 oct 2026 · Sprint 2 en curso (4 sprints de 2 semanas + cierre)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7680960" y="685800"/>
            <a:ext cx="1371600" cy="137160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83880" y="1051560"/>
            <a:ext cx="640080" cy="64008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Alcance del Proyecto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18872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1280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</a:t>
            </a:r>
            <a:endParaRPr lang="en-US" sz="2600" dirty="0"/>
          </a:p>
        </p:txBody>
      </p:sp>
      <p:sp>
        <p:nvSpPr>
          <p:cNvPr id="7" name="Text 4"/>
          <p:cNvSpPr/>
          <p:nvPr/>
        </p:nvSpPr>
        <p:spPr>
          <a:xfrm>
            <a:off x="457200" y="1783080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microservicios backend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523744" y="118872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523744" y="1280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2615184" y="1783080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del pipeline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681728" y="118872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681728" y="1280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~85 %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773168" y="1783080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menos tokens por HU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839712" y="118872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839712" y="1280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8 sem.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6931152" y="1783080"/>
            <a:ext cx="1828800" cy="38404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ago → 09 oct 2026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365760" y="2423160"/>
            <a:ext cx="8503920" cy="2148840"/>
          </a:xfrm>
          <a:prstGeom prst="roundRect">
            <a:avLst>
              <a:gd name="adj" fmla="val 2553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2606040"/>
            <a:ext cx="7955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¿Qué es este proyecto?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40080" y="2999232"/>
            <a:ext cx="7955280" cy="14173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ecosistema BCV/BACC de Interbank opera sobre 7 microservicios backend Java/Spring Boot. El proyecto construye un pipeline de 3 skills de agente que convierte una Historia de Usuario (HU) de negocio en una Historia Técnica (DHU) y, opcionalmente, en código — usando graphify para reducir el consumo de tokens en ~85 %.</a:t>
            </a:r>
            <a:endParaRPr lang="en-US" sz="13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Metodología: SDD + BMAD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15568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proyecto sigue Spec-Driven Development (SDD) y BMAD: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365760" y="1417320"/>
            <a:ext cx="4160520" cy="1234440"/>
          </a:xfrm>
          <a:prstGeom prst="roundRect">
            <a:avLst>
              <a:gd name="adj" fmla="val 4444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153619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SDD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94360" y="1847088"/>
            <a:ext cx="370332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especificación (la DHU) es el artefacto central y va antes del código.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09160" y="1417320"/>
            <a:ext cx="4160520" cy="1234440"/>
          </a:xfrm>
          <a:prstGeom prst="roundRect">
            <a:avLst>
              <a:gd name="adj" fmla="val 4444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37760" y="1536192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BMAD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937760" y="1847088"/>
            <a:ext cx="3703320" cy="73152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 → Design → Build → Validate, para la construcción de cada cambio.</a:t>
            </a:r>
            <a:endParaRPr lang="en-US" sz="11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880360"/>
          <a:ext cx="8503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1264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Fase SDD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Acción del flujo BCV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Especificar (entrada)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 funcional de negocio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Research-Driven Context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bcv-hu-context-analyzer investiga el código real con graphify → .context/hu-&lt;codigo&gt;.md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Especificar formalmente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bcv-dhu-writer escribe la DHU (criterios de aceptación, endpoints, mapa técnico)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Implementar desde la spec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bcv-hu-implementer aplica la DHU en ramas feature (dry-run / apply)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Verificar / feedback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Linter + tests, revisión humana y gotchas que vuelven al contexto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</a:tbl>
          </a:graphicData>
        </a:graphic>
      </p:graphicFrame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que se Identificaron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133856"/>
            <a:ext cx="8321040" cy="4572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identificó y construyó un pipeline de 3 skills principales, uno por cada paso del flujo SDD: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493776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30352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HU funcional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530352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requerimiento de negocio</a:t>
            </a:r>
            <a:endParaRPr lang="en-US" sz="680" dirty="0"/>
          </a:p>
        </p:txBody>
      </p:sp>
      <p:sp>
        <p:nvSpPr>
          <p:cNvPr id="9" name="Text 6"/>
          <p:cNvSpPr/>
          <p:nvPr/>
        </p:nvSpPr>
        <p:spPr>
          <a:xfrm>
            <a:off x="1536192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691640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72B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728216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bcv-hu-context-analyzer</a:t>
            </a:r>
            <a:endParaRPr lang="en-US" sz="850" dirty="0"/>
          </a:p>
        </p:txBody>
      </p:sp>
      <p:sp>
        <p:nvSpPr>
          <p:cNvPr id="12" name="Text 9"/>
          <p:cNvSpPr/>
          <p:nvPr/>
        </p:nvSpPr>
        <p:spPr>
          <a:xfrm>
            <a:off x="1728216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 código con graphify</a:t>
            </a:r>
            <a:endParaRPr lang="en-US" sz="680" dirty="0"/>
          </a:p>
        </p:txBody>
      </p:sp>
      <p:sp>
        <p:nvSpPr>
          <p:cNvPr id="13" name="Text 10"/>
          <p:cNvSpPr/>
          <p:nvPr/>
        </p:nvSpPr>
        <p:spPr>
          <a:xfrm>
            <a:off x="2734056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889504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26080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Contexto técnico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2926080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.context/hu-&lt;codigo&gt;.md</a:t>
            </a:r>
            <a:endParaRPr lang="en-US" sz="680" dirty="0"/>
          </a:p>
        </p:txBody>
      </p:sp>
      <p:sp>
        <p:nvSpPr>
          <p:cNvPr id="17" name="Text 14"/>
          <p:cNvSpPr/>
          <p:nvPr/>
        </p:nvSpPr>
        <p:spPr>
          <a:xfrm>
            <a:off x="3931920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087368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23944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bcv-dhu-writer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4123944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escribe la especificación</a:t>
            </a:r>
            <a:endParaRPr lang="en-US" sz="680" dirty="0"/>
          </a:p>
        </p:txBody>
      </p:sp>
      <p:sp>
        <p:nvSpPr>
          <p:cNvPr id="21" name="Text 18"/>
          <p:cNvSpPr/>
          <p:nvPr/>
        </p:nvSpPr>
        <p:spPr>
          <a:xfrm>
            <a:off x="5129784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5285232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321808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DHU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5321808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ibk-hu-technical-refinement</a:t>
            </a:r>
            <a:endParaRPr lang="en-US" sz="680" dirty="0"/>
          </a:p>
        </p:txBody>
      </p:sp>
      <p:sp>
        <p:nvSpPr>
          <p:cNvPr id="25" name="Text 22"/>
          <p:cNvSpPr/>
          <p:nvPr/>
        </p:nvSpPr>
        <p:spPr>
          <a:xfrm>
            <a:off x="6327648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6483096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F9E7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519672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bcv-hu-implementer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519672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 desde la spec</a:t>
            </a:r>
            <a:endParaRPr lang="en-US" sz="680" dirty="0"/>
          </a:p>
        </p:txBody>
      </p:sp>
      <p:sp>
        <p:nvSpPr>
          <p:cNvPr id="29" name="Text 26"/>
          <p:cNvSpPr/>
          <p:nvPr/>
        </p:nvSpPr>
        <p:spPr>
          <a:xfrm>
            <a:off x="7525512" y="1874520"/>
            <a:ext cx="173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6D6D6"/>
                </a:solidFill>
              </a:rPr>
              <a:t>→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7680960" y="1874520"/>
            <a:ext cx="1060704" cy="914400"/>
          </a:xfrm>
          <a:prstGeom prst="roundRect">
            <a:avLst>
              <a:gd name="adj" fmla="val 8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717536" y="1947672"/>
            <a:ext cx="987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Código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7717536" y="2423160"/>
            <a:ext cx="98755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ramas feature + tests</a:t>
            </a:r>
            <a:endParaRPr lang="en-US" sz="680" dirty="0"/>
          </a:p>
        </p:txBody>
      </p:sp>
      <p:sp>
        <p:nvSpPr>
          <p:cNvPr id="33" name="Shape 30"/>
          <p:cNvSpPr/>
          <p:nvPr/>
        </p:nvSpPr>
        <p:spPr>
          <a:xfrm>
            <a:off x="365760" y="3246120"/>
            <a:ext cx="8503920" cy="1188720"/>
          </a:xfrm>
          <a:prstGeom prst="roundRect">
            <a:avLst>
              <a:gd name="adj" fmla="val 4615"/>
            </a:avLst>
          </a:prstGeom>
          <a:solidFill>
            <a:srgbClr val="112240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94360" y="3401568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Solo 3 skills, un pipeline completo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594360" y="3703320"/>
            <a:ext cx="8046720" cy="6400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bcv-hu-context-analyzer (research con graphify), bcv-dhu-writer (especificación) y bcv-hu-implementer (implementación) cubren el flujo completo HU → DHU → código.</a:t>
            </a:r>
            <a:endParaRPr lang="en-US" sz="1100" dirty="0"/>
          </a:p>
        </p:txBody>
      </p:sp>
      <p:pic>
        <p:nvPicPr>
          <p:cNvPr id="3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38" name="Text 34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Resultados (hitos medidos)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1078992"/>
            <a:ext cx="8138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dos primeros ejercicios con el equipo dev del banco cuantificaron el ahorro frente a la forma tradicional: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99032"/>
          <a:ext cx="85039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606040"/>
                <a:gridCol w="640080"/>
                <a:gridCol w="777240"/>
                <a:gridCol w="777240"/>
                <a:gridCol w="1371600"/>
                <a:gridCol w="123444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Usuario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HU / EVT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Compl.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Tradic.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Copilot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Skill+Graphify (h)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Noto Sans" pitchFamily="34" charset="0"/>
                          <a:ea typeface="Noto Sans" pitchFamily="34" charset="-122"/>
                          <a:cs typeface="Noto Sans" pitchFamily="34" charset="-120"/>
                        </a:rPr>
                        <a:t>Ahorro</a:t>
                      </a:r>
                      <a:endParaRPr lang="en-US" sz="1000" dirty="0">
                        <a:latin typeface="Noto Sans" charset="0"/>
                        <a:ea typeface="Noto Sans" charset="0"/>
                        <a:cs typeface="Noto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9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Fernando Camargo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Identificación de canal OneAPP en trama Postmortem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Baja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24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Lionel Gonzales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[EVT] Arquitectura cluster-to-cluster – Paquete 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79 %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2B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1A2E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365760" y="277977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Fernando Camargo</a:t>
            </a:r>
            <a:endParaRPr lang="en-US" sz="1250" dirty="0"/>
          </a:p>
        </p:txBody>
      </p:sp>
      <p:sp>
        <p:nvSpPr>
          <p:cNvPr id="8" name="Text 4"/>
          <p:cNvSpPr/>
          <p:nvPr/>
        </p:nvSpPr>
        <p:spPr>
          <a:xfrm>
            <a:off x="365760" y="29992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 · complejidad baja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>
            <a:off x="3611880" y="2779776"/>
            <a:ext cx="868680" cy="402336"/>
          </a:xfrm>
          <a:prstGeom prst="roundRect">
            <a:avLst>
              <a:gd name="adj" fmla="val 2272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611880" y="277977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75 %
</a:t>
            </a:r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365760" y="3218688"/>
          <a:ext cx="4114800" cy="11521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7"/>
          <p:cNvSpPr/>
          <p:nvPr/>
        </p:nvSpPr>
        <p:spPr>
          <a:xfrm>
            <a:off x="2999232" y="3255264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-75 %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4754880" y="2779776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Lionel Gonzales</a:t>
            </a:r>
            <a:endParaRPr lang="en-US" sz="1250" dirty="0"/>
          </a:p>
        </p:txBody>
      </p:sp>
      <p:sp>
        <p:nvSpPr>
          <p:cNvPr id="14" name="Text 9"/>
          <p:cNvSpPr/>
          <p:nvPr/>
        </p:nvSpPr>
        <p:spPr>
          <a:xfrm>
            <a:off x="4754880" y="2999232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EVT · complejidad media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8001000" y="2779776"/>
            <a:ext cx="868680" cy="402336"/>
          </a:xfrm>
          <a:prstGeom prst="roundRect">
            <a:avLst>
              <a:gd name="adj" fmla="val 22727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8001000" y="277977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79 %
</a:t>
            </a:r>
            <a:pPr algn="ctr" indent="0" marL="0">
              <a:lnSpc>
                <a:spcPct val="95000"/>
              </a:lnSpc>
              <a:buNone/>
            </a:pPr>
            <a:r>
              <a:rPr lang="en-US" sz="700" dirty="0">
                <a:solidFill>
                  <a:srgbClr val="070F26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ahorro</a:t>
            </a:r>
            <a:endParaRPr lang="en-US" sz="14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4754880" y="3218688"/>
          <a:ext cx="4114800" cy="11521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8" name="Text 12"/>
          <p:cNvSpPr/>
          <p:nvPr/>
        </p:nvSpPr>
        <p:spPr>
          <a:xfrm>
            <a:off x="7388352" y="3255264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CB5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-79 %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45720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caso de mayor complejidad (Lionel Gonzales), pasar de 48 h a 10 h equivale a un ahorro de ~79 % (~4 días de implementación).</a:t>
            </a:r>
            <a:endParaRPr lang="en-US" sz="105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Roadmap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097280"/>
            <a:ext cx="1839976" cy="292608"/>
          </a:xfrm>
          <a:prstGeom prst="roundRect">
            <a:avLst>
              <a:gd name="adj" fmla="val 50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365760" y="1097280"/>
            <a:ext cx="1839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1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365760" y="140817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13–26 ago</a:t>
            </a:r>
            <a:endParaRPr lang="en-US" sz="800" dirty="0"/>
          </a:p>
        </p:txBody>
      </p:sp>
      <p:sp>
        <p:nvSpPr>
          <p:cNvPr id="8" name="Shape 5"/>
          <p:cNvSpPr/>
          <p:nvPr/>
        </p:nvSpPr>
        <p:spPr>
          <a:xfrm>
            <a:off x="365760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65760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1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13–19 ago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65760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20624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Consolidación de repos + entorno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65760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20624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Arranque de los 3 skills del pipeline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1317752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17752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2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20–26 ago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1317752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372616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Adopción de graphify</a:t>
            </a:r>
            <a:endParaRPr lang="en-US" sz="800" dirty="0"/>
          </a:p>
        </p:txBody>
      </p:sp>
      <p:sp>
        <p:nvSpPr>
          <p:cNvPr id="18" name="Shape 15"/>
          <p:cNvSpPr/>
          <p:nvPr/>
        </p:nvSpPr>
        <p:spPr>
          <a:xfrm>
            <a:off x="1317752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372616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de HU con equipo dev (primer ejercicio real)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2269744" y="1097280"/>
            <a:ext cx="1839976" cy="292608"/>
          </a:xfrm>
          <a:prstGeom prst="roundRect">
            <a:avLst>
              <a:gd name="adj" fmla="val 50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269744" y="1097280"/>
            <a:ext cx="1839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2269744" y="140817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ago–09 sep</a:t>
            </a:r>
            <a:endParaRPr lang="en-US" sz="800" dirty="0"/>
          </a:p>
        </p:txBody>
      </p:sp>
      <p:sp>
        <p:nvSpPr>
          <p:cNvPr id="23" name="Shape 20"/>
          <p:cNvSpPr/>
          <p:nvPr/>
        </p:nvSpPr>
        <p:spPr>
          <a:xfrm>
            <a:off x="2269744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269744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3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ago–02 sep</a:t>
            </a:r>
            <a:endParaRPr lang="en-US" sz="1000" dirty="0"/>
          </a:p>
        </p:txBody>
      </p:sp>
      <p:sp>
        <p:nvSpPr>
          <p:cNvPr id="25" name="Shape 22"/>
          <p:cNvSpPr/>
          <p:nvPr/>
        </p:nvSpPr>
        <p:spPr>
          <a:xfrm>
            <a:off x="2269744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324608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Iteración de los skills del pipeline</a:t>
            </a:r>
            <a:endParaRPr lang="en-US" sz="800" dirty="0"/>
          </a:p>
        </p:txBody>
      </p:sp>
      <p:sp>
        <p:nvSpPr>
          <p:cNvPr id="27" name="Shape 24"/>
          <p:cNvSpPr/>
          <p:nvPr/>
        </p:nvSpPr>
        <p:spPr>
          <a:xfrm>
            <a:off x="2269744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2324608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Ejecución EVT con equipo dev (context-analyzer → DHU → código)</a:t>
            </a:r>
            <a:endParaRPr lang="en-US" sz="800" dirty="0"/>
          </a:p>
        </p:txBody>
      </p:sp>
      <p:sp>
        <p:nvSpPr>
          <p:cNvPr id="29" name="Shape 26"/>
          <p:cNvSpPr/>
          <p:nvPr/>
        </p:nvSpPr>
        <p:spPr>
          <a:xfrm>
            <a:off x="3221736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221736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070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4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1E3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03–09 sep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3221736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276600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feedback de la ejecución EVT</a:t>
            </a:r>
            <a:endParaRPr lang="en-US" sz="800" dirty="0"/>
          </a:p>
        </p:txBody>
      </p:sp>
      <p:sp>
        <p:nvSpPr>
          <p:cNvPr id="33" name="Shape 30"/>
          <p:cNvSpPr/>
          <p:nvPr/>
        </p:nvSpPr>
        <p:spPr>
          <a:xfrm>
            <a:off x="3221736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00CB5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3276600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Iterar skills del pipeline con código real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173728" y="1097280"/>
            <a:ext cx="1839976" cy="292608"/>
          </a:xfrm>
          <a:prstGeom prst="roundRect">
            <a:avLst>
              <a:gd name="adj" fmla="val 50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173728" y="1097280"/>
            <a:ext cx="1839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3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173728" y="140817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10–23 sep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4173728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4173728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5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10–16 sep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173728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228592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Refinar los skills del pipeline según feedback</a:t>
            </a:r>
            <a:endParaRPr lang="en-US" sz="800" dirty="0"/>
          </a:p>
        </p:txBody>
      </p:sp>
      <p:sp>
        <p:nvSpPr>
          <p:cNvPr id="42" name="Shape 39"/>
          <p:cNvSpPr/>
          <p:nvPr/>
        </p:nvSpPr>
        <p:spPr>
          <a:xfrm>
            <a:off x="4173728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4228592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Avanzar el pipeline con la DHU (bcv-dhu-writer)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5125720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5125720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6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17–23 sep</a:t>
            </a:r>
            <a:endParaRPr lang="en-US" sz="1000" dirty="0"/>
          </a:p>
        </p:txBody>
      </p:sp>
      <p:sp>
        <p:nvSpPr>
          <p:cNvPr id="46" name="Shape 43"/>
          <p:cNvSpPr/>
          <p:nvPr/>
        </p:nvSpPr>
        <p:spPr>
          <a:xfrm>
            <a:off x="5125720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5180584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el pipeline completo</a:t>
            </a:r>
            <a:endParaRPr lang="en-US" sz="800" dirty="0"/>
          </a:p>
        </p:txBody>
      </p:sp>
      <p:sp>
        <p:nvSpPr>
          <p:cNvPr id="48" name="Shape 45"/>
          <p:cNvSpPr/>
          <p:nvPr/>
        </p:nvSpPr>
        <p:spPr>
          <a:xfrm>
            <a:off x="5125720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180584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Ejecutar bcv-hu-implementer (dry-run → apply)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6077712" y="1097280"/>
            <a:ext cx="1839976" cy="292608"/>
          </a:xfrm>
          <a:prstGeom prst="roundRect">
            <a:avLst>
              <a:gd name="adj" fmla="val 50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077712" y="1097280"/>
            <a:ext cx="18399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SPRINT 4</a:t>
            </a:r>
            <a:endParaRPr lang="en-US" sz="1050" dirty="0"/>
          </a:p>
        </p:txBody>
      </p:sp>
      <p:sp>
        <p:nvSpPr>
          <p:cNvPr id="52" name="Text 49"/>
          <p:cNvSpPr/>
          <p:nvPr/>
        </p:nvSpPr>
        <p:spPr>
          <a:xfrm>
            <a:off x="6077712" y="1408176"/>
            <a:ext cx="183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sep–07 oct</a:t>
            </a:r>
            <a:endParaRPr lang="en-US" sz="800" dirty="0"/>
          </a:p>
        </p:txBody>
      </p:sp>
      <p:sp>
        <p:nvSpPr>
          <p:cNvPr id="53" name="Shape 50"/>
          <p:cNvSpPr/>
          <p:nvPr/>
        </p:nvSpPr>
        <p:spPr>
          <a:xfrm>
            <a:off x="6077712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6077712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7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24–30 sep</a:t>
            </a:r>
            <a:endParaRPr lang="en-US" sz="1000" dirty="0"/>
          </a:p>
        </p:txBody>
      </p:sp>
      <p:sp>
        <p:nvSpPr>
          <p:cNvPr id="55" name="Shape 52"/>
          <p:cNvSpPr/>
          <p:nvPr/>
        </p:nvSpPr>
        <p:spPr>
          <a:xfrm>
            <a:off x="6077712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6132576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Validación con equipo dev del banco (entorno propio)</a:t>
            </a:r>
            <a:endParaRPr lang="en-US" sz="800" dirty="0"/>
          </a:p>
        </p:txBody>
      </p:sp>
      <p:sp>
        <p:nvSpPr>
          <p:cNvPr id="57" name="Shape 54"/>
          <p:cNvSpPr/>
          <p:nvPr/>
        </p:nvSpPr>
        <p:spPr>
          <a:xfrm>
            <a:off x="6077712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6132576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Ciclo: ajustar → regenerar → revalidar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7029704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7029704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8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01–07 oct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7029704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7084568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Estabilización final de skills</a:t>
            </a:r>
            <a:endParaRPr lang="en-US" sz="800" dirty="0"/>
          </a:p>
        </p:txBody>
      </p:sp>
      <p:sp>
        <p:nvSpPr>
          <p:cNvPr id="63" name="Shape 60"/>
          <p:cNvSpPr/>
          <p:nvPr/>
        </p:nvSpPr>
        <p:spPr>
          <a:xfrm>
            <a:off x="7029704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64" name="Text 61"/>
          <p:cNvSpPr/>
          <p:nvPr/>
        </p:nvSpPr>
        <p:spPr>
          <a:xfrm>
            <a:off x="7084568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Documentación, onboarding y demo al cliente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7981696" y="1097280"/>
            <a:ext cx="887984" cy="292608"/>
          </a:xfrm>
          <a:prstGeom prst="roundRect">
            <a:avLst>
              <a:gd name="adj" fmla="val 50000"/>
            </a:avLst>
          </a:prstGeom>
          <a:solidFill>
            <a:srgbClr val="005B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7981696" y="1097280"/>
            <a:ext cx="887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CIERRE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7981696" y="1408176"/>
            <a:ext cx="88798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08–09 oct</a:t>
            </a:r>
            <a:endParaRPr lang="en-US" sz="800" dirty="0"/>
          </a:p>
        </p:txBody>
      </p:sp>
      <p:sp>
        <p:nvSpPr>
          <p:cNvPr id="68" name="Shape 65"/>
          <p:cNvSpPr/>
          <p:nvPr/>
        </p:nvSpPr>
        <p:spPr>
          <a:xfrm>
            <a:off x="7981696" y="1645920"/>
            <a:ext cx="887984" cy="365760"/>
          </a:xfrm>
          <a:prstGeom prst="roundRect">
            <a:avLst>
              <a:gd name="adj" fmla="val 35000"/>
            </a:avLst>
          </a:prstGeom>
          <a:solidFill>
            <a:srgbClr val="1A2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7981696" y="1645920"/>
            <a:ext cx="88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C
</a:t>
            </a:r>
            <a:pPr algn="ctr" indent="0" marL="0">
              <a:lnSpc>
                <a:spcPct val="100000"/>
              </a:lnSpc>
              <a:buNone/>
            </a:pPr>
            <a:r>
              <a:rPr lang="en-US" sz="7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08–09 oct</a:t>
            </a:r>
            <a:endParaRPr lang="en-US" sz="1000" dirty="0"/>
          </a:p>
        </p:txBody>
      </p:sp>
      <p:sp>
        <p:nvSpPr>
          <p:cNvPr id="70" name="Shape 67"/>
          <p:cNvSpPr/>
          <p:nvPr/>
        </p:nvSpPr>
        <p:spPr>
          <a:xfrm>
            <a:off x="7981696" y="2103120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8036560" y="2157984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final de entregables</a:t>
            </a:r>
            <a:endParaRPr lang="en-US" sz="800" dirty="0"/>
          </a:p>
        </p:txBody>
      </p:sp>
      <p:sp>
        <p:nvSpPr>
          <p:cNvPr id="72" name="Shape 69"/>
          <p:cNvSpPr/>
          <p:nvPr/>
        </p:nvSpPr>
        <p:spPr>
          <a:xfrm>
            <a:off x="7981696" y="3255264"/>
            <a:ext cx="887984" cy="1078992"/>
          </a:xfrm>
          <a:prstGeom prst="roundRect">
            <a:avLst>
              <a:gd name="adj" fmla="val 8238"/>
            </a:avLst>
          </a:prstGeom>
          <a:solidFill>
            <a:srgbClr val="0A1A2E"/>
          </a:solidFill>
          <a:ln w="15875">
            <a:solidFill>
              <a:srgbClr val="1A2B4A"/>
            </a:solidFill>
            <a:prstDash val="solid"/>
          </a:ln>
        </p:spPr>
      </p:sp>
      <p:sp>
        <p:nvSpPr>
          <p:cNvPr id="73" name="Text 70"/>
          <p:cNvSpPr/>
          <p:nvPr/>
        </p:nvSpPr>
        <p:spPr>
          <a:xfrm>
            <a:off x="8036560" y="3310128"/>
            <a:ext cx="778256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Traspaso a cargo de Oscar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5440680" y="402336"/>
            <a:ext cx="128016" cy="128016"/>
          </a:xfrm>
          <a:prstGeom prst="roundRect">
            <a:avLst>
              <a:gd name="adj" fmla="val 35714"/>
            </a:avLst>
          </a:prstGeom>
          <a:solidFill>
            <a:srgbClr val="00CB5D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5614416" y="3611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Completada</a:t>
            </a:r>
            <a:endParaRPr lang="en-US" sz="800" dirty="0"/>
          </a:p>
        </p:txBody>
      </p:sp>
      <p:sp>
        <p:nvSpPr>
          <p:cNvPr id="76" name="Shape 73"/>
          <p:cNvSpPr/>
          <p:nvPr/>
        </p:nvSpPr>
        <p:spPr>
          <a:xfrm>
            <a:off x="6355080" y="402336"/>
            <a:ext cx="128016" cy="128016"/>
          </a:xfrm>
          <a:prstGeom prst="roundRect">
            <a:avLst>
              <a:gd name="adj" fmla="val 35714"/>
            </a:avLst>
          </a:prstGeom>
          <a:solidFill>
            <a:srgbClr val="F9E795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77" name="Text 74"/>
          <p:cNvSpPr/>
          <p:nvPr/>
        </p:nvSpPr>
        <p:spPr>
          <a:xfrm>
            <a:off x="6528816" y="3611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curso</a:t>
            </a:r>
            <a:endParaRPr lang="en-US" sz="800" dirty="0"/>
          </a:p>
        </p:txBody>
      </p:sp>
      <p:sp>
        <p:nvSpPr>
          <p:cNvPr id="78" name="Shape 75"/>
          <p:cNvSpPr/>
          <p:nvPr/>
        </p:nvSpPr>
        <p:spPr>
          <a:xfrm>
            <a:off x="7132320" y="402336"/>
            <a:ext cx="128016" cy="128016"/>
          </a:xfrm>
          <a:prstGeom prst="roundRect">
            <a:avLst>
              <a:gd name="adj" fmla="val 35714"/>
            </a:avLst>
          </a:prstGeom>
          <a:solidFill>
            <a:srgbClr val="1A2B4A"/>
          </a:solidFill>
          <a:ln w="6350">
            <a:solidFill>
              <a:srgbClr val="D6D6D6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7306056" y="36118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Propuesto</a:t>
            </a:r>
            <a:endParaRPr lang="en-US" sz="800" dirty="0"/>
          </a:p>
        </p:txBody>
      </p:sp>
      <p:pic>
        <p:nvPicPr>
          <p:cNvPr id="8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81" name="Text 7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82" name="Text 7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65760" y="320040"/>
            <a:ext cx="8503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Próximos Pasos</a:t>
            </a:r>
            <a:endParaRPr lang="en-US" sz="2800" dirty="0"/>
          </a:p>
        </p:txBody>
      </p:sp>
      <p:sp>
        <p:nvSpPr>
          <p:cNvPr id="4" name="Shape 1"/>
          <p:cNvSpPr/>
          <p:nvPr/>
        </p:nvSpPr>
        <p:spPr>
          <a:xfrm>
            <a:off x="365760" y="1005840"/>
            <a:ext cx="1097280" cy="27432"/>
          </a:xfrm>
          <a:prstGeom prst="rect">
            <a:avLst/>
          </a:prstGeom>
          <a:solidFill>
            <a:srgbClr val="00DFE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65760" y="1417320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94360" y="1700784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17007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143000" y="1545336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Iterar los skills en las próximas HUs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874520"/>
            <a:ext cx="7498080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Ampliar su cobertura con casos de uso adicionales del banco, sobre Historias de Usuario reales.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65760" y="2496312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94360" y="2779776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9436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43000" y="262432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Oscar queda a cargo del proyecto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143000" y="2953512"/>
            <a:ext cx="7498080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Tras el traspaso del Arquitecto IA (10 sep): soporte continuo y afinación de los skills.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365760" y="3575304"/>
            <a:ext cx="8503920" cy="914400"/>
          </a:xfrm>
          <a:prstGeom prst="roundRect">
            <a:avLst>
              <a:gd name="adj" fmla="val 6000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94360" y="3858768"/>
            <a:ext cx="347472" cy="347472"/>
          </a:xfrm>
          <a:prstGeom prst="ellipse">
            <a:avLst/>
          </a:prstGeom>
          <a:solidFill>
            <a:srgbClr val="00CB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4360" y="38587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43000" y="370332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Refinar los skills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1143000" y="4032504"/>
            <a:ext cx="7498080" cy="402336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más código real y el feedback continuo del equipo dev del banco.</a:t>
            </a:r>
            <a:endParaRPr lang="en-US" sz="1100" dirty="0"/>
          </a:p>
        </p:txBody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0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92440" y="320040"/>
            <a:ext cx="822960" cy="16459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554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Skills IA para el Ecosistema BCV/BACC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DFED"/>
                </a:solidFill>
                <a:latin typeface="Noto Sans" pitchFamily="34" charset="0"/>
                <a:ea typeface="Noto Sans" pitchFamily="34" charset="-122"/>
                <a:cs typeface="Noto Sans" pitchFamily="34" charset="-120"/>
              </a:rPr>
              <a:t>Pipeline HU → DHU → código · 3 skills · ~85 % menos tokens</a:t>
            </a:r>
            <a:endParaRPr lang="en-US" sz="1700" dirty="0"/>
          </a:p>
        </p:txBody>
      </p:sp>
      <p:sp>
        <p:nvSpPr>
          <p:cNvPr id="5" name="Shape 2"/>
          <p:cNvSpPr/>
          <p:nvPr/>
        </p:nvSpPr>
        <p:spPr>
          <a:xfrm>
            <a:off x="1371600" y="3200400"/>
            <a:ext cx="6675120" cy="1005840"/>
          </a:xfrm>
          <a:prstGeom prst="roundRect">
            <a:avLst>
              <a:gd name="adj" fmla="val 5455"/>
            </a:avLst>
          </a:prstGeom>
          <a:solidFill>
            <a:srgbClr val="0A1A2E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3429000"/>
            <a:ext cx="612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pasos: iterar y refinar los skills en las próximas HUs, con Oscar a cargo del proyecto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589520" y="228600"/>
            <a:ext cx="1188720" cy="1188720"/>
          </a:xfrm>
          <a:prstGeom prst="ellipse">
            <a:avLst/>
          </a:prstGeom>
          <a:solidFill>
            <a:srgbClr val="0072BC">
              <a:alpha val="1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01000" y="502920"/>
            <a:ext cx="640080" cy="640080"/>
          </a:xfrm>
          <a:prstGeom prst="ellipse">
            <a:avLst/>
          </a:prstGeom>
          <a:solidFill>
            <a:srgbClr val="00DFED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892040"/>
            <a:ext cx="822960" cy="1645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65760" y="4892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© 2026 NTT DATA, Inc.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8595360" y="4892040"/>
            <a:ext cx="274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D6D6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NTT DATA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Adaptación de Skills IA para el Ecosistema BCV/BACC — Resumen</dc:title>
  <dc:subject>Presentación Ejecutiva (Resumen) — Skills IA · BCV/BACC</dc:subject>
  <dc:creator>NTT DATA</dc:creator>
  <cp:lastModifiedBy>NTT DATA</cp:lastModifiedBy>
  <cp:revision>1</cp:revision>
  <dcterms:created xsi:type="dcterms:W3CDTF">2026-09-10T00:34:49Z</dcterms:created>
  <dcterms:modified xsi:type="dcterms:W3CDTF">2026-09-10T00:34:49Z</dcterms:modified>
</cp:coreProperties>
</file>