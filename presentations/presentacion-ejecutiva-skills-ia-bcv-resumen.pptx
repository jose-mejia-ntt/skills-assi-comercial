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758-41F7-B1EF-0B92D542BB5A}"/>
              </c:ext>
            </c:extLst>
          </c:dPt>
          <c:dPt>
            <c:idx val="1"/>
            <c:invertIfNegative val="0"/>
            <c:bubble3D val="0"/>
            <c:spPr>
              <a:solidFill>
                <a:srgbClr val="F9E79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758-41F7-B1EF-0B92D542BB5A}"/>
              </c:ext>
            </c:extLst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758-41F7-B1EF-0B92D542BB5A}"/>
              </c:ext>
            </c:extLst>
          </c:dPt>
          <c:dLbls>
            <c:numFmt formatCode="0&quot;h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s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Tradicional</c:v>
                </c:pt>
                <c:pt idx="1">
                  <c:v>Copilot</c:v>
                </c:pt>
                <c:pt idx="2">
                  <c:v>Skill +
Graphify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758-41F7-B1EF-0B92D542BB5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7FC-4C9D-BF22-473D4480D323}"/>
              </c:ext>
            </c:extLst>
          </c:dPt>
          <c:dPt>
            <c:idx val="1"/>
            <c:invertIfNegative val="0"/>
            <c:bubble3D val="0"/>
            <c:spPr>
              <a:solidFill>
                <a:srgbClr val="F9E79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7FC-4C9D-BF22-473D4480D323}"/>
              </c:ext>
            </c:extLst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7FC-4C9D-BF22-473D4480D323}"/>
              </c:ext>
            </c:extLst>
          </c:dPt>
          <c:dLbls>
            <c:numFmt formatCode="0&quot;h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s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Tradicional</c:v>
                </c:pt>
                <c:pt idx="1">
                  <c:v>Copilot</c:v>
                </c:pt>
                <c:pt idx="2">
                  <c:v>Skill +
Graphify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</c:v>
                </c:pt>
                <c:pt idx="1">
                  <c:v>40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7FC-4C9D-BF22-473D4480D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2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1504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Adaptación de Skills IA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 Ecosistema BCV/BACC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2606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Presentación Ejecutiva — Resumen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3246120"/>
            <a:ext cx="8503920" cy="1280160"/>
          </a:xfrm>
          <a:prstGeom prst="roundRect">
            <a:avLst>
              <a:gd name="adj" fmla="val 4286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Proyecto: skills de agente IA para los microservicios backend de Apertura de Cuentas Comerciales (BACC)</a:t>
            </a:r>
            <a:endParaRPr lang="en-US" sz="11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Ecosistema: BCV/BACC · Interbank · Entregable: NTT DATA</a:t>
            </a:r>
            <a:endParaRPr lang="en-US" sz="11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13 ago → 09 oct 2026 · Sprint 2 en curso (4 sprints de 2 semanas)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680960" y="685800"/>
            <a:ext cx="1371600" cy="137160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Shape 5"/>
          <p:cNvSpPr/>
          <p:nvPr/>
        </p:nvSpPr>
        <p:spPr>
          <a:xfrm>
            <a:off x="8183880" y="105156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Alcance del Proyecto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365760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457200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microservicios backend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523744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6"/>
          <p:cNvSpPr/>
          <p:nvPr/>
        </p:nvSpPr>
        <p:spPr>
          <a:xfrm>
            <a:off x="2523744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2615184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del pipeline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681728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4681728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~85 %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773168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tokens por HU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839712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6839712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sem.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31152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ago → 09 oct 2026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2423160"/>
            <a:ext cx="8503920" cy="2148840"/>
          </a:xfrm>
          <a:prstGeom prst="roundRect">
            <a:avLst>
              <a:gd name="adj" fmla="val 2553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5"/>
          <p:cNvSpPr/>
          <p:nvPr/>
        </p:nvSpPr>
        <p:spPr>
          <a:xfrm>
            <a:off x="640080" y="260604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¿Qué es este proyecto?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2999232"/>
            <a:ext cx="7955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ecosistema BCV/BACC de Interbank opera sobre 7 microservicios backend Java/Spring Boot. El proyecto construye un pipeline de 3 skills de agente que convierte una Historia de Usuario (HU) de negocio en una Historia Técnica (DHU) y, opcionalmente, en código — usando graphify para reducir el consumo de tokens en ~85 %.</a:t>
            </a:r>
            <a:endParaRPr lang="en-US" sz="13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Metodología: SDD + BMAD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/>
          <p:nvPr/>
        </p:nvSpPr>
        <p:spPr>
          <a:xfrm>
            <a:off x="457200" y="1115568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proyecto sigue Spec-Driven Development (SDD) y BMAD: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417320"/>
            <a:ext cx="4160520" cy="1234440"/>
          </a:xfrm>
          <a:prstGeom prst="roundRect">
            <a:avLst>
              <a:gd name="adj" fmla="val 4444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594360" y="153619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SDD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1828800"/>
            <a:ext cx="370332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de desarrollo guiado por especificaciones. Antes de escribir código se produce y aprueba una spec (la DHU) con criterios de aceptación y mapa técnico — bcv-hu-implementer no genera código si la DHU tiene gaps sin resolver.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4709160" y="1417320"/>
            <a:ext cx="4160520" cy="1234440"/>
          </a:xfrm>
          <a:prstGeom prst="roundRect">
            <a:avLst>
              <a:gd name="adj" fmla="val 4444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4937760" y="153619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BMAD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937760" y="1828800"/>
            <a:ext cx="370332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de desarrollo ágil con IA. Es el ciclo interno que cada skill sigue al construir algo: Understand (entender la tarea y el código), Design (diseñar el cambio), Build (generarlo) y Validate (verificarlo).</a:t>
            </a:r>
            <a:endParaRPr lang="en-US" sz="98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80360"/>
          <a:ext cx="8503920" cy="135331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6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Fase SDD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Acción del flujo BCV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Intención de entrada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 funcional de negocio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Research-Driven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bcv-hu-context-analyzer investiga el código real con graphify → .context/hu-&lt;codigo&gt;.md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formalmente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bcv-dhu-writer escribe la DHU (criterios de aceptación, endpoints, mapa técnico)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Implementar desde la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bcv-hu-implementer aplica la DHU en ramas feature (dry-run / apply)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/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Linter + tests, revisión humana y gotchas que vuelven al contexto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que se Identificaron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/>
          <p:nvPr/>
        </p:nvSpPr>
        <p:spPr>
          <a:xfrm>
            <a:off x="457200" y="1133856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identificó y construyó un pipeline de 3 skills principales, uno por cada paso del flujo SDD: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93776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530352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HU funcional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0352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 de negocio</a:t>
            </a:r>
            <a:endParaRPr lang="en-US" sz="680" dirty="0"/>
          </a:p>
        </p:txBody>
      </p:sp>
      <p:sp>
        <p:nvSpPr>
          <p:cNvPr id="9" name="Text 6"/>
          <p:cNvSpPr/>
          <p:nvPr/>
        </p:nvSpPr>
        <p:spPr>
          <a:xfrm>
            <a:off x="1536192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691640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1728216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bcv-hu-context-analyzer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728216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 código con graphify</a:t>
            </a:r>
            <a:endParaRPr lang="en-US" sz="680" dirty="0"/>
          </a:p>
        </p:txBody>
      </p:sp>
      <p:sp>
        <p:nvSpPr>
          <p:cNvPr id="13" name="Text 10"/>
          <p:cNvSpPr/>
          <p:nvPr/>
        </p:nvSpPr>
        <p:spPr>
          <a:xfrm>
            <a:off x="2734056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889504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2926080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Contexto técnico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926080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.context/hu-&lt;codigo&gt;.md</a:t>
            </a:r>
            <a:endParaRPr lang="en-US" sz="680" dirty="0"/>
          </a:p>
        </p:txBody>
      </p:sp>
      <p:sp>
        <p:nvSpPr>
          <p:cNvPr id="17" name="Text 14"/>
          <p:cNvSpPr/>
          <p:nvPr/>
        </p:nvSpPr>
        <p:spPr>
          <a:xfrm>
            <a:off x="3931920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87368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6"/>
          <p:cNvSpPr/>
          <p:nvPr/>
        </p:nvSpPr>
        <p:spPr>
          <a:xfrm>
            <a:off x="4123944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bcv-dhu-writer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123944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 la especificación</a:t>
            </a:r>
            <a:endParaRPr lang="en-US" sz="680" dirty="0"/>
          </a:p>
        </p:txBody>
      </p:sp>
      <p:sp>
        <p:nvSpPr>
          <p:cNvPr id="21" name="Text 18"/>
          <p:cNvSpPr/>
          <p:nvPr/>
        </p:nvSpPr>
        <p:spPr>
          <a:xfrm>
            <a:off x="5129784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285232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5321808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DHU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321808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ibk-hu-technical-refinement</a:t>
            </a:r>
            <a:endParaRPr lang="en-US" sz="680" dirty="0"/>
          </a:p>
        </p:txBody>
      </p:sp>
      <p:sp>
        <p:nvSpPr>
          <p:cNvPr id="25" name="Text 22"/>
          <p:cNvSpPr/>
          <p:nvPr/>
        </p:nvSpPr>
        <p:spPr>
          <a:xfrm>
            <a:off x="6327648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483096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Text 24"/>
          <p:cNvSpPr/>
          <p:nvPr/>
        </p:nvSpPr>
        <p:spPr>
          <a:xfrm>
            <a:off x="6519672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bcv-hu-implementer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519672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 desde la spec</a:t>
            </a:r>
            <a:endParaRPr lang="en-US" sz="680" dirty="0"/>
          </a:p>
        </p:txBody>
      </p:sp>
      <p:sp>
        <p:nvSpPr>
          <p:cNvPr id="29" name="Text 26"/>
          <p:cNvSpPr/>
          <p:nvPr/>
        </p:nvSpPr>
        <p:spPr>
          <a:xfrm>
            <a:off x="7525512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680960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28"/>
          <p:cNvSpPr/>
          <p:nvPr/>
        </p:nvSpPr>
        <p:spPr>
          <a:xfrm>
            <a:off x="7717536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Código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717536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feature + tests</a:t>
            </a:r>
            <a:endParaRPr lang="en-US" sz="680" dirty="0"/>
          </a:p>
        </p:txBody>
      </p:sp>
      <p:sp>
        <p:nvSpPr>
          <p:cNvPr id="33" name="Shape 30"/>
          <p:cNvSpPr/>
          <p:nvPr/>
        </p:nvSpPr>
        <p:spPr>
          <a:xfrm>
            <a:off x="365760" y="3246120"/>
            <a:ext cx="8503920" cy="1188720"/>
          </a:xfrm>
          <a:prstGeom prst="roundRect">
            <a:avLst>
              <a:gd name="adj" fmla="val 4615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31"/>
          <p:cNvSpPr/>
          <p:nvPr/>
        </p:nvSpPr>
        <p:spPr>
          <a:xfrm>
            <a:off x="594360" y="34015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Primera entrega: un plan de tareas validado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594360" y="3703320"/>
            <a:ext cx="804672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bcv-hu-context-analyzer (research con graphify) y bcv-dhu-writer (especificación) ejecutan la primera parte del pipeline y entregan un plan de tareas (la DHU) validado. Desde ahí, bcv-hu-implementer aplica el plan y genera el código, iterando con el feedback del equipo dev.</a:t>
            </a:r>
            <a:endParaRPr lang="en-US" sz="1050" dirty="0"/>
          </a:p>
        </p:txBody>
      </p:sp>
      <p:pic>
        <p:nvPicPr>
          <p:cNvPr id="3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Resultados (hitos medidos)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/>
          <p:nvPr/>
        </p:nvSpPr>
        <p:spPr>
          <a:xfrm>
            <a:off x="457200" y="1078992"/>
            <a:ext cx="8138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primeros ejercicios con el equipo dev del banco cuantificaron el ahorro frente a la forma tradicional: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99032"/>
          <a:ext cx="8503920" cy="98145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Usuario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HU / EVT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Compl.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Tradic.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Copilot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Skill+Graphify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Ahorro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Fernando Camargo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Identificación de canal OneAPP en trama Postmortem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Lionel Gonzales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[EVT] Arquitectura cluster-to-cluster – Paquete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365760" y="277977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Fernando Camargo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365760" y="29992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· complejidad baja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3611880" y="2779776"/>
            <a:ext cx="868680" cy="402336"/>
          </a:xfrm>
          <a:prstGeom prst="roundRect">
            <a:avLst>
              <a:gd name="adj" fmla="val 2272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6"/>
          <p:cNvSpPr/>
          <p:nvPr/>
        </p:nvSpPr>
        <p:spPr>
          <a:xfrm>
            <a:off x="3611880" y="277977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75 %
</a:t>
            </a:r>
            <a:r>
              <a:rPr lang="en-US" sz="700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</a:t>
            </a:r>
            <a:endParaRPr lang="en-US" sz="14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365760" y="3218688"/>
          <a:ext cx="4114800" cy="11521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 7"/>
          <p:cNvSpPr/>
          <p:nvPr/>
        </p:nvSpPr>
        <p:spPr>
          <a:xfrm>
            <a:off x="2999232" y="3255264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-75 %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4754880" y="277977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Lionel Gonzales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4754880" y="29992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· complejidad media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8001000" y="2779776"/>
            <a:ext cx="868680" cy="402336"/>
          </a:xfrm>
          <a:prstGeom prst="roundRect">
            <a:avLst>
              <a:gd name="adj" fmla="val 2272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1"/>
          <p:cNvSpPr/>
          <p:nvPr/>
        </p:nvSpPr>
        <p:spPr>
          <a:xfrm>
            <a:off x="8001000" y="277977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79 %
</a:t>
            </a:r>
            <a:r>
              <a:rPr lang="en-US" sz="700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</a:t>
            </a:r>
            <a:endParaRPr lang="en-US" sz="1400" dirty="0"/>
          </a:p>
        </p:txBody>
      </p:sp>
      <p:graphicFrame>
        <p:nvGraphicFramePr>
          <p:cNvPr id="17" name="Chart 1"/>
          <p:cNvGraphicFramePr/>
          <p:nvPr/>
        </p:nvGraphicFramePr>
        <p:xfrm>
          <a:off x="4754880" y="3218688"/>
          <a:ext cx="4114800" cy="11521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8" name="Text 12"/>
          <p:cNvSpPr/>
          <p:nvPr/>
        </p:nvSpPr>
        <p:spPr>
          <a:xfrm>
            <a:off x="7388352" y="3255264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-79 %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45720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caso de mayor complejidad (Lionel Gonzales), pasar de 48 h a 10 h equivale a un ahorro de ~79 % (~4 días de implementación).</a:t>
            </a:r>
            <a:endParaRPr lang="en-US" sz="105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Roadmap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2"/>
          <p:cNvSpPr/>
          <p:nvPr/>
        </p:nvSpPr>
        <p:spPr>
          <a:xfrm>
            <a:off x="365760" y="1060704"/>
            <a:ext cx="207797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365760" y="1060704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1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365760" y="1362456"/>
            <a:ext cx="20779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13–28 ago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507742" y="1060704"/>
            <a:ext cx="207797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6"/>
          <p:cNvSpPr/>
          <p:nvPr/>
        </p:nvSpPr>
        <p:spPr>
          <a:xfrm>
            <a:off x="2507742" y="1060704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2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507742" y="1362456"/>
            <a:ext cx="20779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ago–11 sep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49724" y="1060704"/>
            <a:ext cx="207797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4649724" y="1060704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649724" y="1362456"/>
            <a:ext cx="20779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14–25 sep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791706" y="1060704"/>
            <a:ext cx="207797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6791706" y="1060704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791706" y="1362456"/>
            <a:ext cx="20779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sep–09 oct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365760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5"/>
          <p:cNvSpPr/>
          <p:nvPr/>
        </p:nvSpPr>
        <p:spPr>
          <a:xfrm>
            <a:off x="365760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1
</a:t>
            </a: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13–21 ago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436751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1436751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2
</a:t>
            </a: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24–28 ago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507742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19"/>
          <p:cNvSpPr/>
          <p:nvPr/>
        </p:nvSpPr>
        <p:spPr>
          <a:xfrm>
            <a:off x="2507742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3
</a:t>
            </a: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ago–04 sep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3578733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Text 21"/>
          <p:cNvSpPr/>
          <p:nvPr/>
        </p:nvSpPr>
        <p:spPr>
          <a:xfrm>
            <a:off x="3578733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4
</a:t>
            </a:r>
            <a:r>
              <a:rPr lang="en-US" sz="700" dirty="0">
                <a:solidFill>
                  <a:srgbClr val="4A3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07–11 sep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649724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4649724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5
</a:t>
            </a: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14–18 sep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720715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20715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6
</a:t>
            </a: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21–25 sep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6791706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Text 27"/>
          <p:cNvSpPr/>
          <p:nvPr/>
        </p:nvSpPr>
        <p:spPr>
          <a:xfrm>
            <a:off x="6791706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7
</a:t>
            </a: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sep–02 oct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862697" y="1600200"/>
            <a:ext cx="1006983" cy="347472"/>
          </a:xfrm>
          <a:prstGeom prst="roundRect">
            <a:avLst>
              <a:gd name="adj" fmla="val 36842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7862697" y="1600200"/>
            <a:ext cx="10069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8
</a:t>
            </a: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05–09 oct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65760" y="2020824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31"/>
          <p:cNvSpPr/>
          <p:nvPr/>
        </p:nvSpPr>
        <p:spPr>
          <a:xfrm>
            <a:off x="420624" y="2075688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Consolidación de repos + entorno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3470148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/>
          <p:cNvSpPr/>
          <p:nvPr/>
        </p:nvSpPr>
        <p:spPr>
          <a:xfrm>
            <a:off x="420624" y="3525012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Arranque de los 3 skills, el flujo de generación DHU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1436751" y="2020824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Text 35"/>
          <p:cNvSpPr/>
          <p:nvPr/>
        </p:nvSpPr>
        <p:spPr>
          <a:xfrm>
            <a:off x="1491615" y="2075688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Adopción de graphify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1436751" y="3470148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0" name="Text 37"/>
          <p:cNvSpPr/>
          <p:nvPr/>
        </p:nvSpPr>
        <p:spPr>
          <a:xfrm>
            <a:off x="1491615" y="3525012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de HU con equipo dev (primer ejercicio real)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2507742" y="2020824"/>
            <a:ext cx="1006983" cy="893064"/>
          </a:xfrm>
          <a:prstGeom prst="roundRect">
            <a:avLst>
              <a:gd name="adj" fmla="val 8191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2" name="Text 39"/>
          <p:cNvSpPr/>
          <p:nvPr/>
        </p:nvSpPr>
        <p:spPr>
          <a:xfrm>
            <a:off x="2562606" y="2075688"/>
            <a:ext cx="897255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Iteración de los skills del pipeline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2507742" y="2987040"/>
            <a:ext cx="1006983" cy="893064"/>
          </a:xfrm>
          <a:prstGeom prst="roundRect">
            <a:avLst>
              <a:gd name="adj" fmla="val 8191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Text 41"/>
          <p:cNvSpPr/>
          <p:nvPr/>
        </p:nvSpPr>
        <p:spPr>
          <a:xfrm>
            <a:off x="2562606" y="3041904"/>
            <a:ext cx="897255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EVT con equipo dev (context-analyzer → DHU → código)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3578733" y="2020824"/>
            <a:ext cx="1006983" cy="893064"/>
          </a:xfrm>
          <a:prstGeom prst="roundRect">
            <a:avLst>
              <a:gd name="adj" fmla="val 8191"/>
            </a:avLst>
          </a:prstGeom>
          <a:solidFill>
            <a:srgbClr val="0A1A2E"/>
          </a:solidFill>
          <a:ln w="15875">
            <a:solidFill>
              <a:srgbClr val="F9E79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3"/>
          <p:cNvSpPr/>
          <p:nvPr/>
        </p:nvSpPr>
        <p:spPr>
          <a:xfrm>
            <a:off x="3633597" y="2075688"/>
            <a:ext cx="897255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feedback de la ejecución EVT</a:t>
            </a:r>
            <a:endParaRPr lang="en-US" sz="750" dirty="0"/>
          </a:p>
        </p:txBody>
      </p:sp>
      <p:sp>
        <p:nvSpPr>
          <p:cNvPr id="47" name="Shape 44"/>
          <p:cNvSpPr/>
          <p:nvPr/>
        </p:nvSpPr>
        <p:spPr>
          <a:xfrm>
            <a:off x="3578733" y="2987040"/>
            <a:ext cx="1006983" cy="893064"/>
          </a:xfrm>
          <a:prstGeom prst="roundRect">
            <a:avLst>
              <a:gd name="adj" fmla="val 8191"/>
            </a:avLst>
          </a:prstGeom>
          <a:solidFill>
            <a:srgbClr val="0A1A2E"/>
          </a:solidFill>
          <a:ln w="15875">
            <a:solidFill>
              <a:srgbClr val="F9E79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/>
          <p:cNvSpPr/>
          <p:nvPr/>
        </p:nvSpPr>
        <p:spPr>
          <a:xfrm>
            <a:off x="3633597" y="3041904"/>
            <a:ext cx="897255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Iterar skills del pipeline con código real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2507742" y="3953256"/>
            <a:ext cx="2077974" cy="893064"/>
          </a:xfrm>
          <a:prstGeom prst="roundRect">
            <a:avLst>
              <a:gd name="adj" fmla="val 8191"/>
            </a:avLst>
          </a:prstGeom>
          <a:solidFill>
            <a:srgbClr val="0A1A2E"/>
          </a:solidFill>
          <a:ln w="15875">
            <a:solidFill>
              <a:srgbClr val="005B9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/>
          <p:cNvSpPr/>
          <p:nvPr/>
        </p:nvSpPr>
        <p:spPr>
          <a:xfrm>
            <a:off x="2562606" y="4008120"/>
            <a:ext cx="1968246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adicionales (3)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4649724" y="2020824"/>
            <a:ext cx="3148965" cy="1376172"/>
          </a:xfrm>
          <a:prstGeom prst="roundRect">
            <a:avLst>
              <a:gd name="adj" fmla="val 5316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/>
          <p:cNvSpPr/>
          <p:nvPr/>
        </p:nvSpPr>
        <p:spPr>
          <a:xfrm>
            <a:off x="4704588" y="2075688"/>
            <a:ext cx="3039237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Iteración y ajustes de skills definidos con HUs/EVTs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4649724" y="3470148"/>
            <a:ext cx="3148965" cy="1376172"/>
          </a:xfrm>
          <a:prstGeom prst="roundRect">
            <a:avLst>
              <a:gd name="adj" fmla="val 5316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Text 51"/>
          <p:cNvSpPr/>
          <p:nvPr/>
        </p:nvSpPr>
        <p:spPr>
          <a:xfrm>
            <a:off x="4704588" y="3525012"/>
            <a:ext cx="3039237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Métricas obtenidas de ejecución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7862697" y="2020824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6" name="Text 53"/>
          <p:cNvSpPr/>
          <p:nvPr/>
        </p:nvSpPr>
        <p:spPr>
          <a:xfrm>
            <a:off x="7917561" y="2075688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Elaboración de informe final</a:t>
            </a:r>
            <a:endParaRPr lang="en-US" sz="800" dirty="0"/>
          </a:p>
        </p:txBody>
      </p:sp>
      <p:sp>
        <p:nvSpPr>
          <p:cNvPr id="57" name="Shape 54"/>
          <p:cNvSpPr/>
          <p:nvPr/>
        </p:nvSpPr>
        <p:spPr>
          <a:xfrm>
            <a:off x="7862697" y="3470148"/>
            <a:ext cx="1006983" cy="1376172"/>
          </a:xfrm>
          <a:prstGeom prst="roundRect">
            <a:avLst>
              <a:gd name="adj" fmla="val 7264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Text 55"/>
          <p:cNvSpPr/>
          <p:nvPr/>
        </p:nvSpPr>
        <p:spPr>
          <a:xfrm>
            <a:off x="7917561" y="3525012"/>
            <a:ext cx="897255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Recomendaciones y lecciones aprendidas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5440680" y="402336"/>
            <a:ext cx="128016" cy="128016"/>
          </a:xfrm>
          <a:prstGeom prst="roundRect">
            <a:avLst>
              <a:gd name="adj" fmla="val 35714"/>
            </a:avLst>
          </a:prstGeom>
          <a:solidFill>
            <a:srgbClr val="00CB5D"/>
          </a:solidFill>
          <a:ln w="6350">
            <a:solidFill>
              <a:srgbClr val="D6D6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0" name="Text 57"/>
          <p:cNvSpPr/>
          <p:nvPr/>
        </p:nvSpPr>
        <p:spPr>
          <a:xfrm>
            <a:off x="5614416" y="3611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Completada</a:t>
            </a:r>
            <a:endParaRPr lang="en-US" sz="800" dirty="0"/>
          </a:p>
        </p:txBody>
      </p:sp>
      <p:sp>
        <p:nvSpPr>
          <p:cNvPr id="61" name="Shape 58"/>
          <p:cNvSpPr/>
          <p:nvPr/>
        </p:nvSpPr>
        <p:spPr>
          <a:xfrm>
            <a:off x="6355080" y="402336"/>
            <a:ext cx="128016" cy="128016"/>
          </a:xfrm>
          <a:prstGeom prst="roundRect">
            <a:avLst>
              <a:gd name="adj" fmla="val 35714"/>
            </a:avLst>
          </a:prstGeom>
          <a:solidFill>
            <a:srgbClr val="F9E795"/>
          </a:solidFill>
          <a:ln w="6350">
            <a:solidFill>
              <a:srgbClr val="D6D6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/>
          <p:cNvSpPr/>
          <p:nvPr/>
        </p:nvSpPr>
        <p:spPr>
          <a:xfrm>
            <a:off x="6528816" y="3611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curso</a:t>
            </a:r>
            <a:endParaRPr lang="en-US" sz="800" dirty="0"/>
          </a:p>
        </p:txBody>
      </p:sp>
      <p:sp>
        <p:nvSpPr>
          <p:cNvPr id="63" name="Shape 60"/>
          <p:cNvSpPr/>
          <p:nvPr/>
        </p:nvSpPr>
        <p:spPr>
          <a:xfrm>
            <a:off x="7132320" y="402336"/>
            <a:ext cx="128016" cy="128016"/>
          </a:xfrm>
          <a:prstGeom prst="roundRect">
            <a:avLst>
              <a:gd name="adj" fmla="val 35714"/>
            </a:avLst>
          </a:prstGeom>
          <a:solidFill>
            <a:srgbClr val="1A2B4A"/>
          </a:solidFill>
          <a:ln w="6350">
            <a:solidFill>
              <a:srgbClr val="D6D6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4" name="Text 61"/>
          <p:cNvSpPr/>
          <p:nvPr/>
        </p:nvSpPr>
        <p:spPr>
          <a:xfrm>
            <a:off x="7306056" y="3611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Propuesto</a:t>
            </a:r>
            <a:endParaRPr lang="en-US" sz="800" dirty="0"/>
          </a:p>
        </p:txBody>
      </p:sp>
      <p:pic>
        <p:nvPicPr>
          <p:cNvPr id="6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66" name="Text 6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67" name="Text 6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Próximos Pasos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2"/>
          <p:cNvSpPr/>
          <p:nvPr/>
        </p:nvSpPr>
        <p:spPr>
          <a:xfrm>
            <a:off x="365760" y="1234440"/>
            <a:ext cx="8503920" cy="960120"/>
          </a:xfrm>
          <a:prstGeom prst="roundRect">
            <a:avLst>
              <a:gd name="adj" fmla="val 5714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3"/>
          <p:cNvSpPr/>
          <p:nvPr/>
        </p:nvSpPr>
        <p:spPr>
          <a:xfrm>
            <a:off x="594360" y="1540764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594360" y="1540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43000" y="134416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adicionales: bcv-hexagonal-architecture y bcv-openapi-design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143000" y="1636776"/>
            <a:ext cx="74980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Complementan el pipeline: hexagonal-architecture define el patrón de todo el código, y openapi-design define lo que se expone y valida la HU contra su contrato. bcv-spring-data-jpa-sql-server (persistencia SQL Server, usada por casi toda HU) se suma como tercer complemento.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65760" y="2313432"/>
            <a:ext cx="8503920" cy="731520"/>
          </a:xfrm>
          <a:prstGeom prst="roundRect">
            <a:avLst>
              <a:gd name="adj" fmla="val 75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8"/>
          <p:cNvSpPr/>
          <p:nvPr/>
        </p:nvSpPr>
        <p:spPr>
          <a:xfrm>
            <a:off x="594360" y="2505456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594360" y="25054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43000" y="24231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Iterar los skills en las próximas HUs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143000" y="2715768"/>
            <a:ext cx="74980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Ampliar su cobertura con casos de uso adicionales del banco, sobre Historias de Usuario reales.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65760" y="3163824"/>
            <a:ext cx="8503920" cy="731520"/>
          </a:xfrm>
          <a:prstGeom prst="roundRect">
            <a:avLst>
              <a:gd name="adj" fmla="val 75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594360" y="3355848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594360" y="3355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43000" y="32735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Oscar queda a cargo del proyecto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143000" y="3566160"/>
            <a:ext cx="74980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 el traspaso del Arquitecto IA (10 sep): soporte continuo y afinación de los skills.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65760" y="4014216"/>
            <a:ext cx="8503920" cy="731520"/>
          </a:xfrm>
          <a:prstGeom prst="roundRect">
            <a:avLst>
              <a:gd name="adj" fmla="val 75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Shape 18"/>
          <p:cNvSpPr/>
          <p:nvPr/>
        </p:nvSpPr>
        <p:spPr>
          <a:xfrm>
            <a:off x="594360" y="4206240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19"/>
          <p:cNvSpPr/>
          <p:nvPr/>
        </p:nvSpPr>
        <p:spPr>
          <a:xfrm>
            <a:off x="594360" y="4206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43000" y="412394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Refinar los skills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1143000" y="4416552"/>
            <a:ext cx="74980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más código real y el feedback continuo del equipo dev del banco.</a:t>
            </a:r>
            <a:endParaRPr lang="en-US" sz="1000" dirty="0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IA para el Ecosistema BCV/BACC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HU → DHU → código · 3 skills · ~85 % menos tokens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371600" y="3200400"/>
            <a:ext cx="6675120" cy="1005840"/>
          </a:xfrm>
          <a:prstGeom prst="roundRect">
            <a:avLst>
              <a:gd name="adj" fmla="val 545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1645920" y="342900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pasos: iterar y refinar los skills en las próximas HUs, con Oscar a cargo del proyecto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589520" y="228600"/>
            <a:ext cx="1188720" cy="118872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Shape 5"/>
          <p:cNvSpPr/>
          <p:nvPr/>
        </p:nvSpPr>
        <p:spPr>
          <a:xfrm>
            <a:off x="8001000" y="50292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994</Words>
  <Application>Microsoft Office PowerPoint</Application>
  <PresentationFormat>Presentación en pantalla (16:9)</PresentationFormat>
  <Paragraphs>164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Noto Sans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NTT DATA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Adaptación de Skills IA para el Ecosistema BCV/BACC — Resumen</dc:title>
  <dc:subject>Presentación Ejecutiva (Resumen) — Skills IA · BCV/BACC</dc:subject>
  <dc:creator>NTT DATA</dc:creator>
  <cp:lastModifiedBy>Jose Luis Mejia Rojas</cp:lastModifiedBy>
  <cp:revision>2</cp:revision>
  <dcterms:created xsi:type="dcterms:W3CDTF">2026-09-10T19:41:59Z</dcterms:created>
  <dcterms:modified xsi:type="dcterms:W3CDTF">2026-09-10T19:48:34Z</dcterms:modified>
</cp:coreProperties>
</file>